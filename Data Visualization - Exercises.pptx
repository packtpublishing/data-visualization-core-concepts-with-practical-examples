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Ex2.xml" ContentType="application/vnd.ms-office.chartex+xml"/>
  <Override PartName="/ppt/charts/style3.xml" ContentType="application/vnd.ms-office.chartstyle+xml"/>
  <Override PartName="/ppt/charts/colors3.xml" ContentType="application/vnd.ms-office.chartcolorstyle+xml"/>
  <Override PartName="/ppt/charts/chartEx3.xml" ContentType="application/vnd.ms-office.chartex+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64" r:id="rId3"/>
  </p:sldMasterIdLst>
  <p:sldIdLst>
    <p:sldId id="257" r:id="rId4"/>
    <p:sldId id="258" r:id="rId5"/>
    <p:sldId id="260" r:id="rId6"/>
    <p:sldId id="256" r:id="rId7"/>
    <p:sldId id="259" r:id="rId8"/>
    <p:sldId id="262" r:id="rId9"/>
    <p:sldId id="263" r:id="rId10"/>
    <p:sldId id="264" r:id="rId11"/>
    <p:sldId id="265" r:id="rId12"/>
    <p:sldId id="266" r:id="rId13"/>
    <p:sldId id="267" r:id="rId14"/>
    <p:sldId id="268" r:id="rId15"/>
    <p:sldId id="269" r:id="rId16"/>
  </p:sldIdLst>
  <p:sldSz cx="12192000" cy="6858000"/>
  <p:notesSz cx="6858000" cy="9144000"/>
  <p:embeddedFontLst>
    <p:embeddedFont>
      <p:font typeface="Yaldevi" pitchFamily="2" charset="-18"/>
      <p:regular r:id="rId17"/>
      <p:bold r:id="rId18"/>
    </p:embeddedFont>
    <p:embeddedFont>
      <p:font typeface="Yaldevi SemiBold" pitchFamily="2" charset="-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rcise - Switzerland" id="{99B61C2D-9BD8-413C-8A78-03E6F4225BBE}">
          <p14:sldIdLst>
            <p14:sldId id="257"/>
            <p14:sldId id="258"/>
            <p14:sldId id="260"/>
            <p14:sldId id="256"/>
            <p14:sldId id="259"/>
            <p14:sldId id="262"/>
          </p14:sldIdLst>
        </p14:section>
        <p14:section name="Exercise - Cargo" id="{D0FDAF2A-A93F-4424-9287-1E2382F3D464}">
          <p14:sldIdLst>
            <p14:sldId id="263"/>
            <p14:sldId id="264"/>
            <p14:sldId id="265"/>
            <p14:sldId id="266"/>
            <p14:sldId id="267"/>
            <p14:sldId id="268"/>
            <p14:sldId id="269"/>
          </p14:sldIdLst>
        </p14:section>
        <p14:section name="Default Section" id="{FCDB41C2-A63C-4779-B91D-BABF226560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2" y="10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2.xlsx"/></Relationships>
</file>

<file path=ppt/charts/_rels/chartEx2.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3.xlsx"/></Relationships>
</file>

<file path=ppt/charts/_rels/chartEx3.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 Visitors [in millions]</c:v>
                </c:pt>
              </c:strCache>
            </c:strRef>
          </c:tx>
          <c:spPr>
            <a:solidFill>
              <a:schemeClr val="accent1"/>
            </a:solidFill>
            <a:ln>
              <a:noFill/>
            </a:ln>
            <a:effectLst/>
          </c:spPr>
          <c:invertIfNegative val="0"/>
          <c:dPt>
            <c:idx val="7"/>
            <c:invertIfNegative val="0"/>
            <c:bubble3D val="0"/>
            <c:spPr>
              <a:solidFill>
                <a:schemeClr val="accent1">
                  <a:alpha val="50000"/>
                </a:schemeClr>
              </a:solidFill>
              <a:ln>
                <a:noFill/>
              </a:ln>
              <a:effectLst/>
            </c:spPr>
            <c:extLst>
              <c:ext xmlns:c16="http://schemas.microsoft.com/office/drawing/2014/chart" uri="{C3380CC4-5D6E-409C-BE32-E72D297353CC}">
                <c16:uniqueId val="{00000003-A59A-477B-9CE4-A80E996B929E}"/>
              </c:ext>
            </c:extLst>
          </c:dPt>
          <c:dPt>
            <c:idx val="8"/>
            <c:invertIfNegative val="0"/>
            <c:bubble3D val="0"/>
            <c:spPr>
              <a:solidFill>
                <a:schemeClr val="accent1">
                  <a:alpha val="50000"/>
                </a:schemeClr>
              </a:solidFill>
              <a:ln>
                <a:noFill/>
              </a:ln>
              <a:effectLst/>
            </c:spPr>
            <c:extLst>
              <c:ext xmlns:c16="http://schemas.microsoft.com/office/drawing/2014/chart" uri="{C3380CC4-5D6E-409C-BE32-E72D297353CC}">
                <c16:uniqueId val="{00000004-A59A-477B-9CE4-A80E996B929E}"/>
              </c:ext>
            </c:extLst>
          </c:dPt>
          <c:dPt>
            <c:idx val="9"/>
            <c:invertIfNegative val="0"/>
            <c:bubble3D val="0"/>
            <c:spPr>
              <a:solidFill>
                <a:schemeClr val="accent1">
                  <a:alpha val="50000"/>
                </a:schemeClr>
              </a:solidFill>
              <a:ln>
                <a:noFill/>
              </a:ln>
              <a:effectLst/>
            </c:spPr>
            <c:extLst>
              <c:ext xmlns:c16="http://schemas.microsoft.com/office/drawing/2014/chart" uri="{C3380CC4-5D6E-409C-BE32-E72D297353CC}">
                <c16:uniqueId val="{00000005-A59A-477B-9CE4-A80E996B929E}"/>
              </c:ext>
            </c:extLst>
          </c:dPt>
          <c:dPt>
            <c:idx val="10"/>
            <c:invertIfNegative val="0"/>
            <c:bubble3D val="0"/>
            <c:spPr>
              <a:solidFill>
                <a:schemeClr val="accent1">
                  <a:alpha val="50000"/>
                </a:schemeClr>
              </a:solidFill>
              <a:ln w="19050">
                <a:noFill/>
                <a:prstDash val="dash"/>
              </a:ln>
              <a:effectLst/>
            </c:spPr>
            <c:extLst>
              <c:ext xmlns:c16="http://schemas.microsoft.com/office/drawing/2014/chart" uri="{C3380CC4-5D6E-409C-BE32-E72D297353CC}">
                <c16:uniqueId val="{00000006-A59A-477B-9CE4-A80E996B929E}"/>
              </c:ext>
            </c:extLst>
          </c:dPt>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General</c:formatCode>
                <c:ptCount val="11"/>
                <c:pt idx="0">
                  <c:v>2050</c:v>
                </c:pt>
                <c:pt idx="1">
                  <c:v>2051</c:v>
                </c:pt>
                <c:pt idx="2">
                  <c:v>2052</c:v>
                </c:pt>
                <c:pt idx="3">
                  <c:v>2053</c:v>
                </c:pt>
                <c:pt idx="4">
                  <c:v>2054</c:v>
                </c:pt>
                <c:pt idx="5">
                  <c:v>2055</c:v>
                </c:pt>
                <c:pt idx="6">
                  <c:v>2056</c:v>
                </c:pt>
                <c:pt idx="7">
                  <c:v>2057</c:v>
                </c:pt>
                <c:pt idx="8">
                  <c:v>2058</c:v>
                </c:pt>
                <c:pt idx="9">
                  <c:v>2059</c:v>
                </c:pt>
                <c:pt idx="10">
                  <c:v>2060</c:v>
                </c:pt>
              </c:numCache>
            </c:numRef>
          </c:cat>
          <c:val>
            <c:numRef>
              <c:f>Sheet1!$B$2:$B$12</c:f>
              <c:numCache>
                <c:formatCode>General</c:formatCode>
                <c:ptCount val="11"/>
                <c:pt idx="0">
                  <c:v>12.4</c:v>
                </c:pt>
                <c:pt idx="1">
                  <c:v>12.9</c:v>
                </c:pt>
                <c:pt idx="2">
                  <c:v>13.5</c:v>
                </c:pt>
                <c:pt idx="3">
                  <c:v>13.1</c:v>
                </c:pt>
                <c:pt idx="4">
                  <c:v>14.2</c:v>
                </c:pt>
                <c:pt idx="5">
                  <c:v>14.8</c:v>
                </c:pt>
                <c:pt idx="6">
                  <c:v>15.5</c:v>
                </c:pt>
                <c:pt idx="7">
                  <c:v>16.3</c:v>
                </c:pt>
                <c:pt idx="8">
                  <c:v>17.8</c:v>
                </c:pt>
                <c:pt idx="9">
                  <c:v>18.5</c:v>
                </c:pt>
                <c:pt idx="10">
                  <c:v>19.8</c:v>
                </c:pt>
              </c:numCache>
            </c:numRef>
          </c:val>
          <c:extLst>
            <c:ext xmlns:c16="http://schemas.microsoft.com/office/drawing/2014/chart" uri="{C3380CC4-5D6E-409C-BE32-E72D297353CC}">
              <c16:uniqueId val="{00000000-A59A-477B-9CE4-A80E996B929E}"/>
            </c:ext>
          </c:extLst>
        </c:ser>
        <c:dLbls>
          <c:dLblPos val="outEnd"/>
          <c:showLegendKey val="0"/>
          <c:showVal val="1"/>
          <c:showCatName val="0"/>
          <c:showSerName val="0"/>
          <c:showPercent val="0"/>
          <c:showBubbleSize val="0"/>
        </c:dLbls>
        <c:gapWidth val="23"/>
        <c:axId val="946377135"/>
        <c:axId val="946376175"/>
      </c:barChart>
      <c:lineChart>
        <c:grouping val="standard"/>
        <c:varyColors val="0"/>
        <c:ser>
          <c:idx val="1"/>
          <c:order val="1"/>
          <c:tx>
            <c:strRef>
              <c:f>Sheet1!$C$1</c:f>
              <c:strCache>
                <c:ptCount val="1"/>
                <c:pt idx="0">
                  <c:v>% Change YOY[percentage]</c:v>
                </c:pt>
              </c:strCache>
            </c:strRef>
          </c:tx>
          <c:spPr>
            <a:ln w="47625" cap="rnd">
              <a:solidFill>
                <a:schemeClr val="accent2"/>
              </a:solidFill>
              <a:round/>
            </a:ln>
            <a:effectLst/>
          </c:spPr>
          <c:marker>
            <c:symbol val="circle"/>
            <c:size val="9"/>
            <c:spPr>
              <a:solidFill>
                <a:schemeClr val="accent2"/>
              </a:solidFill>
              <a:ln w="9525">
                <a:solidFill>
                  <a:schemeClr val="accent2"/>
                </a:solidFill>
              </a:ln>
              <a:effectLst/>
            </c:spPr>
          </c:marker>
          <c:dLbls>
            <c:dLbl>
              <c:idx val="3"/>
              <c:layout>
                <c:manualLayout>
                  <c:x val="-4.1506063566871657E-2"/>
                  <c:y val="3.54963902598713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59A-477B-9CE4-A80E996B929E}"/>
                </c:ext>
              </c:extLst>
            </c:dLbl>
            <c:dLbl>
              <c:idx val="5"/>
              <c:layout>
                <c:manualLayout>
                  <c:x val="-3.6324041611586873E-2"/>
                  <c:y val="-7.39119407360560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59A-477B-9CE4-A80E996B929E}"/>
                </c:ext>
              </c:extLst>
            </c:dLbl>
            <c:dLbl>
              <c:idx val="9"/>
              <c:layout>
                <c:manualLayout>
                  <c:x val="-3.790551181102373E-2"/>
                  <c:y val="-8.03477249122871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59A-477B-9CE4-A80E996B929E}"/>
                </c:ext>
              </c:extLst>
            </c:dLbl>
            <c:spPr>
              <a:noFill/>
              <a:ln>
                <a:noFill/>
              </a:ln>
              <a:effectLst/>
            </c:spPr>
            <c:txPr>
              <a:bodyPr rot="0" spcFirstLastPara="1" vertOverflow="ellipsis" vert="horz" wrap="square" lIns="360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bg1">
                          <a:alpha val="0"/>
                        </a:schemeClr>
                      </a:solidFill>
                      <a:round/>
                    </a:ln>
                    <a:effectLst/>
                  </c:spPr>
                </c15:leaderLines>
              </c:ext>
            </c:extLst>
          </c:dLbls>
          <c:cat>
            <c:numRef>
              <c:f>Sheet1!$A$2:$A$12</c:f>
              <c:numCache>
                <c:formatCode>General</c:formatCode>
                <c:ptCount val="11"/>
                <c:pt idx="0">
                  <c:v>2050</c:v>
                </c:pt>
                <c:pt idx="1">
                  <c:v>2051</c:v>
                </c:pt>
                <c:pt idx="2">
                  <c:v>2052</c:v>
                </c:pt>
                <c:pt idx="3">
                  <c:v>2053</c:v>
                </c:pt>
                <c:pt idx="4">
                  <c:v>2054</c:v>
                </c:pt>
                <c:pt idx="5">
                  <c:v>2055</c:v>
                </c:pt>
                <c:pt idx="6">
                  <c:v>2056</c:v>
                </c:pt>
                <c:pt idx="7">
                  <c:v>2057</c:v>
                </c:pt>
                <c:pt idx="8">
                  <c:v>2058</c:v>
                </c:pt>
                <c:pt idx="9">
                  <c:v>2059</c:v>
                </c:pt>
                <c:pt idx="10">
                  <c:v>2060</c:v>
                </c:pt>
              </c:numCache>
            </c:numRef>
          </c:cat>
          <c:val>
            <c:numRef>
              <c:f>Sheet1!$C$2:$C$12</c:f>
              <c:numCache>
                <c:formatCode>0.00%</c:formatCode>
                <c:ptCount val="11"/>
                <c:pt idx="1">
                  <c:v>0.04</c:v>
                </c:pt>
                <c:pt idx="2">
                  <c:v>4.7E-2</c:v>
                </c:pt>
                <c:pt idx="3">
                  <c:v>-0.03</c:v>
                </c:pt>
                <c:pt idx="4">
                  <c:v>8.4000000000000005E-2</c:v>
                </c:pt>
                <c:pt idx="5">
                  <c:v>4.2000000000000003E-2</c:v>
                </c:pt>
                <c:pt idx="6">
                  <c:v>4.7E-2</c:v>
                </c:pt>
                <c:pt idx="7">
                  <c:v>5.1999999999999998E-2</c:v>
                </c:pt>
                <c:pt idx="8">
                  <c:v>9.1999999999999998E-2</c:v>
                </c:pt>
                <c:pt idx="9">
                  <c:v>3.9E-2</c:v>
                </c:pt>
                <c:pt idx="10">
                  <c:v>7.0000000000000007E-2</c:v>
                </c:pt>
              </c:numCache>
            </c:numRef>
          </c:val>
          <c:smooth val="0"/>
          <c:extLst>
            <c:ext xmlns:c16="http://schemas.microsoft.com/office/drawing/2014/chart" uri="{C3380CC4-5D6E-409C-BE32-E72D297353CC}">
              <c16:uniqueId val="{00000007-A59A-477B-9CE4-A80E996B929E}"/>
            </c:ext>
          </c:extLst>
        </c:ser>
        <c:dLbls>
          <c:showLegendKey val="0"/>
          <c:showVal val="0"/>
          <c:showCatName val="0"/>
          <c:showSerName val="0"/>
          <c:showPercent val="0"/>
          <c:showBubbleSize val="0"/>
        </c:dLbls>
        <c:marker val="1"/>
        <c:smooth val="0"/>
        <c:axId val="1079935967"/>
        <c:axId val="1079945087"/>
      </c:lineChart>
      <c:catAx>
        <c:axId val="946377135"/>
        <c:scaling>
          <c:orientation val="minMax"/>
        </c:scaling>
        <c:delete val="0"/>
        <c:axPos val="b"/>
        <c:numFmt formatCode="General" sourceLinked="1"/>
        <c:majorTickMark val="none"/>
        <c:minorTickMark val="none"/>
        <c:tickLblPos val="nextTo"/>
        <c:spPr>
          <a:noFill/>
          <a:ln w="9525" cap="flat" cmpd="sng" algn="ctr">
            <a:solidFill>
              <a:schemeClr val="tx2"/>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946376175"/>
        <c:crosses val="autoZero"/>
        <c:auto val="1"/>
        <c:lblAlgn val="ctr"/>
        <c:lblOffset val="100"/>
        <c:noMultiLvlLbl val="0"/>
      </c:catAx>
      <c:valAx>
        <c:axId val="946376175"/>
        <c:scaling>
          <c:orientation val="minMax"/>
        </c:scaling>
        <c:delete val="0"/>
        <c:axPos val="l"/>
        <c:majorGridlines>
          <c:spPr>
            <a:ln w="9525" cap="rnd" cmpd="sng" algn="ctr">
              <a:solidFill>
                <a:schemeClr val="bg1">
                  <a:alpha val="16000"/>
                </a:schemeClr>
              </a:solidFill>
              <a:prstDash val="solid"/>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46377135"/>
        <c:crosses val="autoZero"/>
        <c:crossBetween val="between"/>
      </c:valAx>
      <c:valAx>
        <c:axId val="1079945087"/>
        <c:scaling>
          <c:orientation val="minMax"/>
          <c:max val="0.30000000000000004"/>
          <c:min val="-6.0000000000000012E-2"/>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9935967"/>
        <c:crosses val="max"/>
        <c:crossBetween val="between"/>
      </c:valAx>
      <c:catAx>
        <c:axId val="1079935967"/>
        <c:scaling>
          <c:orientation val="minMax"/>
        </c:scaling>
        <c:delete val="1"/>
        <c:axPos val="b"/>
        <c:numFmt formatCode="General" sourceLinked="1"/>
        <c:majorTickMark val="out"/>
        <c:minorTickMark val="none"/>
        <c:tickLblPos val="nextTo"/>
        <c:crossAx val="1079945087"/>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 Visitors [in millions]</c:v>
                </c:pt>
              </c:strCache>
            </c:strRef>
          </c:tx>
          <c:spPr>
            <a:solidFill>
              <a:schemeClr val="accent1"/>
            </a:solidFill>
            <a:ln>
              <a:noFill/>
            </a:ln>
            <a:effectLst/>
          </c:spPr>
          <c:invertIfNegative val="0"/>
          <c:dPt>
            <c:idx val="7"/>
            <c:invertIfNegative val="0"/>
            <c:bubble3D val="0"/>
            <c:spPr>
              <a:solidFill>
                <a:schemeClr val="accent1">
                  <a:alpha val="45000"/>
                </a:schemeClr>
              </a:solidFill>
              <a:ln w="25400">
                <a:gradFill>
                  <a:gsLst>
                    <a:gs pos="63000">
                      <a:schemeClr val="accent1"/>
                    </a:gs>
                    <a:gs pos="100000">
                      <a:schemeClr val="accent1">
                        <a:lumMod val="30000"/>
                        <a:lumOff val="70000"/>
                        <a:alpha val="0"/>
                      </a:schemeClr>
                    </a:gs>
                  </a:gsLst>
                  <a:lin ang="5400000" scaled="1"/>
                </a:gradFill>
                <a:prstDash val="sysDash"/>
              </a:ln>
              <a:effectLst/>
            </c:spPr>
            <c:extLst>
              <c:ext xmlns:c16="http://schemas.microsoft.com/office/drawing/2014/chart" uri="{C3380CC4-5D6E-409C-BE32-E72D297353CC}">
                <c16:uniqueId val="{00000003-C23A-4327-A1D1-2354E5D25163}"/>
              </c:ext>
            </c:extLst>
          </c:dPt>
          <c:dPt>
            <c:idx val="8"/>
            <c:invertIfNegative val="0"/>
            <c:bubble3D val="0"/>
            <c:spPr>
              <a:solidFill>
                <a:schemeClr val="accent1">
                  <a:alpha val="45000"/>
                </a:schemeClr>
              </a:solidFill>
              <a:ln w="25400">
                <a:gradFill>
                  <a:gsLst>
                    <a:gs pos="54000">
                      <a:schemeClr val="accent1"/>
                    </a:gs>
                    <a:gs pos="100000">
                      <a:schemeClr val="accent1">
                        <a:lumMod val="30000"/>
                        <a:lumOff val="70000"/>
                        <a:alpha val="0"/>
                      </a:schemeClr>
                    </a:gs>
                  </a:gsLst>
                  <a:lin ang="5400000" scaled="1"/>
                </a:gradFill>
                <a:prstDash val="sysDash"/>
              </a:ln>
              <a:effectLst/>
            </c:spPr>
            <c:extLst>
              <c:ext xmlns:c16="http://schemas.microsoft.com/office/drawing/2014/chart" uri="{C3380CC4-5D6E-409C-BE32-E72D297353CC}">
                <c16:uniqueId val="{00000004-C23A-4327-A1D1-2354E5D25163}"/>
              </c:ext>
            </c:extLst>
          </c:dPt>
          <c:dPt>
            <c:idx val="9"/>
            <c:invertIfNegative val="0"/>
            <c:bubble3D val="0"/>
            <c:spPr>
              <a:solidFill>
                <a:schemeClr val="accent1">
                  <a:alpha val="45000"/>
                </a:schemeClr>
              </a:solidFill>
              <a:ln w="25400">
                <a:gradFill>
                  <a:gsLst>
                    <a:gs pos="53000">
                      <a:schemeClr val="accent1"/>
                    </a:gs>
                    <a:gs pos="100000">
                      <a:schemeClr val="accent1">
                        <a:lumMod val="30000"/>
                        <a:lumOff val="70000"/>
                        <a:alpha val="0"/>
                      </a:schemeClr>
                    </a:gs>
                  </a:gsLst>
                  <a:lin ang="5400000" scaled="1"/>
                </a:gradFill>
                <a:prstDash val="sysDash"/>
              </a:ln>
              <a:effectLst/>
            </c:spPr>
            <c:extLst>
              <c:ext xmlns:c16="http://schemas.microsoft.com/office/drawing/2014/chart" uri="{C3380CC4-5D6E-409C-BE32-E72D297353CC}">
                <c16:uniqueId val="{00000005-C23A-4327-A1D1-2354E5D25163}"/>
              </c:ext>
            </c:extLst>
          </c:dPt>
          <c:dPt>
            <c:idx val="10"/>
            <c:invertIfNegative val="0"/>
            <c:bubble3D val="0"/>
            <c:spPr>
              <a:solidFill>
                <a:schemeClr val="accent1">
                  <a:alpha val="45000"/>
                </a:schemeClr>
              </a:solidFill>
              <a:ln w="25400">
                <a:gradFill>
                  <a:gsLst>
                    <a:gs pos="64000">
                      <a:schemeClr val="accent1"/>
                    </a:gs>
                    <a:gs pos="100000">
                      <a:schemeClr val="accent1">
                        <a:lumMod val="30000"/>
                        <a:lumOff val="70000"/>
                        <a:alpha val="0"/>
                      </a:schemeClr>
                    </a:gs>
                  </a:gsLst>
                  <a:lin ang="5400000" scaled="1"/>
                </a:gradFill>
                <a:prstDash val="sysDash"/>
              </a:ln>
              <a:effectLst/>
            </c:spPr>
            <c:extLst>
              <c:ext xmlns:c16="http://schemas.microsoft.com/office/drawing/2014/chart" uri="{C3380CC4-5D6E-409C-BE32-E72D297353CC}">
                <c16:uniqueId val="{00000006-C23A-4327-A1D1-2354E5D25163}"/>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accen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General</c:formatCode>
                <c:ptCount val="11"/>
                <c:pt idx="0">
                  <c:v>2050</c:v>
                </c:pt>
                <c:pt idx="1">
                  <c:v>2051</c:v>
                </c:pt>
                <c:pt idx="2">
                  <c:v>2052</c:v>
                </c:pt>
                <c:pt idx="3">
                  <c:v>2053</c:v>
                </c:pt>
                <c:pt idx="4">
                  <c:v>2054</c:v>
                </c:pt>
                <c:pt idx="5">
                  <c:v>2055</c:v>
                </c:pt>
                <c:pt idx="6">
                  <c:v>2056</c:v>
                </c:pt>
                <c:pt idx="7">
                  <c:v>2057</c:v>
                </c:pt>
                <c:pt idx="8">
                  <c:v>2058</c:v>
                </c:pt>
                <c:pt idx="9">
                  <c:v>2059</c:v>
                </c:pt>
                <c:pt idx="10">
                  <c:v>2060</c:v>
                </c:pt>
              </c:numCache>
            </c:numRef>
          </c:cat>
          <c:val>
            <c:numRef>
              <c:f>Sheet1!$B$2:$B$12</c:f>
              <c:numCache>
                <c:formatCode>General</c:formatCode>
                <c:ptCount val="11"/>
                <c:pt idx="0">
                  <c:v>12.4</c:v>
                </c:pt>
                <c:pt idx="1">
                  <c:v>12.9</c:v>
                </c:pt>
                <c:pt idx="2">
                  <c:v>13.5</c:v>
                </c:pt>
                <c:pt idx="3">
                  <c:v>13.1</c:v>
                </c:pt>
                <c:pt idx="4">
                  <c:v>14.2</c:v>
                </c:pt>
                <c:pt idx="5">
                  <c:v>14.8</c:v>
                </c:pt>
                <c:pt idx="6">
                  <c:v>15.5</c:v>
                </c:pt>
                <c:pt idx="7">
                  <c:v>16.3</c:v>
                </c:pt>
                <c:pt idx="8">
                  <c:v>17.8</c:v>
                </c:pt>
                <c:pt idx="9">
                  <c:v>18.5</c:v>
                </c:pt>
                <c:pt idx="10">
                  <c:v>19.8</c:v>
                </c:pt>
              </c:numCache>
            </c:numRef>
          </c:val>
          <c:extLst>
            <c:ext xmlns:c16="http://schemas.microsoft.com/office/drawing/2014/chart" uri="{C3380CC4-5D6E-409C-BE32-E72D297353CC}">
              <c16:uniqueId val="{00000000-C23A-4327-A1D1-2354E5D25163}"/>
            </c:ext>
          </c:extLst>
        </c:ser>
        <c:dLbls>
          <c:showLegendKey val="0"/>
          <c:showVal val="1"/>
          <c:showCatName val="0"/>
          <c:showSerName val="0"/>
          <c:showPercent val="0"/>
          <c:showBubbleSize val="0"/>
        </c:dLbls>
        <c:gapWidth val="48"/>
        <c:overlap val="-27"/>
        <c:axId val="1406288815"/>
        <c:axId val="1406265295"/>
      </c:barChart>
      <c:lineChart>
        <c:grouping val="standard"/>
        <c:varyColors val="0"/>
        <c:ser>
          <c:idx val="1"/>
          <c:order val="1"/>
          <c:tx>
            <c:strRef>
              <c:f>Sheet1!$C$1</c:f>
              <c:strCache>
                <c:ptCount val="1"/>
                <c:pt idx="0">
                  <c:v>% Change YOY[percentage]</c:v>
                </c:pt>
              </c:strCache>
            </c:strRef>
          </c:tx>
          <c:spPr>
            <a:ln w="50800" cap="rnd">
              <a:solidFill>
                <a:schemeClr val="accent2"/>
              </a:solidFill>
              <a:round/>
            </a:ln>
            <a:effectLst/>
          </c:spPr>
          <c:marker>
            <c:symbol val="circle"/>
            <c:size val="14"/>
            <c:spPr>
              <a:solidFill>
                <a:schemeClr val="accent2"/>
              </a:solidFill>
              <a:ln w="9525">
                <a:solidFill>
                  <a:schemeClr val="accent2"/>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A-9838-40E7-AAEA-FBAC4EB33C00}"/>
                </c:ext>
              </c:extLst>
            </c:dLbl>
            <c:dLbl>
              <c:idx val="3"/>
              <c:layout>
                <c:manualLayout>
                  <c:x val="-4.2762802459911486E-2"/>
                  <c:y val="-8.40249585714102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838-40E7-AAEA-FBAC4EB33C00}"/>
                </c:ext>
              </c:extLst>
            </c:dLbl>
            <c:dLbl>
              <c:idx val="7"/>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effectLst>
                        <a:outerShdw blurRad="50800" dist="38100" dir="2700000" algn="tl" rotWithShape="0">
                          <a:prstClr val="black">
                            <a:alpha val="40000"/>
                          </a:prstClr>
                        </a:outerShdw>
                      </a:effectLst>
                      <a:latin typeface="+mn-lt"/>
                      <a:ea typeface="+mn-ea"/>
                      <a:cs typeface="+mn-cs"/>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B-9838-40E7-AAEA-FBAC4EB33C00}"/>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c:f>
              <c:numCache>
                <c:formatCode>General</c:formatCode>
                <c:ptCount val="11"/>
                <c:pt idx="0">
                  <c:v>2050</c:v>
                </c:pt>
                <c:pt idx="1">
                  <c:v>2051</c:v>
                </c:pt>
                <c:pt idx="2">
                  <c:v>2052</c:v>
                </c:pt>
                <c:pt idx="3">
                  <c:v>2053</c:v>
                </c:pt>
                <c:pt idx="4">
                  <c:v>2054</c:v>
                </c:pt>
                <c:pt idx="5">
                  <c:v>2055</c:v>
                </c:pt>
                <c:pt idx="6">
                  <c:v>2056</c:v>
                </c:pt>
                <c:pt idx="7">
                  <c:v>2057</c:v>
                </c:pt>
                <c:pt idx="8">
                  <c:v>2058</c:v>
                </c:pt>
                <c:pt idx="9">
                  <c:v>2059</c:v>
                </c:pt>
                <c:pt idx="10">
                  <c:v>2060</c:v>
                </c:pt>
              </c:numCache>
            </c:numRef>
          </c:cat>
          <c:val>
            <c:numRef>
              <c:f>Sheet1!$C$2:$C$12</c:f>
              <c:numCache>
                <c:formatCode>0.00%</c:formatCode>
                <c:ptCount val="11"/>
                <c:pt idx="0" formatCode="General">
                  <c:v>0</c:v>
                </c:pt>
                <c:pt idx="1">
                  <c:v>0.04</c:v>
                </c:pt>
                <c:pt idx="2">
                  <c:v>4.7E-2</c:v>
                </c:pt>
                <c:pt idx="3">
                  <c:v>-0.03</c:v>
                </c:pt>
                <c:pt idx="4">
                  <c:v>8.4000000000000005E-2</c:v>
                </c:pt>
                <c:pt idx="5">
                  <c:v>4.2000000000000003E-2</c:v>
                </c:pt>
                <c:pt idx="6">
                  <c:v>4.7E-2</c:v>
                </c:pt>
                <c:pt idx="7">
                  <c:v>5.1999999999999998E-2</c:v>
                </c:pt>
                <c:pt idx="8">
                  <c:v>9.1999999999999998E-2</c:v>
                </c:pt>
                <c:pt idx="9">
                  <c:v>3.9E-2</c:v>
                </c:pt>
                <c:pt idx="10">
                  <c:v>7.0000000000000007E-2</c:v>
                </c:pt>
              </c:numCache>
            </c:numRef>
          </c:val>
          <c:smooth val="0"/>
          <c:extLst>
            <c:ext xmlns:c16="http://schemas.microsoft.com/office/drawing/2014/chart" uri="{C3380CC4-5D6E-409C-BE32-E72D297353CC}">
              <c16:uniqueId val="{00000008-9838-40E7-AAEA-FBAC4EB33C00}"/>
            </c:ext>
          </c:extLst>
        </c:ser>
        <c:dLbls>
          <c:showLegendKey val="0"/>
          <c:showVal val="1"/>
          <c:showCatName val="0"/>
          <c:showSerName val="0"/>
          <c:showPercent val="0"/>
          <c:showBubbleSize val="0"/>
        </c:dLbls>
        <c:marker val="1"/>
        <c:smooth val="0"/>
        <c:axId val="84514880"/>
        <c:axId val="84538400"/>
      </c:lineChart>
      <c:catAx>
        <c:axId val="1406288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06265295"/>
        <c:crosses val="autoZero"/>
        <c:auto val="1"/>
        <c:lblAlgn val="ctr"/>
        <c:lblOffset val="100"/>
        <c:noMultiLvlLbl val="0"/>
      </c:catAx>
      <c:valAx>
        <c:axId val="1406265295"/>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06288815"/>
        <c:crosses val="autoZero"/>
        <c:crossBetween val="between"/>
      </c:valAx>
      <c:valAx>
        <c:axId val="84538400"/>
        <c:scaling>
          <c:orientation val="minMax"/>
          <c:max val="0.30000000000000004"/>
          <c:min val="-0.1"/>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4514880"/>
        <c:crosses val="max"/>
        <c:crossBetween val="between"/>
      </c:valAx>
      <c:catAx>
        <c:axId val="84514880"/>
        <c:scaling>
          <c:orientation val="minMax"/>
        </c:scaling>
        <c:delete val="1"/>
        <c:axPos val="b"/>
        <c:numFmt formatCode="General" sourceLinked="1"/>
        <c:majorTickMark val="out"/>
        <c:minorTickMark val="none"/>
        <c:tickLblPos val="nextTo"/>
        <c:crossAx val="84538400"/>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2048 Inv</cx:pt>
          <cx:pt idx="1">Inflow</cx:pt>
          <cx:pt idx="2">Outflow</cx:pt>
          <cx:pt idx="3">Buyback</cx:pt>
          <cx:pt idx="4">2049 Inv</cx:pt>
        </cx:lvl>
      </cx:strDim>
      <cx:numDim type="val">
        <cx:f>Sheet1!$B$2:$B$6</cx:f>
        <cx:lvl ptCount="5" formatCode="Standardowy">
          <cx:pt idx="0">206</cx:pt>
          <cx:pt idx="1">5</cx:pt>
          <cx:pt idx="2">-6</cx:pt>
          <cx:pt idx="3">4</cx:pt>
          <cx:pt idx="4">209</cx:pt>
        </cx:lvl>
      </cx:numDim>
    </cx:data>
  </cx:chartData>
  <cx:chart>
    <cx:plotArea>
      <cx:plotAreaRegion>
        <cx:series layoutId="waterfall" uniqueId="{E47602F5-2E06-454D-A90B-614E40C6249E}">
          <cx:tx>
            <cx:txData>
              <cx:f>Sheet1!$B$1</cx:f>
              <cx:v>Change [in Tons]</cx:v>
            </cx:txData>
          </cx:tx>
          <cx:spPr>
            <a:solidFill>
              <a:schemeClr val="accent1"/>
            </a:solidFill>
          </cx:spPr>
          <cx:dataPt idx="1">
            <cx:spPr>
              <a:solidFill>
                <a:srgbClr val="00FF00"/>
              </a:solidFill>
            </cx:spPr>
          </cx:dataPt>
          <cx:dataPt idx="2">
            <cx:spPr>
              <a:solidFill>
                <a:srgbClr val="777DA6"/>
              </a:solidFill>
            </cx:spPr>
          </cx:dataPt>
          <cx:dataPt idx="3">
            <cx:spPr>
              <a:solidFill>
                <a:srgbClr val="00FF00"/>
              </a:solidFill>
            </cx:spPr>
          </cx:dataPt>
          <cx:dataLabels>
            <cx:txPr>
              <a:bodyPr spcFirstLastPara="1" vertOverflow="ellipsis" horzOverflow="overflow" wrap="square" lIns="0" tIns="0" rIns="0" bIns="0" anchor="ctr" anchorCtr="1"/>
              <a:lstStyle/>
              <a:p>
                <a:pPr algn="ctr" rtl="0">
                  <a:defRPr sz="1800" b="1">
                    <a:solidFill>
                      <a:schemeClr val="accent1"/>
                    </a:solidFill>
                  </a:defRPr>
                </a:pPr>
                <a:endParaRPr lang="en-US" sz="1800" b="1" i="0" u="none" strike="noStrike" baseline="0">
                  <a:solidFill>
                    <a:schemeClr val="accent1"/>
                  </a:solidFill>
                  <a:latin typeface="Yaldevi"/>
                </a:endParaRPr>
              </a:p>
            </cx:txPr>
            <cx:visibility seriesName="0" categoryName="0" value="1"/>
          </cx:dataLabels>
          <cx:dataId val="0"/>
          <cx:layoutPr>
            <cx:subtotals>
              <cx:idx val="0"/>
              <cx:idx val="4"/>
            </cx:subtotals>
          </cx:layoutPr>
        </cx:series>
      </cx:plotAreaRegion>
      <cx:axis id="0">
        <cx:catScaling gapWidth="0.670000017"/>
        <cx:tickLabels/>
        <cx:txPr>
          <a:bodyPr spcFirstLastPara="1" vertOverflow="ellipsis" horzOverflow="overflow" wrap="square" lIns="0" tIns="0" rIns="0" bIns="0" anchor="ctr" anchorCtr="1"/>
          <a:lstStyle/>
          <a:p>
            <a:pPr algn="ctr" rtl="0">
              <a:defRPr sz="1400">
                <a:solidFill>
                  <a:schemeClr val="accent1"/>
                </a:solidFill>
              </a:defRPr>
            </a:pPr>
            <a:endParaRPr lang="en-US" sz="1400" b="0" i="0" u="none" strike="noStrike" baseline="0">
              <a:solidFill>
                <a:schemeClr val="accent1"/>
              </a:solidFill>
              <a:latin typeface="Yaldevi"/>
            </a:endParaRPr>
          </a:p>
        </cx:txPr>
      </cx:axis>
      <cx:axis id="1" hidden="1">
        <cx:valScaling min="190"/>
        <cx:tickLabels/>
      </cx:axis>
    </cx:plotArea>
  </cx:chart>
  <cx:fmtOvrs>
    <cx:fmtOvr idx="0">
      <cx:spPr>
        <a:solidFill>
          <a:schemeClr val="accent2"/>
        </a:solidFill>
      </cx:spPr>
    </cx:fmtOvr>
  </cx:fmtOvrs>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2048 Inv</cx:pt>
          <cx:pt idx="1">Inflow</cx:pt>
          <cx:pt idx="2">Outflow</cx:pt>
          <cx:pt idx="3">Buyback</cx:pt>
          <cx:pt idx="4">2049 Inv</cx:pt>
        </cx:lvl>
      </cx:strDim>
      <cx:numDim type="val">
        <cx:f>Sheet1!$B$2:$B$6</cx:f>
        <cx:lvl ptCount="5" formatCode="Standardowy">
          <cx:pt idx="0">206</cx:pt>
          <cx:pt idx="1">5</cx:pt>
          <cx:pt idx="2">-6</cx:pt>
          <cx:pt idx="3">4</cx:pt>
          <cx:pt idx="4">209</cx:pt>
        </cx:lvl>
      </cx:numDim>
    </cx:data>
  </cx:chartData>
  <cx:chart>
    <cx:plotArea>
      <cx:plotAreaRegion>
        <cx:series layoutId="waterfall" uniqueId="{E47602F5-2E06-454D-A90B-614E40C6249E}">
          <cx:tx>
            <cx:txData>
              <cx:f>Sheet1!$B$1</cx:f>
              <cx:v>Change [in Tons]</cx:v>
            </cx:txData>
          </cx:tx>
          <cx:spPr>
            <a:solidFill>
              <a:schemeClr val="accent1"/>
            </a:solidFill>
          </cx:spPr>
          <cx:dataPt idx="1">
            <cx:spPr>
              <a:solidFill>
                <a:srgbClr val="00FF00"/>
              </a:solidFill>
            </cx:spPr>
          </cx:dataPt>
          <cx:dataPt idx="2">
            <cx:spPr>
              <a:solidFill>
                <a:srgbClr val="777DA6"/>
              </a:solidFill>
            </cx:spPr>
          </cx:dataPt>
          <cx:dataPt idx="3">
            <cx:spPr>
              <a:solidFill>
                <a:srgbClr val="00FF00"/>
              </a:solidFill>
            </cx:spPr>
          </cx:dataPt>
          <cx:dataLabels>
            <cx:txPr>
              <a:bodyPr spcFirstLastPara="1" vertOverflow="ellipsis" horzOverflow="overflow" wrap="square" lIns="0" tIns="0" rIns="0" bIns="0" anchor="ctr" anchorCtr="1"/>
              <a:lstStyle/>
              <a:p>
                <a:pPr algn="ctr" rtl="0">
                  <a:defRPr sz="1800" b="1">
                    <a:solidFill>
                      <a:schemeClr val="accent1"/>
                    </a:solidFill>
                  </a:defRPr>
                </a:pPr>
                <a:endParaRPr lang="en-US" sz="1800" b="1" i="0" u="none" strike="noStrike" baseline="0">
                  <a:solidFill>
                    <a:schemeClr val="accent1"/>
                  </a:solidFill>
                  <a:latin typeface="Yaldevi"/>
                </a:endParaRPr>
              </a:p>
            </cx:txPr>
            <cx:visibility seriesName="0" categoryName="0" value="1"/>
          </cx:dataLabels>
          <cx:dataId val="0"/>
          <cx:layoutPr>
            <cx:subtotals>
              <cx:idx val="0"/>
              <cx:idx val="4"/>
            </cx:subtotals>
          </cx:layoutPr>
        </cx:series>
      </cx:plotAreaRegion>
      <cx:axis id="0">
        <cx:catScaling gapWidth="0.670000017"/>
        <cx:tickLabels/>
        <cx:txPr>
          <a:bodyPr spcFirstLastPara="1" vertOverflow="ellipsis" horzOverflow="overflow" wrap="square" lIns="0" tIns="0" rIns="0" bIns="0" anchor="ctr" anchorCtr="1"/>
          <a:lstStyle/>
          <a:p>
            <a:pPr algn="ctr" rtl="0">
              <a:defRPr sz="1400">
                <a:solidFill>
                  <a:schemeClr val="accent1"/>
                </a:solidFill>
              </a:defRPr>
            </a:pPr>
            <a:endParaRPr lang="en-US" sz="1400" b="0" i="0" u="none" strike="noStrike" baseline="0">
              <a:solidFill>
                <a:schemeClr val="accent1"/>
              </a:solidFill>
              <a:latin typeface="Yaldevi"/>
            </a:endParaRPr>
          </a:p>
        </cx:txPr>
      </cx:axis>
      <cx:axis id="1" hidden="1">
        <cx:valScaling min="190"/>
        <cx:tickLabels/>
      </cx:axis>
    </cx:plotArea>
  </cx:chart>
  <cx:fmtOvrs>
    <cx:fmtOvr idx="0">
      <cx:spPr>
        <a:solidFill>
          <a:schemeClr val="accent2"/>
        </a:solidFill>
      </cx:spPr>
    </cx:fmtOvr>
  </cx:fmtOvrs>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2048 Inv</cx:pt>
          <cx:pt idx="1">Inflow</cx:pt>
          <cx:pt idx="2">Outflow</cx:pt>
          <cx:pt idx="3">Buyback</cx:pt>
          <cx:pt idx="4">2049 Inv</cx:pt>
        </cx:lvl>
      </cx:strDim>
      <cx:numDim type="val">
        <cx:f>Sheet1!$B$2:$B$6</cx:f>
        <cx:lvl ptCount="5" formatCode="Standardowy">
          <cx:pt idx="0">206</cx:pt>
          <cx:pt idx="1">5</cx:pt>
          <cx:pt idx="2">-6</cx:pt>
          <cx:pt idx="3">4</cx:pt>
          <cx:pt idx="4">209</cx:pt>
        </cx:lvl>
      </cx:numDim>
    </cx:data>
  </cx:chartData>
  <cx:chart>
    <cx:plotArea>
      <cx:plotAreaRegion>
        <cx:series layoutId="waterfall" uniqueId="{77F3B00B-181C-49EE-A0D0-5DF58B1AA6B9}">
          <cx:tx>
            <cx:txData>
              <cx:f>Sheet1!$B$1</cx:f>
              <cx:v>Change [in Tons]</cx:v>
            </cx:txData>
          </cx:tx>
          <cx:dataPt idx="0">
            <cx:spPr>
              <a:solidFill>
                <a:srgbClr val="06105B"/>
              </a:solidFill>
            </cx:spPr>
          </cx:dataPt>
          <cx:dataPt idx="1">
            <cx:spPr>
              <a:solidFill>
                <a:srgbClr val="00B050"/>
              </a:solidFill>
            </cx:spPr>
          </cx:dataPt>
          <cx:dataPt idx="2">
            <cx:spPr>
              <a:solidFill>
                <a:srgbClr val="EE0000"/>
              </a:solidFill>
            </cx:spPr>
          </cx:dataPt>
          <cx:dataPt idx="3">
            <cx:spPr>
              <a:solidFill>
                <a:srgbClr val="00B050"/>
              </a:solidFill>
            </cx:spPr>
          </cx:dataPt>
          <cx:dataPt idx="4">
            <cx:spPr>
              <a:solidFill>
                <a:srgbClr val="06105B"/>
              </a:solidFill>
            </cx:spPr>
          </cx:dataPt>
          <cx:dataLabels>
            <cx:txPr>
              <a:bodyPr spcFirstLastPara="1" vertOverflow="ellipsis" horzOverflow="overflow" wrap="square" lIns="0" tIns="0" rIns="0" bIns="0" anchor="ctr" anchorCtr="1"/>
              <a:lstStyle/>
              <a:p>
                <a:pPr algn="ctr" rtl="0">
                  <a:defRPr sz="1400" b="1">
                    <a:solidFill>
                      <a:schemeClr val="accent1"/>
                    </a:solidFill>
                  </a:defRPr>
                </a:pPr>
                <a:endParaRPr lang="en-US" sz="1400" b="1" i="0" u="none" strike="noStrike" baseline="0">
                  <a:solidFill>
                    <a:schemeClr val="accent1"/>
                  </a:solidFill>
                  <a:latin typeface="Yaldevi"/>
                </a:endParaRPr>
              </a:p>
            </cx:txPr>
            <cx:visibility seriesName="0" categoryName="0" value="1"/>
          </cx:dataLabels>
          <cx:dataId val="0"/>
          <cx:layoutPr>
            <cx:subtotals>
              <cx:idx val="0"/>
              <cx:idx val="4"/>
            </cx:subtotals>
          </cx:layoutPr>
        </cx:series>
      </cx:plotAreaRegion>
      <cx:axis id="0">
        <cx:catScaling gapWidth="0.5"/>
        <cx:tickLabels/>
        <cx:txPr>
          <a:bodyPr spcFirstLastPara="1" vertOverflow="ellipsis" horzOverflow="overflow" wrap="square" lIns="0" tIns="0" rIns="0" bIns="0" anchor="ctr" anchorCtr="1"/>
          <a:lstStyle/>
          <a:p>
            <a:pPr algn="ctr" rtl="0">
              <a:defRPr b="1">
                <a:solidFill>
                  <a:schemeClr val="accent1"/>
                </a:solidFill>
              </a:defRPr>
            </a:pPr>
            <a:endParaRPr lang="en-US" sz="1197" b="1" i="0" u="none" strike="noStrike" baseline="0">
              <a:solidFill>
                <a:schemeClr val="accent1"/>
              </a:solidFill>
              <a:latin typeface="Yaldevi"/>
            </a:endParaRPr>
          </a:p>
        </cx:txPr>
      </cx:axis>
      <cx:axis id="1">
        <cx:valScaling min="190"/>
        <cx:tickLabels/>
        <cx:spPr>
          <a:ln w="19050">
            <a:solidFill>
              <a:schemeClr val="accent1"/>
            </a:solidFill>
          </a:ln>
        </cx:spPr>
        <cx:txPr>
          <a:bodyPr spcFirstLastPara="1" vertOverflow="ellipsis" horzOverflow="overflow" wrap="square" lIns="0" tIns="0" rIns="0" bIns="0" anchor="ctr" anchorCtr="1"/>
          <a:lstStyle/>
          <a:p>
            <a:pPr algn="ctr" rtl="0">
              <a:defRPr sz="1400" b="1">
                <a:solidFill>
                  <a:schemeClr val="accent1"/>
                </a:solidFill>
              </a:defRPr>
            </a:pPr>
            <a:endParaRPr lang="en-US" sz="1400" b="1" i="0" u="none" strike="noStrike" baseline="0">
              <a:solidFill>
                <a:schemeClr val="accent1"/>
              </a:solidFill>
              <a:latin typeface="Yaldevi"/>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38FE3-AADA-6BE1-246C-78FD91A658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60DB5B-F654-4CF2-F324-2C77D3C196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FB4F96-A8BE-79F1-808E-A9315952A5C4}"/>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E4B3E4B9-B4A9-F87B-D4D1-AD844195DC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8810FB-F508-CF80-EE56-38E73D8926E4}"/>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282103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02862-4B5A-FA0C-8657-F66E92514E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75D8D-06EF-FDEB-8753-65ECCF8CA0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85914B-5079-61E2-2472-3BBC87154449}"/>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415F2E18-E55D-1E9E-6796-33F7D0F847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DB372-F7EF-1784-9A09-1ED474D25C22}"/>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310724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7758C-0BBA-7C16-6676-691D43F636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7EE01D-B9E7-803F-C097-B1C393D625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54C186-BD13-98E1-E75D-EC17892BE0D5}"/>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9A1346A3-F31B-1DB7-1ED6-67691E1C1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39265-FC1E-C7E4-6687-5B2BD89A753A}"/>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319726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020C-5E5E-9DE3-C6BC-C6E8BBF4C6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B1B193-CE0A-C58F-57E8-57096F9F6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B9AFB4-B431-81FB-D7A8-0B2F67AEAE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58CA6F-2AB5-B49F-B902-19C82716DE40}"/>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6" name="Footer Placeholder 5">
            <a:extLst>
              <a:ext uri="{FF2B5EF4-FFF2-40B4-BE49-F238E27FC236}">
                <a16:creationId xmlns:a16="http://schemas.microsoft.com/office/drawing/2014/main" id="{692C131A-89C1-9901-8171-44F556C14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FFFFB5-F9E5-8152-E0F4-017228E1280F}"/>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84411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D01FB-ED88-9B24-B45E-8E2675D892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38F5EA-734C-F746-1C25-B526F9AC34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03771C-CB85-A030-F954-B757C57A84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001A19-8E12-B498-90B6-C918B618C3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03CF25-69A2-08B0-D5F9-820BC5F8D8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60CC06-B9A2-AB9D-136A-C35BE5AA7F69}"/>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8" name="Footer Placeholder 7">
            <a:extLst>
              <a:ext uri="{FF2B5EF4-FFF2-40B4-BE49-F238E27FC236}">
                <a16:creationId xmlns:a16="http://schemas.microsoft.com/office/drawing/2014/main" id="{D10BCA3F-7C19-4D13-F8CF-3FF144D487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3B0E1E-BCFD-19C2-2705-C89E6FA6A58B}"/>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351439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A6C4-A3E3-A1E4-8256-C9E6D87C3F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FF2878-672E-6637-8E85-9986465A5E3D}"/>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4" name="Footer Placeholder 3">
            <a:extLst>
              <a:ext uri="{FF2B5EF4-FFF2-40B4-BE49-F238E27FC236}">
                <a16:creationId xmlns:a16="http://schemas.microsoft.com/office/drawing/2014/main" id="{AE5247F2-F803-9CCD-375E-AAB1E75F7A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BC84BB-A35E-B215-BE9D-DD8174D8CE8A}"/>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2291700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CB36D-A49D-11AA-9C5E-6F97C38472AB}"/>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3" name="Footer Placeholder 2">
            <a:extLst>
              <a:ext uri="{FF2B5EF4-FFF2-40B4-BE49-F238E27FC236}">
                <a16:creationId xmlns:a16="http://schemas.microsoft.com/office/drawing/2014/main" id="{BB2DF108-60E7-6CFD-FB82-A144F74F80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327E9D-09B0-60FA-5E4E-E0C74842145E}"/>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352372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56041-EECC-24AE-44FC-00FE43D203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963215-429C-D795-7B51-AB3983DC53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A60200-FC8F-8ED9-2D0F-3B675F07D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E68D4C-BB57-6F46-FB46-F33FCB9CB55E}"/>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6" name="Footer Placeholder 5">
            <a:extLst>
              <a:ext uri="{FF2B5EF4-FFF2-40B4-BE49-F238E27FC236}">
                <a16:creationId xmlns:a16="http://schemas.microsoft.com/office/drawing/2014/main" id="{D8669D6B-DE11-E13E-7BFC-73280873E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1C4C81-F67B-0DFD-3F71-F36656FC6DB3}"/>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902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C2815-C31C-2FC1-8141-912ED50FB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3EEA4D-9B3B-F742-E32C-69AF8DF73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F7DB03-CF24-0BF2-000F-6C30E81B4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7351D-28FA-2EBE-85B6-8BD37E75C219}"/>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6" name="Footer Placeholder 5">
            <a:extLst>
              <a:ext uri="{FF2B5EF4-FFF2-40B4-BE49-F238E27FC236}">
                <a16:creationId xmlns:a16="http://schemas.microsoft.com/office/drawing/2014/main" id="{DE9A6684-6B63-CEAF-7D46-3D6AD77CC5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B3FFF-006C-53C7-DBE7-21CF7B36A28C}"/>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2547222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1214-D4EB-DCB3-BDC1-9427C019B8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9BB7E-7B23-CB51-3D83-D6C26BD5A4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E60BD-2DB3-D5EE-EC37-72AAD55E3415}"/>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732A8567-22C2-BF89-33D2-88B157148C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2989CB-2CFC-5A55-7B4F-35218B668C70}"/>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1892861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D60667-A011-2D2E-FB8A-CBE3DBE729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5C88D8-D9A9-4F04-4A4E-1421A08956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A93DD-6603-B224-1F0A-D756963B4511}"/>
              </a:ext>
            </a:extLst>
          </p:cNvPr>
          <p:cNvSpPr>
            <a:spLocks noGrp="1"/>
          </p:cNvSpPr>
          <p:nvPr>
            <p:ph type="dt" sz="half" idx="10"/>
          </p:nvPr>
        </p:nvSpPr>
        <p:spPr/>
        <p:txBody>
          <a:body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E91D03C1-7FA1-37AB-4FD0-43C563FCA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B4C7C4-07B1-4151-FC33-72D418AFA35D}"/>
              </a:ext>
            </a:extLst>
          </p:cNvPr>
          <p:cNvSpPr>
            <a:spLocks noGrp="1"/>
          </p:cNvSpPr>
          <p:nvPr>
            <p:ph type="sldNum" sz="quarter" idx="12"/>
          </p:nvPr>
        </p:nvSpPr>
        <p:spPr/>
        <p:txBody>
          <a:bodyPr/>
          <a:lstStyle/>
          <a:p>
            <a:fld id="{C0E569C6-DD98-4C65-A178-3BDEA2A75164}" type="slidenum">
              <a:rPr lang="en-US" smtClean="0"/>
              <a:t>‹#›</a:t>
            </a:fld>
            <a:endParaRPr lang="en-US"/>
          </a:p>
        </p:txBody>
      </p:sp>
    </p:spTree>
    <p:extLst>
      <p:ext uri="{BB962C8B-B14F-4D97-AF65-F5344CB8AC3E}">
        <p14:creationId xmlns:p14="http://schemas.microsoft.com/office/powerpoint/2010/main" val="1884786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3738-C11F-726F-5C75-028E6B950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8226E-BF80-2DB4-DC59-F61B35B18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5AE1EE-D101-DEB8-6863-5D7C7DFC80E6}"/>
              </a:ext>
            </a:extLst>
          </p:cNvPr>
          <p:cNvSpPr>
            <a:spLocks noGrp="1"/>
          </p:cNvSpPr>
          <p:nvPr>
            <p:ph type="dt" sz="half" idx="10"/>
          </p:nvPr>
        </p:nvSpPr>
        <p:spPr/>
        <p:txBody>
          <a:bodyPr/>
          <a:lstStyle/>
          <a:p>
            <a:fld id="{F3A3D4DF-E559-47C6-936E-71684B05677F}" type="datetimeFigureOut">
              <a:rPr lang="en-US" smtClean="0"/>
              <a:t>4/27/2026</a:t>
            </a:fld>
            <a:endParaRPr lang="en-US"/>
          </a:p>
        </p:txBody>
      </p:sp>
      <p:sp>
        <p:nvSpPr>
          <p:cNvPr id="5" name="Footer Placeholder 4">
            <a:extLst>
              <a:ext uri="{FF2B5EF4-FFF2-40B4-BE49-F238E27FC236}">
                <a16:creationId xmlns:a16="http://schemas.microsoft.com/office/drawing/2014/main" id="{1BEBAD65-BB15-134E-EF5D-D6AED9AC1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2ECC50-7E79-EAF8-1278-5D2871117462}"/>
              </a:ext>
            </a:extLst>
          </p:cNvPr>
          <p:cNvSpPr>
            <a:spLocks noGrp="1"/>
          </p:cNvSpPr>
          <p:nvPr>
            <p:ph type="sldNum" sz="quarter" idx="12"/>
          </p:nvPr>
        </p:nvSpPr>
        <p:spPr/>
        <p:txBody>
          <a:bodyPr/>
          <a:lstStyle/>
          <a:p>
            <a:fld id="{55AFC534-1096-4391-84E6-C04CB5A6D438}" type="slidenum">
              <a:rPr lang="en-US" smtClean="0"/>
              <a:t>‹#›</a:t>
            </a:fld>
            <a:endParaRPr lang="en-US"/>
          </a:p>
        </p:txBody>
      </p:sp>
    </p:spTree>
    <p:extLst>
      <p:ext uri="{BB962C8B-B14F-4D97-AF65-F5344CB8AC3E}">
        <p14:creationId xmlns:p14="http://schemas.microsoft.com/office/powerpoint/2010/main" val="3879131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 Rea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558F-9C39-0215-9064-055530812B91}"/>
              </a:ext>
            </a:extLst>
          </p:cNvPr>
          <p:cNvSpPr>
            <a:spLocks noGrp="1"/>
          </p:cNvSpPr>
          <p:nvPr>
            <p:ph type="title"/>
          </p:nvPr>
        </p:nvSpPr>
        <p:spPr>
          <a:xfrm>
            <a:off x="1746331" y="295675"/>
            <a:ext cx="8699338" cy="1232967"/>
          </a:xfrm>
        </p:spPr>
        <p:txBody>
          <a:bodyPr>
            <a:normAutofit/>
          </a:bodyPr>
          <a:lstStyle>
            <a:lvl1pPr algn="ctr">
              <a:defRPr sz="2800">
                <a:solidFill>
                  <a:schemeClr val="accent1"/>
                </a:solidFill>
              </a:defRPr>
            </a:lvl1pPr>
          </a:lstStyle>
          <a:p>
            <a:r>
              <a:rPr lang="en-US"/>
              <a:t>Click to edit Master title style</a:t>
            </a:r>
          </a:p>
        </p:txBody>
      </p:sp>
      <p:sp>
        <p:nvSpPr>
          <p:cNvPr id="8" name="Chart Placeholder 7">
            <a:extLst>
              <a:ext uri="{FF2B5EF4-FFF2-40B4-BE49-F238E27FC236}">
                <a16:creationId xmlns:a16="http://schemas.microsoft.com/office/drawing/2014/main" id="{62FC0408-4DD3-EA5B-729C-32450ACECF02}"/>
              </a:ext>
            </a:extLst>
          </p:cNvPr>
          <p:cNvSpPr>
            <a:spLocks noGrp="1"/>
          </p:cNvSpPr>
          <p:nvPr>
            <p:ph type="chart" sz="quarter" idx="13"/>
          </p:nvPr>
        </p:nvSpPr>
        <p:spPr>
          <a:xfrm>
            <a:off x="1746330" y="1620456"/>
            <a:ext cx="8699339" cy="4063033"/>
          </a:xfrm>
        </p:spPr>
        <p:txBody>
          <a:bodyPr/>
          <a:lstStyle>
            <a:lvl1pPr>
              <a:defRPr>
                <a:solidFill>
                  <a:schemeClr val="accent1"/>
                </a:solidFill>
              </a:defRPr>
            </a:lvl1pPr>
          </a:lstStyle>
          <a:p>
            <a:endParaRPr lang="en-US"/>
          </a:p>
        </p:txBody>
      </p:sp>
      <p:sp>
        <p:nvSpPr>
          <p:cNvPr id="19" name="TextBox 18">
            <a:extLst>
              <a:ext uri="{FF2B5EF4-FFF2-40B4-BE49-F238E27FC236}">
                <a16:creationId xmlns:a16="http://schemas.microsoft.com/office/drawing/2014/main" id="{1A8CEB7F-E6D1-E445-545A-C734208537F5}"/>
              </a:ext>
            </a:extLst>
          </p:cNvPr>
          <p:cNvSpPr txBox="1"/>
          <p:nvPr userDrawn="1"/>
        </p:nvSpPr>
        <p:spPr>
          <a:xfrm rot="16200000">
            <a:off x="-1748480" y="1081867"/>
            <a:ext cx="2686954" cy="523220"/>
          </a:xfrm>
          <a:prstGeom prst="rect">
            <a:avLst/>
          </a:prstGeom>
          <a:noFill/>
        </p:spPr>
        <p:txBody>
          <a:bodyPr wrap="none" rtlCol="0">
            <a:spAutoFit/>
          </a:bodyPr>
          <a:lstStyle/>
          <a:p>
            <a:pPr algn="r"/>
            <a:r>
              <a:rPr lang="pl-PL" sz="2800" b="1" dirty="0">
                <a:solidFill>
                  <a:schemeClr val="bg2">
                    <a:lumMod val="90000"/>
                  </a:schemeClr>
                </a:solidFill>
              </a:rPr>
              <a:t>Ready example</a:t>
            </a:r>
            <a:endParaRPr lang="en-US" sz="2800" b="1" dirty="0">
              <a:solidFill>
                <a:schemeClr val="bg2">
                  <a:lumMod val="90000"/>
                </a:schemeClr>
              </a:solidFill>
            </a:endParaRPr>
          </a:p>
        </p:txBody>
      </p:sp>
    </p:spTree>
    <p:extLst>
      <p:ext uri="{BB962C8B-B14F-4D97-AF65-F5344CB8AC3E}">
        <p14:creationId xmlns:p14="http://schemas.microsoft.com/office/powerpoint/2010/main" val="33104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 Work He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558F-9C39-0215-9064-055530812B91}"/>
              </a:ext>
            </a:extLst>
          </p:cNvPr>
          <p:cNvSpPr>
            <a:spLocks noGrp="1"/>
          </p:cNvSpPr>
          <p:nvPr>
            <p:ph type="title"/>
          </p:nvPr>
        </p:nvSpPr>
        <p:spPr>
          <a:xfrm>
            <a:off x="1746331" y="295675"/>
            <a:ext cx="8699338" cy="1232967"/>
          </a:xfrm>
        </p:spPr>
        <p:txBody>
          <a:bodyPr>
            <a:normAutofit/>
          </a:bodyPr>
          <a:lstStyle>
            <a:lvl1pPr algn="ctr">
              <a:defRPr sz="2800">
                <a:solidFill>
                  <a:schemeClr val="accent1"/>
                </a:solidFill>
              </a:defRPr>
            </a:lvl1pPr>
          </a:lstStyle>
          <a:p>
            <a:r>
              <a:rPr lang="en-US"/>
              <a:t>Click to edit Master title style</a:t>
            </a:r>
          </a:p>
        </p:txBody>
      </p:sp>
      <p:sp>
        <p:nvSpPr>
          <p:cNvPr id="8" name="Chart Placeholder 7">
            <a:extLst>
              <a:ext uri="{FF2B5EF4-FFF2-40B4-BE49-F238E27FC236}">
                <a16:creationId xmlns:a16="http://schemas.microsoft.com/office/drawing/2014/main" id="{62FC0408-4DD3-EA5B-729C-32450ACECF02}"/>
              </a:ext>
            </a:extLst>
          </p:cNvPr>
          <p:cNvSpPr>
            <a:spLocks noGrp="1"/>
          </p:cNvSpPr>
          <p:nvPr>
            <p:ph type="chart" sz="quarter" idx="13"/>
          </p:nvPr>
        </p:nvSpPr>
        <p:spPr>
          <a:xfrm>
            <a:off x="1746330" y="1620456"/>
            <a:ext cx="8699339" cy="4063033"/>
          </a:xfrm>
        </p:spPr>
        <p:txBody>
          <a:bodyPr/>
          <a:lstStyle>
            <a:lvl1pPr>
              <a:defRPr>
                <a:solidFill>
                  <a:schemeClr val="accent1"/>
                </a:solidFill>
              </a:defRPr>
            </a:lvl1pPr>
          </a:lstStyle>
          <a:p>
            <a:endParaRPr lang="en-US"/>
          </a:p>
        </p:txBody>
      </p:sp>
      <p:sp>
        <p:nvSpPr>
          <p:cNvPr id="3" name="TextBox 2">
            <a:extLst>
              <a:ext uri="{FF2B5EF4-FFF2-40B4-BE49-F238E27FC236}">
                <a16:creationId xmlns:a16="http://schemas.microsoft.com/office/drawing/2014/main" id="{787CB295-D2F6-9789-0CF7-D227ECCAE296}"/>
              </a:ext>
            </a:extLst>
          </p:cNvPr>
          <p:cNvSpPr txBox="1"/>
          <p:nvPr userDrawn="1"/>
        </p:nvSpPr>
        <p:spPr>
          <a:xfrm rot="16200000">
            <a:off x="-1354238" y="710772"/>
            <a:ext cx="1944763" cy="523220"/>
          </a:xfrm>
          <a:prstGeom prst="rect">
            <a:avLst/>
          </a:prstGeom>
          <a:noFill/>
        </p:spPr>
        <p:txBody>
          <a:bodyPr wrap="none" rtlCol="0">
            <a:spAutoFit/>
          </a:bodyPr>
          <a:lstStyle/>
          <a:p>
            <a:pPr algn="r"/>
            <a:r>
              <a:rPr lang="pl-PL" sz="2800" b="1" dirty="0">
                <a:solidFill>
                  <a:schemeClr val="bg2">
                    <a:lumMod val="90000"/>
                  </a:schemeClr>
                </a:solidFill>
              </a:rPr>
              <a:t>Work Here</a:t>
            </a:r>
            <a:endParaRPr lang="en-US" sz="2800" b="1" dirty="0">
              <a:solidFill>
                <a:schemeClr val="bg2">
                  <a:lumMod val="90000"/>
                </a:schemeClr>
              </a:solidFill>
            </a:endParaRPr>
          </a:p>
        </p:txBody>
      </p:sp>
    </p:spTree>
    <p:extLst>
      <p:ext uri="{BB962C8B-B14F-4D97-AF65-F5344CB8AC3E}">
        <p14:creationId xmlns:p14="http://schemas.microsoft.com/office/powerpoint/2010/main" val="2638103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3738-C11F-726F-5C75-028E6B950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8226E-BF80-2DB4-DC59-F61B35B18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5AE1EE-D101-DEB8-6863-5D7C7DFC80E6}"/>
              </a:ext>
            </a:extLst>
          </p:cNvPr>
          <p:cNvSpPr>
            <a:spLocks noGrp="1"/>
          </p:cNvSpPr>
          <p:nvPr>
            <p:ph type="dt" sz="half" idx="10"/>
          </p:nvPr>
        </p:nvSpPr>
        <p:spPr/>
        <p:txBody>
          <a:bodyPr/>
          <a:lstStyle/>
          <a:p>
            <a:fld id="{F3A3D4DF-E559-47C6-936E-71684B05677F}" type="datetimeFigureOut">
              <a:rPr lang="en-US" smtClean="0"/>
              <a:t>4/27/2026</a:t>
            </a:fld>
            <a:endParaRPr lang="en-US"/>
          </a:p>
        </p:txBody>
      </p:sp>
      <p:sp>
        <p:nvSpPr>
          <p:cNvPr id="5" name="Footer Placeholder 4">
            <a:extLst>
              <a:ext uri="{FF2B5EF4-FFF2-40B4-BE49-F238E27FC236}">
                <a16:creationId xmlns:a16="http://schemas.microsoft.com/office/drawing/2014/main" id="{1BEBAD65-BB15-134E-EF5D-D6AED9AC1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2ECC50-7E79-EAF8-1278-5D2871117462}"/>
              </a:ext>
            </a:extLst>
          </p:cNvPr>
          <p:cNvSpPr>
            <a:spLocks noGrp="1"/>
          </p:cNvSpPr>
          <p:nvPr>
            <p:ph type="sldNum" sz="quarter" idx="12"/>
          </p:nvPr>
        </p:nvSpPr>
        <p:spPr/>
        <p:txBody>
          <a:bodyPr/>
          <a:lstStyle/>
          <a:p>
            <a:fld id="{55AFC534-1096-4391-84E6-C04CB5A6D438}" type="slidenum">
              <a:rPr lang="en-US" smtClean="0"/>
              <a:t>‹#›</a:t>
            </a:fld>
            <a:endParaRPr lang="en-US"/>
          </a:p>
        </p:txBody>
      </p:sp>
    </p:spTree>
    <p:extLst>
      <p:ext uri="{BB962C8B-B14F-4D97-AF65-F5344CB8AC3E}">
        <p14:creationId xmlns:p14="http://schemas.microsoft.com/office/powerpoint/2010/main" val="3850483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 Rea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558F-9C39-0215-9064-055530812B91}"/>
              </a:ext>
            </a:extLst>
          </p:cNvPr>
          <p:cNvSpPr>
            <a:spLocks noGrp="1"/>
          </p:cNvSpPr>
          <p:nvPr>
            <p:ph type="title"/>
          </p:nvPr>
        </p:nvSpPr>
        <p:spPr>
          <a:xfrm>
            <a:off x="1746331" y="295675"/>
            <a:ext cx="8699338" cy="1232967"/>
          </a:xfrm>
        </p:spPr>
        <p:txBody>
          <a:bodyPr>
            <a:normAutofit/>
          </a:bodyPr>
          <a:lstStyle>
            <a:lvl1pPr algn="ctr">
              <a:defRPr sz="2800">
                <a:solidFill>
                  <a:schemeClr val="accent1"/>
                </a:solidFill>
              </a:defRPr>
            </a:lvl1pPr>
          </a:lstStyle>
          <a:p>
            <a:r>
              <a:rPr lang="en-US"/>
              <a:t>Click to edit Master title style</a:t>
            </a:r>
          </a:p>
        </p:txBody>
      </p:sp>
      <p:sp>
        <p:nvSpPr>
          <p:cNvPr id="8" name="Chart Placeholder 7">
            <a:extLst>
              <a:ext uri="{FF2B5EF4-FFF2-40B4-BE49-F238E27FC236}">
                <a16:creationId xmlns:a16="http://schemas.microsoft.com/office/drawing/2014/main" id="{62FC0408-4DD3-EA5B-729C-32450ACECF02}"/>
              </a:ext>
            </a:extLst>
          </p:cNvPr>
          <p:cNvSpPr>
            <a:spLocks noGrp="1"/>
          </p:cNvSpPr>
          <p:nvPr>
            <p:ph type="chart" sz="quarter" idx="13"/>
          </p:nvPr>
        </p:nvSpPr>
        <p:spPr>
          <a:xfrm>
            <a:off x="1746330" y="1620456"/>
            <a:ext cx="8699339" cy="4063033"/>
          </a:xfrm>
        </p:spPr>
        <p:txBody>
          <a:bodyPr/>
          <a:lstStyle>
            <a:lvl1pPr>
              <a:defRPr>
                <a:solidFill>
                  <a:schemeClr val="accent1"/>
                </a:solidFill>
              </a:defRPr>
            </a:lvl1pPr>
          </a:lstStyle>
          <a:p>
            <a:endParaRPr lang="en-US"/>
          </a:p>
        </p:txBody>
      </p:sp>
      <p:sp>
        <p:nvSpPr>
          <p:cNvPr id="19" name="TextBox 18">
            <a:extLst>
              <a:ext uri="{FF2B5EF4-FFF2-40B4-BE49-F238E27FC236}">
                <a16:creationId xmlns:a16="http://schemas.microsoft.com/office/drawing/2014/main" id="{1A8CEB7F-E6D1-E445-545A-C734208537F5}"/>
              </a:ext>
            </a:extLst>
          </p:cNvPr>
          <p:cNvSpPr txBox="1"/>
          <p:nvPr userDrawn="1"/>
        </p:nvSpPr>
        <p:spPr>
          <a:xfrm rot="16200000">
            <a:off x="-1748480" y="1081867"/>
            <a:ext cx="2686954" cy="523220"/>
          </a:xfrm>
          <a:prstGeom prst="rect">
            <a:avLst/>
          </a:prstGeom>
          <a:noFill/>
        </p:spPr>
        <p:txBody>
          <a:bodyPr wrap="none" rtlCol="0">
            <a:spAutoFit/>
          </a:bodyPr>
          <a:lstStyle/>
          <a:p>
            <a:pPr algn="r"/>
            <a:r>
              <a:rPr lang="pl-PL" sz="2800" b="1" dirty="0">
                <a:solidFill>
                  <a:schemeClr val="bg2">
                    <a:lumMod val="90000"/>
                  </a:schemeClr>
                </a:solidFill>
              </a:rPr>
              <a:t>Ready example</a:t>
            </a:r>
            <a:endParaRPr lang="en-US" sz="2800" b="1" dirty="0">
              <a:solidFill>
                <a:schemeClr val="bg2">
                  <a:lumMod val="90000"/>
                </a:schemeClr>
              </a:solidFill>
            </a:endParaRPr>
          </a:p>
        </p:txBody>
      </p:sp>
    </p:spTree>
    <p:extLst>
      <p:ext uri="{BB962C8B-B14F-4D97-AF65-F5344CB8AC3E}">
        <p14:creationId xmlns:p14="http://schemas.microsoft.com/office/powerpoint/2010/main" val="32736198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 Work He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558F-9C39-0215-9064-055530812B91}"/>
              </a:ext>
            </a:extLst>
          </p:cNvPr>
          <p:cNvSpPr>
            <a:spLocks noGrp="1"/>
          </p:cNvSpPr>
          <p:nvPr>
            <p:ph type="title"/>
          </p:nvPr>
        </p:nvSpPr>
        <p:spPr>
          <a:xfrm>
            <a:off x="1746331" y="295675"/>
            <a:ext cx="8699338" cy="1232967"/>
          </a:xfrm>
        </p:spPr>
        <p:txBody>
          <a:bodyPr>
            <a:normAutofit/>
          </a:bodyPr>
          <a:lstStyle>
            <a:lvl1pPr algn="ctr">
              <a:defRPr sz="2800">
                <a:solidFill>
                  <a:schemeClr val="accent1"/>
                </a:solidFill>
              </a:defRPr>
            </a:lvl1pPr>
          </a:lstStyle>
          <a:p>
            <a:r>
              <a:rPr lang="en-US"/>
              <a:t>Click to edit Master title style</a:t>
            </a:r>
          </a:p>
        </p:txBody>
      </p:sp>
      <p:sp>
        <p:nvSpPr>
          <p:cNvPr id="8" name="Chart Placeholder 7">
            <a:extLst>
              <a:ext uri="{FF2B5EF4-FFF2-40B4-BE49-F238E27FC236}">
                <a16:creationId xmlns:a16="http://schemas.microsoft.com/office/drawing/2014/main" id="{62FC0408-4DD3-EA5B-729C-32450ACECF02}"/>
              </a:ext>
            </a:extLst>
          </p:cNvPr>
          <p:cNvSpPr>
            <a:spLocks noGrp="1"/>
          </p:cNvSpPr>
          <p:nvPr>
            <p:ph type="chart" sz="quarter" idx="13"/>
          </p:nvPr>
        </p:nvSpPr>
        <p:spPr>
          <a:xfrm>
            <a:off x="1746330" y="1620456"/>
            <a:ext cx="8699339" cy="4063033"/>
          </a:xfrm>
        </p:spPr>
        <p:txBody>
          <a:bodyPr/>
          <a:lstStyle>
            <a:lvl1pPr>
              <a:defRPr>
                <a:solidFill>
                  <a:schemeClr val="accent1"/>
                </a:solidFill>
              </a:defRPr>
            </a:lvl1pPr>
          </a:lstStyle>
          <a:p>
            <a:endParaRPr lang="en-US"/>
          </a:p>
        </p:txBody>
      </p:sp>
      <p:sp>
        <p:nvSpPr>
          <p:cNvPr id="3" name="TextBox 2">
            <a:extLst>
              <a:ext uri="{FF2B5EF4-FFF2-40B4-BE49-F238E27FC236}">
                <a16:creationId xmlns:a16="http://schemas.microsoft.com/office/drawing/2014/main" id="{787CB295-D2F6-9789-0CF7-D227ECCAE296}"/>
              </a:ext>
            </a:extLst>
          </p:cNvPr>
          <p:cNvSpPr txBox="1"/>
          <p:nvPr userDrawn="1"/>
        </p:nvSpPr>
        <p:spPr>
          <a:xfrm rot="16200000">
            <a:off x="-1354238" y="710772"/>
            <a:ext cx="1944763" cy="523220"/>
          </a:xfrm>
          <a:prstGeom prst="rect">
            <a:avLst/>
          </a:prstGeom>
          <a:noFill/>
        </p:spPr>
        <p:txBody>
          <a:bodyPr wrap="none" rtlCol="0">
            <a:spAutoFit/>
          </a:bodyPr>
          <a:lstStyle/>
          <a:p>
            <a:pPr algn="r"/>
            <a:r>
              <a:rPr lang="pl-PL" sz="2800" b="1" dirty="0">
                <a:solidFill>
                  <a:schemeClr val="bg2">
                    <a:lumMod val="90000"/>
                  </a:schemeClr>
                </a:solidFill>
              </a:rPr>
              <a:t>Work Here</a:t>
            </a:r>
            <a:endParaRPr lang="en-US" sz="2800" b="1" dirty="0">
              <a:solidFill>
                <a:schemeClr val="bg2">
                  <a:lumMod val="90000"/>
                </a:schemeClr>
              </a:solidFill>
            </a:endParaRPr>
          </a:p>
        </p:txBody>
      </p:sp>
    </p:spTree>
    <p:extLst>
      <p:ext uri="{BB962C8B-B14F-4D97-AF65-F5344CB8AC3E}">
        <p14:creationId xmlns:p14="http://schemas.microsoft.com/office/powerpoint/2010/main" val="98718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F48286-C50F-6663-7871-2F7DDEB7BB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A84D90-09C5-812D-6D21-4D3568BD79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8395F-EAA4-5961-8D71-8391BE4D2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1D702-6E1D-452E-8EFA-EFD78142512C}" type="datetimeFigureOut">
              <a:rPr lang="en-US" smtClean="0"/>
              <a:t>4/27/2026</a:t>
            </a:fld>
            <a:endParaRPr lang="en-US"/>
          </a:p>
        </p:txBody>
      </p:sp>
      <p:sp>
        <p:nvSpPr>
          <p:cNvPr id="5" name="Footer Placeholder 4">
            <a:extLst>
              <a:ext uri="{FF2B5EF4-FFF2-40B4-BE49-F238E27FC236}">
                <a16:creationId xmlns:a16="http://schemas.microsoft.com/office/drawing/2014/main" id="{57E7DDDA-4FD5-9E20-D8AD-A9927A234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13BFB1-E333-E282-9412-7CF67F3335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E569C6-DD98-4C65-A178-3BDEA2A75164}" type="slidenum">
              <a:rPr lang="en-US" smtClean="0"/>
              <a:t>‹#›</a:t>
            </a:fld>
            <a:endParaRPr lang="en-US"/>
          </a:p>
        </p:txBody>
      </p:sp>
    </p:spTree>
    <p:extLst>
      <p:ext uri="{BB962C8B-B14F-4D97-AF65-F5344CB8AC3E}">
        <p14:creationId xmlns:p14="http://schemas.microsoft.com/office/powerpoint/2010/main" val="1708557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C2A74-9E5A-8861-71E4-02A34FDBA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A702A7-629E-79FE-608B-7581C887C8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B2B33-D2FB-30FF-6BDE-B9F59E11E4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3D4DF-E559-47C6-936E-71684B05677F}" type="datetimeFigureOut">
              <a:rPr lang="en-US" smtClean="0"/>
              <a:t>4/27/2026</a:t>
            </a:fld>
            <a:endParaRPr lang="en-US"/>
          </a:p>
        </p:txBody>
      </p:sp>
      <p:sp>
        <p:nvSpPr>
          <p:cNvPr id="5" name="Footer Placeholder 4">
            <a:extLst>
              <a:ext uri="{FF2B5EF4-FFF2-40B4-BE49-F238E27FC236}">
                <a16:creationId xmlns:a16="http://schemas.microsoft.com/office/drawing/2014/main" id="{D09FB359-1ED0-B61E-2138-74534B9D1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B20195-D7ED-BE96-579F-F95DC2A28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AFC534-1096-4391-84E6-C04CB5A6D438}" type="slidenum">
              <a:rPr lang="en-US" smtClean="0"/>
              <a:t>‹#›</a:t>
            </a:fld>
            <a:endParaRPr lang="en-US"/>
          </a:p>
        </p:txBody>
      </p:sp>
    </p:spTree>
    <p:extLst>
      <p:ext uri="{BB962C8B-B14F-4D97-AF65-F5344CB8AC3E}">
        <p14:creationId xmlns:p14="http://schemas.microsoft.com/office/powerpoint/2010/main" val="9958840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C2A74-9E5A-8861-71E4-02A34FDBA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A702A7-629E-79FE-608B-7581C887C8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B2B33-D2FB-30FF-6BDE-B9F59E11E4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3D4DF-E559-47C6-936E-71684B05677F}" type="datetimeFigureOut">
              <a:rPr lang="en-US" smtClean="0"/>
              <a:t>4/27/2026</a:t>
            </a:fld>
            <a:endParaRPr lang="en-US"/>
          </a:p>
        </p:txBody>
      </p:sp>
      <p:sp>
        <p:nvSpPr>
          <p:cNvPr id="5" name="Footer Placeholder 4">
            <a:extLst>
              <a:ext uri="{FF2B5EF4-FFF2-40B4-BE49-F238E27FC236}">
                <a16:creationId xmlns:a16="http://schemas.microsoft.com/office/drawing/2014/main" id="{D09FB359-1ED0-B61E-2138-74534B9D1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B20195-D7ED-BE96-579F-F95DC2A28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AFC534-1096-4391-84E6-C04CB5A6D438}" type="slidenum">
              <a:rPr lang="en-US" smtClean="0"/>
              <a:t>‹#›</a:t>
            </a:fld>
            <a:endParaRPr lang="en-US"/>
          </a:p>
        </p:txBody>
      </p:sp>
    </p:spTree>
    <p:extLst>
      <p:ext uri="{BB962C8B-B14F-4D97-AF65-F5344CB8AC3E}">
        <p14:creationId xmlns:p14="http://schemas.microsoft.com/office/powerpoint/2010/main" val="336634438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sv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4/relationships/chartEx" Target="../charts/chartEx1.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4/relationships/chartEx" Target="../charts/chartEx2.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4/relationships/chartEx" Target="../charts/chartEx3.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382E416-1B22-B751-6632-F6A361DDD4B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02DE50B-8BE7-845E-C8B6-7F71CD786E01}"/>
              </a:ext>
            </a:extLst>
          </p:cNvPr>
          <p:cNvGrpSpPr/>
          <p:nvPr/>
        </p:nvGrpSpPr>
        <p:grpSpPr>
          <a:xfrm>
            <a:off x="4768919" y="505393"/>
            <a:ext cx="3267034" cy="461665"/>
            <a:chOff x="4792068" y="597990"/>
            <a:chExt cx="3267034" cy="461665"/>
          </a:xfrm>
        </p:grpSpPr>
        <p:sp>
          <p:nvSpPr>
            <p:cNvPr id="14" name="TextBox 13">
              <a:extLst>
                <a:ext uri="{FF2B5EF4-FFF2-40B4-BE49-F238E27FC236}">
                  <a16:creationId xmlns:a16="http://schemas.microsoft.com/office/drawing/2014/main" id="{0F522DE2-87AF-52F2-AA6E-BDA59F9BD5C5}"/>
                </a:ext>
              </a:extLst>
            </p:cNvPr>
            <p:cNvSpPr txBox="1"/>
            <p:nvPr/>
          </p:nvSpPr>
          <p:spPr>
            <a:xfrm>
              <a:off x="4942543" y="597990"/>
              <a:ext cx="311655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1E64"/>
                  </a:solidFill>
                  <a:effectLst/>
                  <a:uLnTx/>
                  <a:uFillTx/>
                  <a:latin typeface="Yaldevi SemiBold"/>
                  <a:ea typeface="+mn-ea"/>
                  <a:cs typeface="+mn-cs"/>
                </a:rPr>
                <a:t>NeoTravel Horizons</a:t>
              </a:r>
            </a:p>
          </p:txBody>
        </p:sp>
        <p:pic>
          <p:nvPicPr>
            <p:cNvPr id="16" name="Graphic 15">
              <a:extLst>
                <a:ext uri="{FF2B5EF4-FFF2-40B4-BE49-F238E27FC236}">
                  <a16:creationId xmlns:a16="http://schemas.microsoft.com/office/drawing/2014/main" id="{34A34721-D837-5EB1-96F5-907AC66DF9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2068" y="668052"/>
              <a:ext cx="299669" cy="299669"/>
            </a:xfrm>
            <a:prstGeom prst="rect">
              <a:avLst/>
            </a:prstGeom>
          </p:spPr>
        </p:pic>
      </p:grpSp>
      <p:sp>
        <p:nvSpPr>
          <p:cNvPr id="15" name="TextBox 14">
            <a:extLst>
              <a:ext uri="{FF2B5EF4-FFF2-40B4-BE49-F238E27FC236}">
                <a16:creationId xmlns:a16="http://schemas.microsoft.com/office/drawing/2014/main" id="{0D607850-C519-F0BC-2D76-D8F21984455E}"/>
              </a:ext>
            </a:extLst>
          </p:cNvPr>
          <p:cNvSpPr txBox="1"/>
          <p:nvPr/>
        </p:nvSpPr>
        <p:spPr>
          <a:xfrm>
            <a:off x="3197507" y="1118143"/>
            <a:ext cx="609407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1E64"/>
                </a:solidFill>
                <a:effectLst/>
                <a:uLnTx/>
                <a:uFillTx/>
                <a:latin typeface="Yaldevi"/>
                <a:ea typeface="+mn-ea"/>
                <a:cs typeface="+mn-cs"/>
              </a:rPr>
              <a:t>Case Study: </a:t>
            </a:r>
            <a:r>
              <a:rPr kumimoji="0" lang="en-US" sz="1800" b="0" i="0" u="none" strike="noStrike" kern="1200" cap="none" spc="0" normalizeH="0" baseline="0" noProof="0" dirty="0">
                <a:ln>
                  <a:noFill/>
                </a:ln>
                <a:solidFill>
                  <a:srgbClr val="001E64"/>
                </a:solidFill>
                <a:effectLst/>
                <a:uLnTx/>
                <a:uFillTx/>
                <a:latin typeface="Yaldevi"/>
                <a:ea typeface="+mn-ea"/>
                <a:cs typeface="+mn-cs"/>
              </a:rPr>
              <a:t>Switzerland Tourism Data (2050–2060)</a:t>
            </a:r>
          </a:p>
        </p:txBody>
      </p:sp>
      <p:sp>
        <p:nvSpPr>
          <p:cNvPr id="19" name="TextBox 18">
            <a:extLst>
              <a:ext uri="{FF2B5EF4-FFF2-40B4-BE49-F238E27FC236}">
                <a16:creationId xmlns:a16="http://schemas.microsoft.com/office/drawing/2014/main" id="{22AAF040-E8F5-6BFC-3346-471513BF93DB}"/>
              </a:ext>
            </a:extLst>
          </p:cNvPr>
          <p:cNvSpPr txBox="1"/>
          <p:nvPr/>
        </p:nvSpPr>
        <p:spPr>
          <a:xfrm>
            <a:off x="2351590" y="2372016"/>
            <a:ext cx="7488820" cy="286232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01E64"/>
                </a:solidFill>
                <a:effectLst/>
                <a:uLnTx/>
                <a:uFillTx/>
                <a:latin typeface="Yaldevi"/>
                <a:ea typeface="+mn-ea"/>
                <a:cs typeface="+mn-cs"/>
              </a:rPr>
              <a:t>Brief: </a:t>
            </a:r>
            <a:r>
              <a:rPr kumimoji="0" lang="en-US" sz="1800" b="0" i="0" u="none" strike="noStrike" kern="1200" cap="none" spc="0" normalizeH="0" baseline="0" noProof="0" dirty="0">
                <a:ln>
                  <a:noFill/>
                </a:ln>
                <a:solidFill>
                  <a:srgbClr val="001E64"/>
                </a:solidFill>
                <a:effectLst/>
                <a:uLnTx/>
                <a:uFillTx/>
                <a:latin typeface="Yaldevi"/>
                <a:ea typeface="+mn-ea"/>
                <a:cs typeface="+mn-cs"/>
              </a:rPr>
              <a:t>Welcome to </a:t>
            </a:r>
            <a:r>
              <a:rPr kumimoji="0" lang="en-US" sz="1800" b="1" i="0" u="none" strike="noStrike" kern="1200" cap="none" spc="0" normalizeH="0" baseline="0" noProof="0" dirty="0">
                <a:ln>
                  <a:noFill/>
                </a:ln>
                <a:solidFill>
                  <a:srgbClr val="001E64"/>
                </a:solidFill>
                <a:effectLst/>
                <a:uLnTx/>
                <a:uFillTx/>
                <a:latin typeface="Yaldevi"/>
                <a:ea typeface="+mn-ea"/>
                <a:cs typeface="+mn-cs"/>
              </a:rPr>
              <a:t>NeoTravel Horizons</a:t>
            </a:r>
            <a:r>
              <a:rPr kumimoji="0" lang="en-US" sz="1800" b="0" i="0" u="none" strike="noStrike" kern="1200" cap="none" spc="0" normalizeH="0" baseline="0" noProof="0" dirty="0">
                <a:ln>
                  <a:noFill/>
                </a:ln>
                <a:solidFill>
                  <a:srgbClr val="001E64"/>
                </a:solidFill>
                <a:effectLst/>
                <a:uLnTx/>
                <a:uFillTx/>
                <a:latin typeface="Yaldevi"/>
                <a:ea typeface="+mn-ea"/>
                <a:cs typeface="+mn-cs"/>
              </a:rPr>
              <a:t>. We are the leading strategic consultancy for the 2050s travel market. We have just finalized our decade-forecast for Switzerland. Our team has combined historical data with our proprietary </a:t>
            </a:r>
            <a:r>
              <a:rPr kumimoji="0" lang="en-US" sz="1800" b="0" i="0" u="none" strike="noStrike" kern="1200" cap="none" spc="0" normalizeH="0" baseline="0" noProof="0" dirty="0">
                <a:ln>
                  <a:noFill/>
                </a:ln>
                <a:solidFill>
                  <a:srgbClr val="D63230"/>
                </a:solidFill>
                <a:effectLst/>
                <a:uLnTx/>
                <a:uFillTx/>
                <a:latin typeface="Yaldevi"/>
                <a:ea typeface="+mn-ea"/>
                <a:cs typeface="+mn-cs"/>
              </a:rPr>
              <a:t>'Hyper-loop Impact</a:t>
            </a:r>
            <a:r>
              <a:rPr kumimoji="0" lang="en-US" sz="1800" b="0" i="0" u="none" strike="noStrike" kern="1200" cap="none" spc="0" normalizeH="0" baseline="0" noProof="0" dirty="0">
                <a:ln>
                  <a:noFill/>
                </a:ln>
                <a:solidFill>
                  <a:srgbClr val="001E64"/>
                </a:solidFill>
                <a:effectLst/>
                <a:uLnTx/>
                <a:uFillTx/>
                <a:latin typeface="Yaldevi"/>
                <a:ea typeface="+mn-ea"/>
                <a:cs typeface="+mn-cs"/>
              </a:rPr>
              <a:t>' estimates.</a:t>
            </a:r>
            <a:endParaRPr kumimoji="0" lang="pl-PL" sz="1800" b="0" i="0" u="none" strike="noStrike" kern="1200" cap="none" spc="0" normalizeH="0" baseline="0" noProof="0" dirty="0">
              <a:ln>
                <a:noFill/>
              </a:ln>
              <a:solidFill>
                <a:srgbClr val="001E64"/>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dirty="0">
              <a:ln>
                <a:noFill/>
              </a:ln>
              <a:solidFill>
                <a:srgbClr val="001E64"/>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1E64"/>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1E64"/>
                </a:solidFill>
                <a:effectLst/>
                <a:uLnTx/>
                <a:uFillTx/>
                <a:latin typeface="Yaldevi"/>
                <a:ea typeface="+mn-ea"/>
                <a:cs typeface="+mn-cs"/>
              </a:rPr>
              <a:t>Your mission:</a:t>
            </a:r>
            <a:r>
              <a:rPr kumimoji="0" lang="en-US" sz="1800" b="0" i="0" u="none" strike="noStrike" kern="1200" cap="none" spc="0" normalizeH="0" baseline="0" noProof="0" dirty="0">
                <a:ln>
                  <a:noFill/>
                </a:ln>
                <a:solidFill>
                  <a:srgbClr val="001E64"/>
                </a:solidFill>
                <a:effectLst/>
                <a:uLnTx/>
                <a:uFillTx/>
                <a:latin typeface="Yaldevi"/>
                <a:ea typeface="+mn-ea"/>
                <a:cs typeface="+mn-cs"/>
              </a:rPr>
              <a:t> Our board of directors needs to see the relationship between the total volume of visitors and the speed of growth. </a:t>
            </a:r>
            <a:endParaRPr kumimoji="0" lang="pl-PL" sz="1800" b="0" i="0" u="none" strike="noStrike" kern="1200" cap="none" spc="0" normalizeH="0" baseline="0" noProof="0" dirty="0">
              <a:ln>
                <a:noFill/>
              </a:ln>
              <a:solidFill>
                <a:srgbClr val="001E64"/>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1E64"/>
                </a:solidFill>
                <a:effectLst/>
                <a:uLnTx/>
                <a:uFillTx/>
                <a:latin typeface="Yaldevi"/>
                <a:ea typeface="+mn-ea"/>
                <a:cs typeface="+mn-cs"/>
              </a:rPr>
              <a:t>They won't look at a table—they need a high-integrity </a:t>
            </a:r>
            <a:r>
              <a:rPr kumimoji="0" lang="en-US" sz="1800" b="1" i="0" u="none" strike="noStrike" kern="1200" cap="none" spc="0" normalizeH="0" baseline="0" noProof="0" dirty="0">
                <a:ln>
                  <a:noFill/>
                </a:ln>
                <a:solidFill>
                  <a:srgbClr val="D63230"/>
                </a:solidFill>
                <a:effectLst/>
                <a:uLnTx/>
                <a:uFillTx/>
                <a:latin typeface="Yaldevi"/>
                <a:ea typeface="+mn-ea"/>
                <a:cs typeface="+mn-cs"/>
              </a:rPr>
              <a:t>Chart</a:t>
            </a:r>
            <a:r>
              <a:rPr kumimoji="0" lang="en-US" sz="1800" b="0" i="0" u="none" strike="noStrike" kern="1200" cap="none" spc="0" normalizeH="0" baseline="0" noProof="0" dirty="0">
                <a:ln>
                  <a:noFill/>
                </a:ln>
                <a:solidFill>
                  <a:srgbClr val="001E64"/>
                </a:solidFill>
                <a:effectLst/>
                <a:uLnTx/>
                <a:uFillTx/>
                <a:latin typeface="Yaldevi"/>
                <a:ea typeface="+mn-ea"/>
                <a:cs typeface="+mn-cs"/>
              </a:rPr>
              <a:t> that clearly separates what we know from what we predict.</a:t>
            </a:r>
          </a:p>
        </p:txBody>
      </p:sp>
      <p:sp>
        <p:nvSpPr>
          <p:cNvPr id="3" name="TextBox 2">
            <a:extLst>
              <a:ext uri="{FF2B5EF4-FFF2-40B4-BE49-F238E27FC236}">
                <a16:creationId xmlns:a16="http://schemas.microsoft.com/office/drawing/2014/main" id="{29A19E35-2229-6DE6-DDA9-0A5819FA5A80}"/>
              </a:ext>
            </a:extLst>
          </p:cNvPr>
          <p:cNvSpPr txBox="1"/>
          <p:nvPr/>
        </p:nvSpPr>
        <p:spPr>
          <a:xfrm>
            <a:off x="4439939" y="5683168"/>
            <a:ext cx="3312125"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Plot suggestion: </a:t>
            </a:r>
            <a:r>
              <a:rPr kumimoji="0" lang="pl-PL" sz="1800" b="0" i="0" u="none" strike="noStrike" kern="1200" cap="none" spc="0" normalizeH="0" baseline="0" noProof="0" dirty="0">
                <a:ln>
                  <a:noFill/>
                </a:ln>
                <a:solidFill>
                  <a:prstClr val="black"/>
                </a:solidFill>
                <a:effectLst/>
                <a:uLnTx/>
                <a:uFillTx/>
                <a:latin typeface="Yaldevi"/>
                <a:ea typeface="+mn-ea"/>
                <a:cs typeface="+mn-cs"/>
              </a:rPr>
              <a:t>Column, line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805644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BBCFB48-8CB9-1E10-C44D-C810479390D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152D327-37AA-583E-0872-732E26104821}"/>
              </a:ext>
            </a:extLst>
          </p:cNvPr>
          <p:cNvGrpSpPr/>
          <p:nvPr/>
        </p:nvGrpSpPr>
        <p:grpSpPr>
          <a:xfrm>
            <a:off x="4768919" y="412795"/>
            <a:ext cx="3267034" cy="461665"/>
            <a:chOff x="4792068" y="597990"/>
            <a:chExt cx="3267034" cy="461665"/>
          </a:xfrm>
        </p:grpSpPr>
        <p:sp>
          <p:nvSpPr>
            <p:cNvPr id="14" name="TextBox 13">
              <a:extLst>
                <a:ext uri="{FF2B5EF4-FFF2-40B4-BE49-F238E27FC236}">
                  <a16:creationId xmlns:a16="http://schemas.microsoft.com/office/drawing/2014/main" id="{5D005CD0-9BC2-E179-A4A2-4CDC95301DA2}"/>
                </a:ext>
              </a:extLst>
            </p:cNvPr>
            <p:cNvSpPr txBox="1"/>
            <p:nvPr/>
          </p:nvSpPr>
          <p:spPr>
            <a:xfrm>
              <a:off x="4942543" y="597990"/>
              <a:ext cx="311655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1E64"/>
                  </a:solidFill>
                  <a:effectLst/>
                  <a:uLnTx/>
                  <a:uFillTx/>
                  <a:latin typeface="Yaldevi SemiBold"/>
                  <a:ea typeface="+mn-ea"/>
                  <a:cs typeface="+mn-cs"/>
                </a:rPr>
                <a:t>NeoTravel Horizons</a:t>
              </a:r>
            </a:p>
          </p:txBody>
        </p:sp>
        <p:pic>
          <p:nvPicPr>
            <p:cNvPr id="16" name="Graphic 15">
              <a:extLst>
                <a:ext uri="{FF2B5EF4-FFF2-40B4-BE49-F238E27FC236}">
                  <a16:creationId xmlns:a16="http://schemas.microsoft.com/office/drawing/2014/main" id="{B76DB030-437B-F92F-216E-646EBA2D45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2068" y="668052"/>
              <a:ext cx="299669" cy="299669"/>
            </a:xfrm>
            <a:prstGeom prst="rect">
              <a:avLst/>
            </a:prstGeom>
          </p:spPr>
        </p:pic>
      </p:grpSp>
      <p:sp>
        <p:nvSpPr>
          <p:cNvPr id="15" name="TextBox 14">
            <a:extLst>
              <a:ext uri="{FF2B5EF4-FFF2-40B4-BE49-F238E27FC236}">
                <a16:creationId xmlns:a16="http://schemas.microsoft.com/office/drawing/2014/main" id="{40955EE4-933F-9B40-FC46-012F05D678A7}"/>
              </a:ext>
            </a:extLst>
          </p:cNvPr>
          <p:cNvSpPr txBox="1"/>
          <p:nvPr/>
        </p:nvSpPr>
        <p:spPr>
          <a:xfrm>
            <a:off x="3197507" y="1025545"/>
            <a:ext cx="609407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1E64"/>
                </a:solidFill>
                <a:effectLst/>
                <a:uLnTx/>
                <a:uFillTx/>
                <a:latin typeface="Yaldevi"/>
                <a:ea typeface="+mn-ea"/>
                <a:cs typeface="+mn-cs"/>
              </a:rPr>
              <a:t>Case Study: </a:t>
            </a:r>
            <a:r>
              <a:rPr kumimoji="0" lang="en-US" sz="1800" b="0" i="0" u="none" strike="noStrike" kern="1200" cap="none" spc="0" normalizeH="0" baseline="0" noProof="0" dirty="0">
                <a:ln>
                  <a:noFill/>
                </a:ln>
                <a:solidFill>
                  <a:srgbClr val="001E64"/>
                </a:solidFill>
                <a:effectLst/>
                <a:uLnTx/>
                <a:uFillTx/>
                <a:latin typeface="Yaldevi"/>
                <a:ea typeface="+mn-ea"/>
                <a:cs typeface="+mn-cs"/>
              </a:rPr>
              <a:t>Switzerland Tourism Data (2050–2060)</a:t>
            </a:r>
          </a:p>
        </p:txBody>
      </p:sp>
      <p:graphicFrame>
        <p:nvGraphicFramePr>
          <p:cNvPr id="17" name="Table 16">
            <a:extLst>
              <a:ext uri="{FF2B5EF4-FFF2-40B4-BE49-F238E27FC236}">
                <a16:creationId xmlns:a16="http://schemas.microsoft.com/office/drawing/2014/main" id="{9A067A11-38C1-955F-B466-A5FEDF1D67E4}"/>
              </a:ext>
            </a:extLst>
          </p:cNvPr>
          <p:cNvGraphicFramePr>
            <a:graphicFrameLocks noGrp="1"/>
          </p:cNvGraphicFramePr>
          <p:nvPr/>
        </p:nvGraphicFramePr>
        <p:xfrm>
          <a:off x="1546874" y="1783418"/>
          <a:ext cx="9098252" cy="4435752"/>
        </p:xfrm>
        <a:graphic>
          <a:graphicData uri="http://schemas.openxmlformats.org/drawingml/2006/table">
            <a:tbl>
              <a:tblPr>
                <a:tableStyleId>{8EC20E35-A176-4012-BC5E-935CFFF8708E}</a:tableStyleId>
              </a:tblPr>
              <a:tblGrid>
                <a:gridCol w="2274563">
                  <a:extLst>
                    <a:ext uri="{9D8B030D-6E8A-4147-A177-3AD203B41FA5}">
                      <a16:colId xmlns:a16="http://schemas.microsoft.com/office/drawing/2014/main" val="2678153913"/>
                    </a:ext>
                  </a:extLst>
                </a:gridCol>
                <a:gridCol w="2274563">
                  <a:extLst>
                    <a:ext uri="{9D8B030D-6E8A-4147-A177-3AD203B41FA5}">
                      <a16:colId xmlns:a16="http://schemas.microsoft.com/office/drawing/2014/main" val="3340117457"/>
                    </a:ext>
                  </a:extLst>
                </a:gridCol>
                <a:gridCol w="2274563">
                  <a:extLst>
                    <a:ext uri="{9D8B030D-6E8A-4147-A177-3AD203B41FA5}">
                      <a16:colId xmlns:a16="http://schemas.microsoft.com/office/drawing/2014/main" val="3266223340"/>
                    </a:ext>
                  </a:extLst>
                </a:gridCol>
                <a:gridCol w="2274563">
                  <a:extLst>
                    <a:ext uri="{9D8B030D-6E8A-4147-A177-3AD203B41FA5}">
                      <a16:colId xmlns:a16="http://schemas.microsoft.com/office/drawing/2014/main" val="4128925860"/>
                    </a:ext>
                  </a:extLst>
                </a:gridCol>
              </a:tblGrid>
              <a:tr h="580178">
                <a:tc>
                  <a:txBody>
                    <a:bodyPr/>
                    <a:lstStyle/>
                    <a:p>
                      <a:pPr algn="ctr" rtl="0">
                        <a:buNone/>
                      </a:pPr>
                      <a:r>
                        <a:rPr lang="en-US" sz="1600" b="1" dirty="0">
                          <a:solidFill>
                            <a:schemeClr val="accent1"/>
                          </a:solidFill>
                          <a:effectLst/>
                        </a:rPr>
                        <a:t>Year</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Total Visitors [in millions]</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 Chang</a:t>
                      </a:r>
                      <a:r>
                        <a:rPr lang="pl-PL" sz="1600" b="1" dirty="0">
                          <a:solidFill>
                            <a:schemeClr val="accent1"/>
                          </a:solidFill>
                          <a:effectLst/>
                        </a:rPr>
                        <a:t>e </a:t>
                      </a:r>
                      <a:r>
                        <a:rPr lang="en-US" sz="1600" b="1" dirty="0">
                          <a:solidFill>
                            <a:schemeClr val="accent1"/>
                          </a:solidFill>
                          <a:effectLst/>
                        </a:rPr>
                        <a:t>YOY[percentage]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Data Status</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29937983"/>
                  </a:ext>
                </a:extLst>
              </a:tr>
              <a:tr h="342833">
                <a:tc>
                  <a:txBody>
                    <a:bodyPr/>
                    <a:lstStyle/>
                    <a:p>
                      <a:pPr algn="ctr" rtl="0">
                        <a:buNone/>
                      </a:pPr>
                      <a:r>
                        <a:rPr lang="en-US" sz="1600" b="1" dirty="0">
                          <a:solidFill>
                            <a:schemeClr val="accent1"/>
                          </a:solidFill>
                          <a:effectLst/>
                        </a:rPr>
                        <a:t>2050</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12</a:t>
                      </a:r>
                      <a:r>
                        <a:rPr lang="pl-PL" sz="1600" dirty="0">
                          <a:solidFill>
                            <a:schemeClr val="accent1"/>
                          </a:solidFill>
                          <a:effectLst/>
                        </a:rPr>
                        <a:t>,</a:t>
                      </a:r>
                      <a:r>
                        <a:rPr lang="en-US" sz="1600" dirty="0">
                          <a:solidFill>
                            <a:schemeClr val="accent1"/>
                          </a:solidFill>
                          <a:effectLst/>
                        </a:rPr>
                        <a:t>4</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166403"/>
                  </a:ext>
                </a:extLst>
              </a:tr>
              <a:tr h="342833">
                <a:tc>
                  <a:txBody>
                    <a:bodyPr/>
                    <a:lstStyle/>
                    <a:p>
                      <a:pPr algn="ctr" rtl="0">
                        <a:buNone/>
                      </a:pPr>
                      <a:r>
                        <a:rPr lang="en-US" sz="1600" b="1" dirty="0">
                          <a:solidFill>
                            <a:schemeClr val="accent1"/>
                          </a:solidFill>
                          <a:effectLst/>
                        </a:rPr>
                        <a:t>2051</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12</a:t>
                      </a:r>
                      <a:r>
                        <a:rPr lang="pl-PL" sz="1600" dirty="0">
                          <a:solidFill>
                            <a:schemeClr val="accent1"/>
                          </a:solidFill>
                          <a:effectLst/>
                        </a:rPr>
                        <a:t>,</a:t>
                      </a:r>
                      <a:r>
                        <a:rPr lang="en-US" sz="1600" dirty="0">
                          <a:solidFill>
                            <a:schemeClr val="accent1"/>
                          </a:solidFill>
                          <a:effectLst/>
                        </a:rPr>
                        <a:t>9</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92088091"/>
                  </a:ext>
                </a:extLst>
              </a:tr>
              <a:tr h="342833">
                <a:tc>
                  <a:txBody>
                    <a:bodyPr/>
                    <a:lstStyle/>
                    <a:p>
                      <a:pPr algn="ctr" rtl="0">
                        <a:buNone/>
                      </a:pPr>
                      <a:r>
                        <a:rPr lang="en-US" sz="1600" b="1" dirty="0">
                          <a:solidFill>
                            <a:schemeClr val="accent1"/>
                          </a:solidFill>
                          <a:effectLst/>
                        </a:rPr>
                        <a:t>2052</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13</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7%</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3106522"/>
                  </a:ext>
                </a:extLst>
              </a:tr>
              <a:tr h="342833">
                <a:tc>
                  <a:txBody>
                    <a:bodyPr/>
                    <a:lstStyle/>
                    <a:p>
                      <a:pPr algn="ctr" rtl="0">
                        <a:buNone/>
                      </a:pPr>
                      <a:r>
                        <a:rPr lang="en-US" sz="1600" b="1" dirty="0">
                          <a:solidFill>
                            <a:schemeClr val="accent1"/>
                          </a:solidFill>
                          <a:effectLst/>
                        </a:rPr>
                        <a:t>2053</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13</a:t>
                      </a:r>
                      <a:r>
                        <a:rPr lang="pl-PL" sz="1600" dirty="0">
                          <a:solidFill>
                            <a:schemeClr val="accent1"/>
                          </a:solidFill>
                          <a:effectLst/>
                        </a:rPr>
                        <a:t>,</a:t>
                      </a:r>
                      <a:r>
                        <a:rPr lang="en-US" sz="1600" dirty="0">
                          <a:solidFill>
                            <a:schemeClr val="accent1"/>
                          </a:solidFill>
                          <a:effectLst/>
                        </a:rPr>
                        <a:t>1</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-3</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45572715"/>
                  </a:ext>
                </a:extLst>
              </a:tr>
              <a:tr h="342833">
                <a:tc>
                  <a:txBody>
                    <a:bodyPr/>
                    <a:lstStyle/>
                    <a:p>
                      <a:pPr algn="ctr" rtl="0">
                        <a:buNone/>
                      </a:pPr>
                      <a:r>
                        <a:rPr lang="en-US" sz="1600" b="1" dirty="0">
                          <a:solidFill>
                            <a:schemeClr val="accent1"/>
                          </a:solidFill>
                          <a:effectLst/>
                        </a:rPr>
                        <a:t>2054</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14</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8</a:t>
                      </a:r>
                      <a:r>
                        <a:rPr lang="pl-PL" sz="1600" dirty="0">
                          <a:solidFill>
                            <a:schemeClr val="accent1"/>
                          </a:solidFill>
                          <a:effectLst/>
                        </a:rPr>
                        <a:t>,</a:t>
                      </a:r>
                      <a:r>
                        <a:rPr lang="en-US" sz="1600" dirty="0">
                          <a:solidFill>
                            <a:schemeClr val="accent1"/>
                          </a:solidFill>
                          <a:effectLst/>
                        </a:rPr>
                        <a:t>4%</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862864"/>
                  </a:ext>
                </a:extLst>
              </a:tr>
              <a:tr h="342833">
                <a:tc>
                  <a:txBody>
                    <a:bodyPr/>
                    <a:lstStyle/>
                    <a:p>
                      <a:pPr algn="ctr" rtl="0">
                        <a:buNone/>
                      </a:pPr>
                      <a:r>
                        <a:rPr lang="en-US" sz="1600" b="1" dirty="0">
                          <a:solidFill>
                            <a:schemeClr val="accent1"/>
                          </a:solidFill>
                          <a:effectLst/>
                        </a:rPr>
                        <a:t>2055</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14</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09848167"/>
                  </a:ext>
                </a:extLst>
              </a:tr>
              <a:tr h="342833">
                <a:tc>
                  <a:txBody>
                    <a:bodyPr/>
                    <a:lstStyle/>
                    <a:p>
                      <a:pPr algn="ctr" rtl="0">
                        <a:buNone/>
                      </a:pPr>
                      <a:r>
                        <a:rPr lang="en-US" sz="1600" b="1" dirty="0">
                          <a:solidFill>
                            <a:schemeClr val="accent1"/>
                          </a:solidFill>
                          <a:effectLst/>
                        </a:rPr>
                        <a:t>2056</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15</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7%</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107917"/>
                  </a:ext>
                </a:extLst>
              </a:tr>
              <a:tr h="342833">
                <a:tc>
                  <a:txBody>
                    <a:bodyPr/>
                    <a:lstStyle/>
                    <a:p>
                      <a:pPr algn="ctr" rtl="0">
                        <a:buNone/>
                      </a:pPr>
                      <a:r>
                        <a:rPr lang="en-US" sz="1600" b="1" dirty="0">
                          <a:solidFill>
                            <a:schemeClr val="accent1"/>
                          </a:solidFill>
                          <a:effectLst/>
                        </a:rPr>
                        <a:t>2057</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16</a:t>
                      </a:r>
                      <a:r>
                        <a:rPr lang="pl-PL" sz="1600" dirty="0">
                          <a:solidFill>
                            <a:schemeClr val="accent1"/>
                          </a:solidFill>
                          <a:effectLst/>
                        </a:rPr>
                        <a:t>,</a:t>
                      </a:r>
                      <a:r>
                        <a:rPr lang="en-US" sz="1600" dirty="0">
                          <a:solidFill>
                            <a:schemeClr val="accent1"/>
                          </a:solidFill>
                          <a:effectLst/>
                        </a:rPr>
                        <a:t>3</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5</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0498042"/>
                  </a:ext>
                </a:extLst>
              </a:tr>
              <a:tr h="342833">
                <a:tc>
                  <a:txBody>
                    <a:bodyPr/>
                    <a:lstStyle/>
                    <a:p>
                      <a:pPr algn="ctr" rtl="0">
                        <a:buNone/>
                      </a:pPr>
                      <a:r>
                        <a:rPr lang="en-US" sz="1600" b="1" dirty="0">
                          <a:solidFill>
                            <a:schemeClr val="accent1"/>
                          </a:solidFill>
                          <a:effectLst/>
                        </a:rPr>
                        <a:t>2058</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17</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9</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09740355"/>
                  </a:ext>
                </a:extLst>
              </a:tr>
              <a:tr h="342833">
                <a:tc>
                  <a:txBody>
                    <a:bodyPr/>
                    <a:lstStyle/>
                    <a:p>
                      <a:pPr algn="ctr" rtl="0">
                        <a:buNone/>
                      </a:pPr>
                      <a:r>
                        <a:rPr lang="en-US" sz="1600" b="1" dirty="0">
                          <a:solidFill>
                            <a:schemeClr val="accent1"/>
                          </a:solidFill>
                          <a:effectLst/>
                        </a:rPr>
                        <a:t>2059</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18</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3</a:t>
                      </a:r>
                      <a:r>
                        <a:rPr lang="pl-PL" sz="1600" dirty="0">
                          <a:solidFill>
                            <a:schemeClr val="accent1"/>
                          </a:solidFill>
                          <a:effectLst/>
                        </a:rPr>
                        <a:t>,</a:t>
                      </a:r>
                      <a:r>
                        <a:rPr lang="en-US" sz="1600" dirty="0">
                          <a:solidFill>
                            <a:schemeClr val="accent1"/>
                          </a:solidFill>
                          <a:effectLst/>
                        </a:rPr>
                        <a:t>9%</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22349231"/>
                  </a:ext>
                </a:extLst>
              </a:tr>
              <a:tr h="342833">
                <a:tc>
                  <a:txBody>
                    <a:bodyPr/>
                    <a:lstStyle/>
                    <a:p>
                      <a:pPr algn="ctr" rtl="0">
                        <a:buNone/>
                      </a:pPr>
                      <a:r>
                        <a:rPr lang="en-US" sz="1600" b="1" dirty="0">
                          <a:solidFill>
                            <a:schemeClr val="accent1"/>
                          </a:solidFill>
                          <a:effectLst/>
                        </a:rPr>
                        <a:t>2060</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dirty="0">
                          <a:solidFill>
                            <a:schemeClr val="accent1"/>
                          </a:solidFill>
                          <a:effectLst/>
                        </a:rPr>
                        <a:t>19</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dirty="0">
                          <a:solidFill>
                            <a:schemeClr val="accent1"/>
                          </a:solidFill>
                          <a:effectLst/>
                        </a:rPr>
                        <a:t>7</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1144279144"/>
                  </a:ext>
                </a:extLst>
              </a:tr>
            </a:tbl>
          </a:graphicData>
        </a:graphic>
      </p:graphicFrame>
      <p:sp>
        <p:nvSpPr>
          <p:cNvPr id="3" name="TextBox 2">
            <a:extLst>
              <a:ext uri="{FF2B5EF4-FFF2-40B4-BE49-F238E27FC236}">
                <a16:creationId xmlns:a16="http://schemas.microsoft.com/office/drawing/2014/main" id="{4BB7516A-84C0-F76B-23FF-449D6F109598}"/>
              </a:ext>
            </a:extLst>
          </p:cNvPr>
          <p:cNvSpPr txBox="1"/>
          <p:nvPr/>
        </p:nvSpPr>
        <p:spPr>
          <a:xfrm>
            <a:off x="9494520" y="113525"/>
            <a:ext cx="25683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*commas for EU version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301490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994E5CD-C7E9-8719-21AB-D862579B97C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B5D32BA-CE2A-27DF-89DF-79FD3C9A1D6D}"/>
              </a:ext>
            </a:extLst>
          </p:cNvPr>
          <p:cNvGrpSpPr/>
          <p:nvPr/>
        </p:nvGrpSpPr>
        <p:grpSpPr>
          <a:xfrm>
            <a:off x="4768919" y="412795"/>
            <a:ext cx="3267034" cy="461665"/>
            <a:chOff x="4792068" y="597990"/>
            <a:chExt cx="3267034" cy="461665"/>
          </a:xfrm>
        </p:grpSpPr>
        <p:sp>
          <p:nvSpPr>
            <p:cNvPr id="14" name="TextBox 13">
              <a:extLst>
                <a:ext uri="{FF2B5EF4-FFF2-40B4-BE49-F238E27FC236}">
                  <a16:creationId xmlns:a16="http://schemas.microsoft.com/office/drawing/2014/main" id="{7B608AF4-1EE9-A600-E9AE-D55226695CA2}"/>
                </a:ext>
              </a:extLst>
            </p:cNvPr>
            <p:cNvSpPr txBox="1"/>
            <p:nvPr/>
          </p:nvSpPr>
          <p:spPr>
            <a:xfrm>
              <a:off x="4942543" y="597990"/>
              <a:ext cx="311655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1E64"/>
                  </a:solidFill>
                  <a:effectLst/>
                  <a:uLnTx/>
                  <a:uFillTx/>
                  <a:latin typeface="Yaldevi SemiBold"/>
                  <a:ea typeface="+mn-ea"/>
                  <a:cs typeface="+mn-cs"/>
                </a:rPr>
                <a:t>NeoTravel Horizons</a:t>
              </a:r>
            </a:p>
          </p:txBody>
        </p:sp>
        <p:pic>
          <p:nvPicPr>
            <p:cNvPr id="16" name="Graphic 15">
              <a:extLst>
                <a:ext uri="{FF2B5EF4-FFF2-40B4-BE49-F238E27FC236}">
                  <a16:creationId xmlns:a16="http://schemas.microsoft.com/office/drawing/2014/main" id="{CFA58DCB-DCD2-AEFA-AAF2-4482539F1C3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2068" y="668052"/>
              <a:ext cx="299669" cy="299669"/>
            </a:xfrm>
            <a:prstGeom prst="rect">
              <a:avLst/>
            </a:prstGeom>
          </p:spPr>
        </p:pic>
      </p:grpSp>
      <p:sp>
        <p:nvSpPr>
          <p:cNvPr id="15" name="TextBox 14">
            <a:extLst>
              <a:ext uri="{FF2B5EF4-FFF2-40B4-BE49-F238E27FC236}">
                <a16:creationId xmlns:a16="http://schemas.microsoft.com/office/drawing/2014/main" id="{3005FA5B-845A-8B64-94FB-08C6D0822D2C}"/>
              </a:ext>
            </a:extLst>
          </p:cNvPr>
          <p:cNvSpPr txBox="1"/>
          <p:nvPr/>
        </p:nvSpPr>
        <p:spPr>
          <a:xfrm>
            <a:off x="3197507" y="1025545"/>
            <a:ext cx="609407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1E64"/>
                </a:solidFill>
                <a:effectLst/>
                <a:uLnTx/>
                <a:uFillTx/>
                <a:latin typeface="Yaldevi"/>
                <a:ea typeface="+mn-ea"/>
                <a:cs typeface="+mn-cs"/>
              </a:rPr>
              <a:t>Case Study: </a:t>
            </a:r>
            <a:r>
              <a:rPr kumimoji="0" lang="en-US" sz="1800" b="0" i="0" u="none" strike="noStrike" kern="1200" cap="none" spc="0" normalizeH="0" baseline="0" noProof="0" dirty="0">
                <a:ln>
                  <a:noFill/>
                </a:ln>
                <a:solidFill>
                  <a:srgbClr val="001E64"/>
                </a:solidFill>
                <a:effectLst/>
                <a:uLnTx/>
                <a:uFillTx/>
                <a:latin typeface="Yaldevi"/>
                <a:ea typeface="+mn-ea"/>
                <a:cs typeface="+mn-cs"/>
              </a:rPr>
              <a:t>Switzerland Tourism Data (2050–2060)</a:t>
            </a:r>
          </a:p>
        </p:txBody>
      </p:sp>
      <p:graphicFrame>
        <p:nvGraphicFramePr>
          <p:cNvPr id="17" name="Table 16">
            <a:extLst>
              <a:ext uri="{FF2B5EF4-FFF2-40B4-BE49-F238E27FC236}">
                <a16:creationId xmlns:a16="http://schemas.microsoft.com/office/drawing/2014/main" id="{BA545BAC-0BFD-BD36-03A9-A1C2BA8B43CC}"/>
              </a:ext>
            </a:extLst>
          </p:cNvPr>
          <p:cNvGraphicFramePr>
            <a:graphicFrameLocks noGrp="1"/>
          </p:cNvGraphicFramePr>
          <p:nvPr/>
        </p:nvGraphicFramePr>
        <p:xfrm>
          <a:off x="1546874" y="1783418"/>
          <a:ext cx="9098252" cy="4435752"/>
        </p:xfrm>
        <a:graphic>
          <a:graphicData uri="http://schemas.openxmlformats.org/drawingml/2006/table">
            <a:tbl>
              <a:tblPr>
                <a:tableStyleId>{8EC20E35-A176-4012-BC5E-935CFFF8708E}</a:tableStyleId>
              </a:tblPr>
              <a:tblGrid>
                <a:gridCol w="2274563">
                  <a:extLst>
                    <a:ext uri="{9D8B030D-6E8A-4147-A177-3AD203B41FA5}">
                      <a16:colId xmlns:a16="http://schemas.microsoft.com/office/drawing/2014/main" val="2678153913"/>
                    </a:ext>
                  </a:extLst>
                </a:gridCol>
                <a:gridCol w="2274563">
                  <a:extLst>
                    <a:ext uri="{9D8B030D-6E8A-4147-A177-3AD203B41FA5}">
                      <a16:colId xmlns:a16="http://schemas.microsoft.com/office/drawing/2014/main" val="3340117457"/>
                    </a:ext>
                  </a:extLst>
                </a:gridCol>
                <a:gridCol w="2274563">
                  <a:extLst>
                    <a:ext uri="{9D8B030D-6E8A-4147-A177-3AD203B41FA5}">
                      <a16:colId xmlns:a16="http://schemas.microsoft.com/office/drawing/2014/main" val="3266223340"/>
                    </a:ext>
                  </a:extLst>
                </a:gridCol>
                <a:gridCol w="2274563">
                  <a:extLst>
                    <a:ext uri="{9D8B030D-6E8A-4147-A177-3AD203B41FA5}">
                      <a16:colId xmlns:a16="http://schemas.microsoft.com/office/drawing/2014/main" val="4128925860"/>
                    </a:ext>
                  </a:extLst>
                </a:gridCol>
              </a:tblGrid>
              <a:tr h="300751">
                <a:tc>
                  <a:txBody>
                    <a:bodyPr/>
                    <a:lstStyle/>
                    <a:p>
                      <a:pPr algn="ctr" rtl="0">
                        <a:buNone/>
                      </a:pPr>
                      <a:r>
                        <a:rPr lang="en-US" sz="1600" b="1" dirty="0">
                          <a:solidFill>
                            <a:schemeClr val="accent1"/>
                          </a:solidFill>
                          <a:effectLst/>
                        </a:rPr>
                        <a:t>Year</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Total Visitors [in millions]</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 Change YOY</a:t>
                      </a:r>
                      <a:r>
                        <a:rPr lang="pl-PL" sz="1600" b="1" dirty="0">
                          <a:solidFill>
                            <a:schemeClr val="accent1"/>
                          </a:solidFill>
                          <a:effectLst/>
                        </a:rPr>
                        <a:t> </a:t>
                      </a:r>
                      <a:r>
                        <a:rPr lang="en-US" sz="1600" b="1" dirty="0">
                          <a:solidFill>
                            <a:schemeClr val="accent1"/>
                          </a:solidFill>
                          <a:effectLst/>
                        </a:rPr>
                        <a:t>[percentage]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Data Status</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29937983"/>
                  </a:ext>
                </a:extLst>
              </a:tr>
              <a:tr h="342833">
                <a:tc>
                  <a:txBody>
                    <a:bodyPr/>
                    <a:lstStyle/>
                    <a:p>
                      <a:pPr algn="ctr" rtl="0">
                        <a:buNone/>
                      </a:pPr>
                      <a:r>
                        <a:rPr lang="en-US" sz="1600" b="1" dirty="0">
                          <a:solidFill>
                            <a:schemeClr val="accent1"/>
                          </a:solidFill>
                          <a:effectLst/>
                        </a:rPr>
                        <a:t>2050</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12</a:t>
                      </a:r>
                      <a:r>
                        <a:rPr lang="pl-PL" sz="1600" dirty="0">
                          <a:solidFill>
                            <a:schemeClr val="accent1"/>
                          </a:solidFill>
                          <a:effectLst/>
                        </a:rPr>
                        <a:t>.</a:t>
                      </a:r>
                      <a:r>
                        <a:rPr lang="en-US" sz="1600" dirty="0">
                          <a:solidFill>
                            <a:schemeClr val="accent1"/>
                          </a:solidFill>
                          <a:effectLst/>
                        </a:rPr>
                        <a:t>4</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4166403"/>
                  </a:ext>
                </a:extLst>
              </a:tr>
              <a:tr h="342833">
                <a:tc>
                  <a:txBody>
                    <a:bodyPr/>
                    <a:lstStyle/>
                    <a:p>
                      <a:pPr algn="ctr" rtl="0">
                        <a:buNone/>
                      </a:pPr>
                      <a:r>
                        <a:rPr lang="en-US" sz="1600" b="1" dirty="0">
                          <a:solidFill>
                            <a:schemeClr val="accent1"/>
                          </a:solidFill>
                          <a:effectLst/>
                        </a:rPr>
                        <a:t>2051</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12</a:t>
                      </a:r>
                      <a:r>
                        <a:rPr lang="pl-PL" sz="1600" dirty="0">
                          <a:solidFill>
                            <a:schemeClr val="accent1"/>
                          </a:solidFill>
                          <a:effectLst/>
                        </a:rPr>
                        <a:t>.</a:t>
                      </a:r>
                      <a:r>
                        <a:rPr lang="en-US" sz="1600" dirty="0">
                          <a:solidFill>
                            <a:schemeClr val="accent1"/>
                          </a:solidFill>
                          <a:effectLst/>
                        </a:rPr>
                        <a:t>9</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92088091"/>
                  </a:ext>
                </a:extLst>
              </a:tr>
              <a:tr h="342833">
                <a:tc>
                  <a:txBody>
                    <a:bodyPr/>
                    <a:lstStyle/>
                    <a:p>
                      <a:pPr algn="ctr" rtl="0">
                        <a:buNone/>
                      </a:pPr>
                      <a:r>
                        <a:rPr lang="en-US" sz="1600" b="1" dirty="0">
                          <a:solidFill>
                            <a:schemeClr val="accent1"/>
                          </a:solidFill>
                          <a:effectLst/>
                        </a:rPr>
                        <a:t>2052</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13</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7%</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3106522"/>
                  </a:ext>
                </a:extLst>
              </a:tr>
              <a:tr h="342833">
                <a:tc>
                  <a:txBody>
                    <a:bodyPr/>
                    <a:lstStyle/>
                    <a:p>
                      <a:pPr algn="ctr" rtl="0">
                        <a:buNone/>
                      </a:pPr>
                      <a:r>
                        <a:rPr lang="en-US" sz="1600" b="1" dirty="0">
                          <a:solidFill>
                            <a:schemeClr val="accent1"/>
                          </a:solidFill>
                          <a:effectLst/>
                        </a:rPr>
                        <a:t>2053</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13</a:t>
                      </a:r>
                      <a:r>
                        <a:rPr lang="pl-PL" sz="1600" dirty="0">
                          <a:solidFill>
                            <a:schemeClr val="accent1"/>
                          </a:solidFill>
                          <a:effectLst/>
                        </a:rPr>
                        <a:t>.</a:t>
                      </a:r>
                      <a:r>
                        <a:rPr lang="en-US" sz="1600" dirty="0">
                          <a:solidFill>
                            <a:schemeClr val="accent1"/>
                          </a:solidFill>
                          <a:effectLst/>
                        </a:rPr>
                        <a:t>1</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-3</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45572715"/>
                  </a:ext>
                </a:extLst>
              </a:tr>
              <a:tr h="342833">
                <a:tc>
                  <a:txBody>
                    <a:bodyPr/>
                    <a:lstStyle/>
                    <a:p>
                      <a:pPr algn="ctr" rtl="0">
                        <a:buNone/>
                      </a:pPr>
                      <a:r>
                        <a:rPr lang="en-US" sz="1600" b="1" dirty="0">
                          <a:solidFill>
                            <a:schemeClr val="accent1"/>
                          </a:solidFill>
                          <a:effectLst/>
                        </a:rPr>
                        <a:t>2054</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14</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8</a:t>
                      </a:r>
                      <a:r>
                        <a:rPr lang="pl-PL" sz="1600" dirty="0">
                          <a:solidFill>
                            <a:schemeClr val="accent1"/>
                          </a:solidFill>
                          <a:effectLst/>
                        </a:rPr>
                        <a:t>.</a:t>
                      </a:r>
                      <a:r>
                        <a:rPr lang="en-US" sz="1600" dirty="0">
                          <a:solidFill>
                            <a:schemeClr val="accent1"/>
                          </a:solidFill>
                          <a:effectLst/>
                        </a:rPr>
                        <a:t>4%</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862864"/>
                  </a:ext>
                </a:extLst>
              </a:tr>
              <a:tr h="342833">
                <a:tc>
                  <a:txBody>
                    <a:bodyPr/>
                    <a:lstStyle/>
                    <a:p>
                      <a:pPr algn="ctr" rtl="0">
                        <a:buNone/>
                      </a:pPr>
                      <a:r>
                        <a:rPr lang="en-US" sz="1600" b="1" dirty="0">
                          <a:solidFill>
                            <a:schemeClr val="accent1"/>
                          </a:solidFill>
                          <a:effectLst/>
                        </a:rPr>
                        <a:t>2055</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14</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09848167"/>
                  </a:ext>
                </a:extLst>
              </a:tr>
              <a:tr h="342833">
                <a:tc>
                  <a:txBody>
                    <a:bodyPr/>
                    <a:lstStyle/>
                    <a:p>
                      <a:pPr algn="ctr" rtl="0">
                        <a:buNone/>
                      </a:pPr>
                      <a:r>
                        <a:rPr lang="en-US" sz="1600" b="1" dirty="0">
                          <a:solidFill>
                            <a:schemeClr val="accent1"/>
                          </a:solidFill>
                          <a:effectLst/>
                        </a:rPr>
                        <a:t>2056</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15</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4</a:t>
                      </a:r>
                      <a:r>
                        <a:rPr lang="pl-PL" sz="1600" dirty="0">
                          <a:solidFill>
                            <a:schemeClr val="accent1"/>
                          </a:solidFill>
                          <a:effectLst/>
                        </a:rPr>
                        <a:t>.</a:t>
                      </a:r>
                      <a:r>
                        <a:rPr lang="en-US" sz="1600" dirty="0">
                          <a:solidFill>
                            <a:schemeClr val="accent1"/>
                          </a:solidFill>
                          <a:effectLst/>
                        </a:rPr>
                        <a:t>7%</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Actual</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107917"/>
                  </a:ext>
                </a:extLst>
              </a:tr>
              <a:tr h="342833">
                <a:tc>
                  <a:txBody>
                    <a:bodyPr/>
                    <a:lstStyle/>
                    <a:p>
                      <a:pPr algn="ctr" rtl="0">
                        <a:buNone/>
                      </a:pPr>
                      <a:r>
                        <a:rPr lang="en-US" sz="1600" b="1" dirty="0">
                          <a:solidFill>
                            <a:schemeClr val="accent1"/>
                          </a:solidFill>
                          <a:effectLst/>
                        </a:rPr>
                        <a:t>2057</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16</a:t>
                      </a:r>
                      <a:r>
                        <a:rPr lang="pl-PL" sz="1600" dirty="0">
                          <a:solidFill>
                            <a:schemeClr val="accent1"/>
                          </a:solidFill>
                          <a:effectLst/>
                        </a:rPr>
                        <a:t>.</a:t>
                      </a:r>
                      <a:r>
                        <a:rPr lang="en-US" sz="1600" dirty="0">
                          <a:solidFill>
                            <a:schemeClr val="accent1"/>
                          </a:solidFill>
                          <a:effectLst/>
                        </a:rPr>
                        <a:t>3</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5</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60498042"/>
                  </a:ext>
                </a:extLst>
              </a:tr>
              <a:tr h="342833">
                <a:tc>
                  <a:txBody>
                    <a:bodyPr/>
                    <a:lstStyle/>
                    <a:p>
                      <a:pPr algn="ctr" rtl="0">
                        <a:buNone/>
                      </a:pPr>
                      <a:r>
                        <a:rPr lang="en-US" sz="1600" b="1" dirty="0">
                          <a:solidFill>
                            <a:schemeClr val="accent1"/>
                          </a:solidFill>
                          <a:effectLst/>
                        </a:rPr>
                        <a:t>2058</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17</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9</a:t>
                      </a:r>
                      <a:r>
                        <a:rPr lang="pl-PL" sz="1600" dirty="0">
                          <a:solidFill>
                            <a:schemeClr val="accent1"/>
                          </a:solidFill>
                          <a:effectLst/>
                        </a:rPr>
                        <a:t>.</a:t>
                      </a:r>
                      <a:r>
                        <a:rPr lang="en-US" sz="1600" dirty="0">
                          <a:solidFill>
                            <a:schemeClr val="accent1"/>
                          </a:solidFill>
                          <a:effectLst/>
                        </a:rPr>
                        <a:t>2%</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09740355"/>
                  </a:ext>
                </a:extLst>
              </a:tr>
              <a:tr h="342833">
                <a:tc>
                  <a:txBody>
                    <a:bodyPr/>
                    <a:lstStyle/>
                    <a:p>
                      <a:pPr algn="ctr" rtl="0">
                        <a:buNone/>
                      </a:pPr>
                      <a:r>
                        <a:rPr lang="en-US" sz="1600" b="1" dirty="0">
                          <a:solidFill>
                            <a:schemeClr val="accent1"/>
                          </a:solidFill>
                          <a:effectLst/>
                        </a:rPr>
                        <a:t>2059</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18</a:t>
                      </a:r>
                      <a:r>
                        <a:rPr lang="pl-PL" sz="1600" dirty="0">
                          <a:solidFill>
                            <a:schemeClr val="accent1"/>
                          </a:solidFill>
                          <a:effectLst/>
                        </a:rPr>
                        <a:t>.</a:t>
                      </a:r>
                      <a:r>
                        <a:rPr lang="en-US" sz="1600" dirty="0">
                          <a:solidFill>
                            <a:schemeClr val="accent1"/>
                          </a:solidFill>
                          <a:effectLst/>
                        </a:rPr>
                        <a:t>5</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dirty="0">
                          <a:solidFill>
                            <a:schemeClr val="accent1"/>
                          </a:solidFill>
                          <a:effectLst/>
                        </a:rPr>
                        <a:t>3</a:t>
                      </a:r>
                      <a:r>
                        <a:rPr lang="pl-PL" sz="1600" dirty="0">
                          <a:solidFill>
                            <a:schemeClr val="accent1"/>
                          </a:solidFill>
                          <a:effectLst/>
                        </a:rPr>
                        <a:t>.</a:t>
                      </a:r>
                      <a:r>
                        <a:rPr lang="en-US" sz="1600" dirty="0">
                          <a:solidFill>
                            <a:schemeClr val="accent1"/>
                          </a:solidFill>
                          <a:effectLst/>
                        </a:rPr>
                        <a:t>9%</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22349231"/>
                  </a:ext>
                </a:extLst>
              </a:tr>
              <a:tr h="342833">
                <a:tc>
                  <a:txBody>
                    <a:bodyPr/>
                    <a:lstStyle/>
                    <a:p>
                      <a:pPr algn="ctr" rtl="0">
                        <a:buNone/>
                      </a:pPr>
                      <a:r>
                        <a:rPr lang="en-US" sz="1600" b="1" dirty="0">
                          <a:solidFill>
                            <a:schemeClr val="accent1"/>
                          </a:solidFill>
                          <a:effectLst/>
                        </a:rPr>
                        <a:t>2060</a:t>
                      </a:r>
                      <a:endParaRPr lang="en-US" sz="1600" dirty="0">
                        <a:solidFill>
                          <a:schemeClr val="accent1"/>
                        </a:solidFill>
                        <a:effectLst/>
                        <a:latin typeface="Yaldevi" pitchFamily="2" charset="-18"/>
                      </a:endParaRPr>
                    </a:p>
                  </a:txBody>
                  <a:tcPr marL="79115" marR="79115" marT="52743" marB="5274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dirty="0">
                          <a:solidFill>
                            <a:schemeClr val="accent1"/>
                          </a:solidFill>
                          <a:effectLst/>
                        </a:rPr>
                        <a:t>19</a:t>
                      </a:r>
                      <a:r>
                        <a:rPr lang="pl-PL" sz="1600" dirty="0">
                          <a:solidFill>
                            <a:schemeClr val="accent1"/>
                          </a:solidFill>
                          <a:effectLst/>
                        </a:rPr>
                        <a:t>.</a:t>
                      </a:r>
                      <a:r>
                        <a:rPr lang="en-US" sz="1600" dirty="0">
                          <a:solidFill>
                            <a:schemeClr val="accent1"/>
                          </a:solidFill>
                          <a:effectLst/>
                        </a:rPr>
                        <a:t>8</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dirty="0">
                          <a:solidFill>
                            <a:schemeClr val="accent1"/>
                          </a:solidFill>
                          <a:effectLst/>
                        </a:rPr>
                        <a:t>7</a:t>
                      </a:r>
                      <a:r>
                        <a:rPr lang="pl-PL" sz="1600" dirty="0">
                          <a:solidFill>
                            <a:schemeClr val="accent1"/>
                          </a:solidFill>
                          <a:effectLst/>
                        </a:rPr>
                        <a:t>.</a:t>
                      </a:r>
                      <a:r>
                        <a:rPr lang="en-US" sz="1600" dirty="0">
                          <a:solidFill>
                            <a:schemeClr val="accent1"/>
                          </a:solidFill>
                          <a:effectLst/>
                        </a:rPr>
                        <a:t>0%</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rtl="0">
                        <a:buNone/>
                      </a:pPr>
                      <a:r>
                        <a:rPr lang="en-US" sz="1600" b="1" dirty="0">
                          <a:solidFill>
                            <a:schemeClr val="accent1"/>
                          </a:solidFill>
                          <a:effectLst/>
                        </a:rPr>
                        <a:t>Estimate</a:t>
                      </a:r>
                      <a:endParaRPr lang="en-US" sz="1600" dirty="0">
                        <a:solidFill>
                          <a:schemeClr val="accent1"/>
                        </a:solidFill>
                        <a:effectLst/>
                        <a:latin typeface="Yaldevi" pitchFamily="2" charset="-18"/>
                      </a:endParaRPr>
                    </a:p>
                  </a:txBody>
                  <a:tcPr marL="79115" marR="79115" marT="52743" marB="5274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1144279144"/>
                  </a:ext>
                </a:extLst>
              </a:tr>
            </a:tbl>
          </a:graphicData>
        </a:graphic>
      </p:graphicFrame>
      <p:sp>
        <p:nvSpPr>
          <p:cNvPr id="3" name="TextBox 2">
            <a:extLst>
              <a:ext uri="{FF2B5EF4-FFF2-40B4-BE49-F238E27FC236}">
                <a16:creationId xmlns:a16="http://schemas.microsoft.com/office/drawing/2014/main" id="{E0CD4C8F-A042-5562-E73D-708832F86D04}"/>
              </a:ext>
            </a:extLst>
          </p:cNvPr>
          <p:cNvSpPr txBox="1"/>
          <p:nvPr/>
        </p:nvSpPr>
        <p:spPr>
          <a:xfrm>
            <a:off x="9893537" y="113525"/>
            <a:ext cx="21595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*dots for US version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1224244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01AD07E-4BD9-945B-E7F8-D384F72C58B1}"/>
              </a:ext>
            </a:extLst>
          </p:cNvPr>
          <p:cNvSpPr/>
          <p:nvPr/>
        </p:nvSpPr>
        <p:spPr>
          <a:xfrm>
            <a:off x="1249679" y="5232372"/>
            <a:ext cx="1041577" cy="646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5" name="Rectangle: Rounded Corners 4">
            <a:extLst>
              <a:ext uri="{FF2B5EF4-FFF2-40B4-BE49-F238E27FC236}">
                <a16:creationId xmlns:a16="http://schemas.microsoft.com/office/drawing/2014/main" id="{65BCC704-68BF-1AB7-7CFD-BFF79195CE81}"/>
              </a:ext>
            </a:extLst>
          </p:cNvPr>
          <p:cNvSpPr/>
          <p:nvPr/>
        </p:nvSpPr>
        <p:spPr>
          <a:xfrm>
            <a:off x="2414351" y="5232372"/>
            <a:ext cx="1041577" cy="64633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6" name="Rectangle: Rounded Corners 5">
            <a:extLst>
              <a:ext uri="{FF2B5EF4-FFF2-40B4-BE49-F238E27FC236}">
                <a16:creationId xmlns:a16="http://schemas.microsoft.com/office/drawing/2014/main" id="{A07004CD-31A8-ECF5-425A-A4A4FF1914A9}"/>
              </a:ext>
            </a:extLst>
          </p:cNvPr>
          <p:cNvSpPr/>
          <p:nvPr/>
        </p:nvSpPr>
        <p:spPr>
          <a:xfrm>
            <a:off x="3579023" y="5232372"/>
            <a:ext cx="1041577" cy="646331"/>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7" name="Rectangle: Rounded Corners 6">
            <a:extLst>
              <a:ext uri="{FF2B5EF4-FFF2-40B4-BE49-F238E27FC236}">
                <a16:creationId xmlns:a16="http://schemas.microsoft.com/office/drawing/2014/main" id="{03F4BD39-E9C0-AFC8-8F8E-8200010D4094}"/>
              </a:ext>
            </a:extLst>
          </p:cNvPr>
          <p:cNvSpPr/>
          <p:nvPr/>
        </p:nvSpPr>
        <p:spPr>
          <a:xfrm>
            <a:off x="4743695" y="5232372"/>
            <a:ext cx="1041577" cy="646331"/>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8" name="Rectangle: Rounded Corners 7">
            <a:extLst>
              <a:ext uri="{FF2B5EF4-FFF2-40B4-BE49-F238E27FC236}">
                <a16:creationId xmlns:a16="http://schemas.microsoft.com/office/drawing/2014/main" id="{E31902B8-EFFF-7938-B34A-D866503A6C09}"/>
              </a:ext>
            </a:extLst>
          </p:cNvPr>
          <p:cNvSpPr/>
          <p:nvPr/>
        </p:nvSpPr>
        <p:spPr>
          <a:xfrm>
            <a:off x="5908367" y="5232372"/>
            <a:ext cx="1041577" cy="646331"/>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9" name="Rectangle: Rounded Corners 8">
            <a:extLst>
              <a:ext uri="{FF2B5EF4-FFF2-40B4-BE49-F238E27FC236}">
                <a16:creationId xmlns:a16="http://schemas.microsoft.com/office/drawing/2014/main" id="{7A69C3B9-9F6D-39EC-5E18-90328C17804F}"/>
              </a:ext>
            </a:extLst>
          </p:cNvPr>
          <p:cNvSpPr/>
          <p:nvPr/>
        </p:nvSpPr>
        <p:spPr>
          <a:xfrm>
            <a:off x="7073041" y="5232372"/>
            <a:ext cx="1041577" cy="646331"/>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10" name="TextBox 9">
            <a:extLst>
              <a:ext uri="{FF2B5EF4-FFF2-40B4-BE49-F238E27FC236}">
                <a16:creationId xmlns:a16="http://schemas.microsoft.com/office/drawing/2014/main" id="{55A816E2-9786-E8CC-C724-8FCB9E1177B8}"/>
              </a:ext>
            </a:extLst>
          </p:cNvPr>
          <p:cNvSpPr txBox="1"/>
          <p:nvPr/>
        </p:nvSpPr>
        <p:spPr>
          <a:xfrm>
            <a:off x="1181121" y="4495220"/>
            <a:ext cx="311655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Color scheme:</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sp>
        <p:nvSpPr>
          <p:cNvPr id="11" name="TextBox 10">
            <a:extLst>
              <a:ext uri="{FF2B5EF4-FFF2-40B4-BE49-F238E27FC236}">
                <a16:creationId xmlns:a16="http://schemas.microsoft.com/office/drawing/2014/main" id="{3F88187E-8963-372E-29EA-7F7A85E6D712}"/>
              </a:ext>
            </a:extLst>
          </p:cNvPr>
          <p:cNvSpPr txBox="1"/>
          <p:nvPr/>
        </p:nvSpPr>
        <p:spPr>
          <a:xfrm>
            <a:off x="1249680" y="2011500"/>
            <a:ext cx="248818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Font usage:</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sp>
        <p:nvSpPr>
          <p:cNvPr id="13" name="TextBox 12">
            <a:extLst>
              <a:ext uri="{FF2B5EF4-FFF2-40B4-BE49-F238E27FC236}">
                <a16:creationId xmlns:a16="http://schemas.microsoft.com/office/drawing/2014/main" id="{EC089ECC-9398-C2FE-BCD3-9203D1E79721}"/>
              </a:ext>
            </a:extLst>
          </p:cNvPr>
          <p:cNvSpPr txBox="1"/>
          <p:nvPr/>
        </p:nvSpPr>
        <p:spPr>
          <a:xfrm>
            <a:off x="1249680" y="373578"/>
            <a:ext cx="126348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Logo:</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14" name="Group 13">
            <a:extLst>
              <a:ext uri="{FF2B5EF4-FFF2-40B4-BE49-F238E27FC236}">
                <a16:creationId xmlns:a16="http://schemas.microsoft.com/office/drawing/2014/main" id="{4AF0B5B2-E713-AC6C-2545-0286DFC0D5FC}"/>
              </a:ext>
            </a:extLst>
          </p:cNvPr>
          <p:cNvGrpSpPr/>
          <p:nvPr/>
        </p:nvGrpSpPr>
        <p:grpSpPr>
          <a:xfrm>
            <a:off x="1280812" y="1089702"/>
            <a:ext cx="3016868" cy="299669"/>
            <a:chOff x="7389752" y="1384446"/>
            <a:chExt cx="3016868" cy="299669"/>
          </a:xfrm>
        </p:grpSpPr>
        <p:sp>
          <p:nvSpPr>
            <p:cNvPr id="2" name="TextBox 1">
              <a:extLst>
                <a:ext uri="{FF2B5EF4-FFF2-40B4-BE49-F238E27FC236}">
                  <a16:creationId xmlns:a16="http://schemas.microsoft.com/office/drawing/2014/main" id="{C8C567CC-C180-4BC4-2BB0-A1A0C573F38B}"/>
                </a:ext>
              </a:extLst>
            </p:cNvPr>
            <p:cNvSpPr txBox="1"/>
            <p:nvPr/>
          </p:nvSpPr>
          <p:spPr>
            <a:xfrm>
              <a:off x="7798522" y="1403919"/>
              <a:ext cx="2608098" cy="255727"/>
            </a:xfrm>
            <a:custGeom>
              <a:avLst/>
              <a:gdLst/>
              <a:ahLst/>
              <a:cxnLst/>
              <a:rect l="l" t="t" r="r" b="b"/>
              <a:pathLst>
                <a:path w="2608098" h="255727">
                  <a:moveTo>
                    <a:pt x="858622" y="171907"/>
                  </a:moveTo>
                  <a:cubicBezTo>
                    <a:pt x="849477" y="171907"/>
                    <a:pt x="842010" y="173126"/>
                    <a:pt x="836219" y="175565"/>
                  </a:cubicBezTo>
                  <a:cubicBezTo>
                    <a:pt x="830427" y="178003"/>
                    <a:pt x="826211" y="181458"/>
                    <a:pt x="823569" y="185928"/>
                  </a:cubicBezTo>
                  <a:cubicBezTo>
                    <a:pt x="820928" y="190398"/>
                    <a:pt x="819607" y="195885"/>
                    <a:pt x="819607" y="202387"/>
                  </a:cubicBezTo>
                  <a:cubicBezTo>
                    <a:pt x="819607" y="210109"/>
                    <a:pt x="821741" y="216103"/>
                    <a:pt x="826008" y="220370"/>
                  </a:cubicBezTo>
                  <a:cubicBezTo>
                    <a:pt x="830275" y="224638"/>
                    <a:pt x="835965" y="226771"/>
                    <a:pt x="843077" y="226771"/>
                  </a:cubicBezTo>
                  <a:cubicBezTo>
                    <a:pt x="848970" y="226771"/>
                    <a:pt x="854151" y="225450"/>
                    <a:pt x="858622" y="222809"/>
                  </a:cubicBezTo>
                  <a:cubicBezTo>
                    <a:pt x="863092" y="220167"/>
                    <a:pt x="866648" y="215951"/>
                    <a:pt x="869290" y="210160"/>
                  </a:cubicBezTo>
                  <a:cubicBezTo>
                    <a:pt x="871931" y="204368"/>
                    <a:pt x="873252" y="196799"/>
                    <a:pt x="873252" y="187452"/>
                  </a:cubicBezTo>
                  <a:lnTo>
                    <a:pt x="873252" y="172333"/>
                  </a:lnTo>
                  <a:close/>
                  <a:moveTo>
                    <a:pt x="2216963" y="103022"/>
                  </a:moveTo>
                  <a:cubicBezTo>
                    <a:pt x="2209038" y="103022"/>
                    <a:pt x="2202078" y="105461"/>
                    <a:pt x="2196084" y="110338"/>
                  </a:cubicBezTo>
                  <a:cubicBezTo>
                    <a:pt x="2190090" y="115214"/>
                    <a:pt x="2185518" y="122276"/>
                    <a:pt x="2182368" y="131521"/>
                  </a:cubicBezTo>
                  <a:cubicBezTo>
                    <a:pt x="2179218" y="140767"/>
                    <a:pt x="2177644" y="151892"/>
                    <a:pt x="2177644" y="164897"/>
                  </a:cubicBezTo>
                  <a:cubicBezTo>
                    <a:pt x="2177644" y="177902"/>
                    <a:pt x="2179168" y="188976"/>
                    <a:pt x="2182216" y="198120"/>
                  </a:cubicBezTo>
                  <a:cubicBezTo>
                    <a:pt x="2185264" y="207264"/>
                    <a:pt x="2189734" y="214274"/>
                    <a:pt x="2195627" y="219151"/>
                  </a:cubicBezTo>
                  <a:cubicBezTo>
                    <a:pt x="2201520" y="224028"/>
                    <a:pt x="2208428" y="226466"/>
                    <a:pt x="2216353" y="226466"/>
                  </a:cubicBezTo>
                  <a:cubicBezTo>
                    <a:pt x="2224684" y="226466"/>
                    <a:pt x="2231796" y="224079"/>
                    <a:pt x="2237689" y="219304"/>
                  </a:cubicBezTo>
                  <a:cubicBezTo>
                    <a:pt x="2243582" y="214528"/>
                    <a:pt x="2248052" y="207518"/>
                    <a:pt x="2251100" y="198272"/>
                  </a:cubicBezTo>
                  <a:cubicBezTo>
                    <a:pt x="2254148" y="189027"/>
                    <a:pt x="2255672" y="178105"/>
                    <a:pt x="2255672" y="165506"/>
                  </a:cubicBezTo>
                  <a:cubicBezTo>
                    <a:pt x="2255672" y="152298"/>
                    <a:pt x="2254148" y="141021"/>
                    <a:pt x="2251100" y="131674"/>
                  </a:cubicBezTo>
                  <a:cubicBezTo>
                    <a:pt x="2248052" y="122326"/>
                    <a:pt x="2243633" y="115214"/>
                    <a:pt x="2237842" y="110338"/>
                  </a:cubicBezTo>
                  <a:cubicBezTo>
                    <a:pt x="2232050" y="105461"/>
                    <a:pt x="2225091" y="103022"/>
                    <a:pt x="2216963" y="103022"/>
                  </a:cubicBezTo>
                  <a:close/>
                  <a:moveTo>
                    <a:pt x="1702613" y="103022"/>
                  </a:moveTo>
                  <a:cubicBezTo>
                    <a:pt x="1694688" y="103022"/>
                    <a:pt x="1687728" y="105461"/>
                    <a:pt x="1681734" y="110338"/>
                  </a:cubicBezTo>
                  <a:cubicBezTo>
                    <a:pt x="1675739" y="115214"/>
                    <a:pt x="1671167" y="122276"/>
                    <a:pt x="1668018" y="131521"/>
                  </a:cubicBezTo>
                  <a:cubicBezTo>
                    <a:pt x="1664868" y="140767"/>
                    <a:pt x="1663294" y="151892"/>
                    <a:pt x="1663294" y="164897"/>
                  </a:cubicBezTo>
                  <a:cubicBezTo>
                    <a:pt x="1663294" y="177902"/>
                    <a:pt x="1664817" y="188976"/>
                    <a:pt x="1667866" y="198120"/>
                  </a:cubicBezTo>
                  <a:cubicBezTo>
                    <a:pt x="1670913" y="207264"/>
                    <a:pt x="1675384" y="214274"/>
                    <a:pt x="1681277" y="219151"/>
                  </a:cubicBezTo>
                  <a:cubicBezTo>
                    <a:pt x="1687169" y="224028"/>
                    <a:pt x="1694078" y="226466"/>
                    <a:pt x="1702003" y="226466"/>
                  </a:cubicBezTo>
                  <a:cubicBezTo>
                    <a:pt x="1710334" y="226466"/>
                    <a:pt x="1717446" y="224079"/>
                    <a:pt x="1723339" y="219304"/>
                  </a:cubicBezTo>
                  <a:cubicBezTo>
                    <a:pt x="1729232" y="214528"/>
                    <a:pt x="1733702" y="207518"/>
                    <a:pt x="1736750" y="198272"/>
                  </a:cubicBezTo>
                  <a:cubicBezTo>
                    <a:pt x="1739798" y="189027"/>
                    <a:pt x="1741322" y="178105"/>
                    <a:pt x="1741322" y="165506"/>
                  </a:cubicBezTo>
                  <a:cubicBezTo>
                    <a:pt x="1741322" y="152298"/>
                    <a:pt x="1739798" y="141021"/>
                    <a:pt x="1736750" y="131674"/>
                  </a:cubicBezTo>
                  <a:cubicBezTo>
                    <a:pt x="1733702" y="122326"/>
                    <a:pt x="1729283" y="115214"/>
                    <a:pt x="1723492" y="110338"/>
                  </a:cubicBezTo>
                  <a:cubicBezTo>
                    <a:pt x="1717700" y="105461"/>
                    <a:pt x="1710741" y="103022"/>
                    <a:pt x="1702613" y="103022"/>
                  </a:cubicBezTo>
                  <a:close/>
                  <a:moveTo>
                    <a:pt x="435788" y="103022"/>
                  </a:moveTo>
                  <a:cubicBezTo>
                    <a:pt x="427863" y="103022"/>
                    <a:pt x="420903" y="105461"/>
                    <a:pt x="414909" y="110338"/>
                  </a:cubicBezTo>
                  <a:cubicBezTo>
                    <a:pt x="408915" y="115214"/>
                    <a:pt x="404343" y="122276"/>
                    <a:pt x="401193" y="131521"/>
                  </a:cubicBezTo>
                  <a:cubicBezTo>
                    <a:pt x="398043" y="140767"/>
                    <a:pt x="396469" y="151892"/>
                    <a:pt x="396469" y="164897"/>
                  </a:cubicBezTo>
                  <a:cubicBezTo>
                    <a:pt x="396469" y="177902"/>
                    <a:pt x="397993" y="188976"/>
                    <a:pt x="401041" y="198120"/>
                  </a:cubicBezTo>
                  <a:cubicBezTo>
                    <a:pt x="404089" y="207264"/>
                    <a:pt x="408559" y="214274"/>
                    <a:pt x="414452" y="219151"/>
                  </a:cubicBezTo>
                  <a:cubicBezTo>
                    <a:pt x="420345" y="224028"/>
                    <a:pt x="427253" y="226466"/>
                    <a:pt x="435178" y="226466"/>
                  </a:cubicBezTo>
                  <a:cubicBezTo>
                    <a:pt x="443509" y="226466"/>
                    <a:pt x="450621" y="224079"/>
                    <a:pt x="456514" y="219304"/>
                  </a:cubicBezTo>
                  <a:cubicBezTo>
                    <a:pt x="462407" y="214528"/>
                    <a:pt x="466877" y="207518"/>
                    <a:pt x="469926" y="198272"/>
                  </a:cubicBezTo>
                  <a:cubicBezTo>
                    <a:pt x="472973" y="189027"/>
                    <a:pt x="474497" y="178105"/>
                    <a:pt x="474497" y="165506"/>
                  </a:cubicBezTo>
                  <a:cubicBezTo>
                    <a:pt x="474497" y="152298"/>
                    <a:pt x="472973" y="141021"/>
                    <a:pt x="469926" y="131674"/>
                  </a:cubicBezTo>
                  <a:cubicBezTo>
                    <a:pt x="466877" y="122326"/>
                    <a:pt x="462458" y="115214"/>
                    <a:pt x="456667" y="110338"/>
                  </a:cubicBezTo>
                  <a:cubicBezTo>
                    <a:pt x="450875" y="105461"/>
                    <a:pt x="443916" y="103022"/>
                    <a:pt x="435788" y="103022"/>
                  </a:cubicBezTo>
                  <a:close/>
                  <a:moveTo>
                    <a:pt x="1167079" y="101803"/>
                  </a:moveTo>
                  <a:cubicBezTo>
                    <a:pt x="1156106" y="101803"/>
                    <a:pt x="1147216" y="107188"/>
                    <a:pt x="1140409" y="117958"/>
                  </a:cubicBezTo>
                  <a:cubicBezTo>
                    <a:pt x="1137006" y="123342"/>
                    <a:pt x="1134453" y="129921"/>
                    <a:pt x="1132751" y="137693"/>
                  </a:cubicBezTo>
                  <a:lnTo>
                    <a:pt x="1131327" y="147032"/>
                  </a:lnTo>
                  <a:lnTo>
                    <a:pt x="1198778" y="146304"/>
                  </a:lnTo>
                  <a:cubicBezTo>
                    <a:pt x="1198778" y="139802"/>
                    <a:pt x="1198118" y="133858"/>
                    <a:pt x="1196797" y="128473"/>
                  </a:cubicBezTo>
                  <a:cubicBezTo>
                    <a:pt x="1195476" y="123088"/>
                    <a:pt x="1193546" y="118415"/>
                    <a:pt x="1191006" y="114452"/>
                  </a:cubicBezTo>
                  <a:cubicBezTo>
                    <a:pt x="1188466" y="110490"/>
                    <a:pt x="1185215" y="107391"/>
                    <a:pt x="1181252" y="105156"/>
                  </a:cubicBezTo>
                  <a:cubicBezTo>
                    <a:pt x="1177290" y="102921"/>
                    <a:pt x="1172566" y="101803"/>
                    <a:pt x="1167079" y="101803"/>
                  </a:cubicBezTo>
                  <a:close/>
                  <a:moveTo>
                    <a:pt x="271729" y="101803"/>
                  </a:moveTo>
                  <a:cubicBezTo>
                    <a:pt x="260756" y="101803"/>
                    <a:pt x="251867" y="107188"/>
                    <a:pt x="245059" y="117958"/>
                  </a:cubicBezTo>
                  <a:cubicBezTo>
                    <a:pt x="241656" y="123342"/>
                    <a:pt x="239103" y="129921"/>
                    <a:pt x="237401" y="137693"/>
                  </a:cubicBezTo>
                  <a:lnTo>
                    <a:pt x="235977" y="147032"/>
                  </a:lnTo>
                  <a:lnTo>
                    <a:pt x="303428" y="146304"/>
                  </a:lnTo>
                  <a:cubicBezTo>
                    <a:pt x="303428" y="139802"/>
                    <a:pt x="302768" y="133858"/>
                    <a:pt x="301447" y="128473"/>
                  </a:cubicBezTo>
                  <a:cubicBezTo>
                    <a:pt x="300126" y="123088"/>
                    <a:pt x="298196" y="118415"/>
                    <a:pt x="295656" y="114452"/>
                  </a:cubicBezTo>
                  <a:cubicBezTo>
                    <a:pt x="293116" y="110490"/>
                    <a:pt x="289865" y="107391"/>
                    <a:pt x="285902" y="105156"/>
                  </a:cubicBezTo>
                  <a:cubicBezTo>
                    <a:pt x="281940" y="102921"/>
                    <a:pt x="277216" y="101803"/>
                    <a:pt x="271729" y="101803"/>
                  </a:cubicBezTo>
                  <a:close/>
                  <a:moveTo>
                    <a:pt x="1999716" y="78029"/>
                  </a:moveTo>
                  <a:lnTo>
                    <a:pt x="2118284" y="78029"/>
                  </a:lnTo>
                  <a:lnTo>
                    <a:pt x="2118284" y="97231"/>
                  </a:lnTo>
                  <a:lnTo>
                    <a:pt x="2039340" y="224942"/>
                  </a:lnTo>
                  <a:lnTo>
                    <a:pt x="2119503" y="225247"/>
                  </a:lnTo>
                  <a:lnTo>
                    <a:pt x="2119503" y="251460"/>
                  </a:lnTo>
                  <a:lnTo>
                    <a:pt x="1997583" y="251460"/>
                  </a:lnTo>
                  <a:lnTo>
                    <a:pt x="1997278" y="232867"/>
                  </a:lnTo>
                  <a:lnTo>
                    <a:pt x="2075612" y="104242"/>
                  </a:lnTo>
                  <a:lnTo>
                    <a:pt x="2000021" y="104242"/>
                  </a:lnTo>
                  <a:close/>
                  <a:moveTo>
                    <a:pt x="1923440" y="78029"/>
                  </a:moveTo>
                  <a:lnTo>
                    <a:pt x="1959407" y="78029"/>
                  </a:lnTo>
                  <a:lnTo>
                    <a:pt x="1959407" y="251460"/>
                  </a:lnTo>
                  <a:lnTo>
                    <a:pt x="1923440" y="251460"/>
                  </a:lnTo>
                  <a:close/>
                  <a:moveTo>
                    <a:pt x="929945" y="78029"/>
                  </a:moveTo>
                  <a:lnTo>
                    <a:pt x="966825" y="78029"/>
                  </a:lnTo>
                  <a:lnTo>
                    <a:pt x="1009379" y="202979"/>
                  </a:lnTo>
                  <a:lnTo>
                    <a:pt x="1052474" y="78029"/>
                  </a:lnTo>
                  <a:lnTo>
                    <a:pt x="1087526" y="78029"/>
                  </a:lnTo>
                  <a:lnTo>
                    <a:pt x="1025957" y="251460"/>
                  </a:lnTo>
                  <a:lnTo>
                    <a:pt x="990905" y="251460"/>
                  </a:lnTo>
                  <a:close/>
                  <a:moveTo>
                    <a:pt x="2554453" y="73762"/>
                  </a:moveTo>
                  <a:cubicBezTo>
                    <a:pt x="2565222" y="73762"/>
                    <a:pt x="2575636" y="76098"/>
                    <a:pt x="2585695" y="80772"/>
                  </a:cubicBezTo>
                  <a:cubicBezTo>
                    <a:pt x="2595753" y="85446"/>
                    <a:pt x="2603221" y="93167"/>
                    <a:pt x="2608098" y="103937"/>
                  </a:cubicBezTo>
                  <a:lnTo>
                    <a:pt x="2584628" y="117653"/>
                  </a:lnTo>
                  <a:cubicBezTo>
                    <a:pt x="2581580" y="111963"/>
                    <a:pt x="2577262" y="107747"/>
                    <a:pt x="2571674" y="105004"/>
                  </a:cubicBezTo>
                  <a:cubicBezTo>
                    <a:pt x="2566086" y="102260"/>
                    <a:pt x="2560650" y="100889"/>
                    <a:pt x="2555367" y="100889"/>
                  </a:cubicBezTo>
                  <a:cubicBezTo>
                    <a:pt x="2551303" y="100889"/>
                    <a:pt x="2547493" y="101702"/>
                    <a:pt x="2543937" y="103327"/>
                  </a:cubicBezTo>
                  <a:cubicBezTo>
                    <a:pt x="2540381" y="104953"/>
                    <a:pt x="2537485" y="107290"/>
                    <a:pt x="2535250" y="110338"/>
                  </a:cubicBezTo>
                  <a:cubicBezTo>
                    <a:pt x="2533015" y="113386"/>
                    <a:pt x="2531898" y="117246"/>
                    <a:pt x="2531898" y="121920"/>
                  </a:cubicBezTo>
                  <a:cubicBezTo>
                    <a:pt x="2531898" y="127203"/>
                    <a:pt x="2533726" y="131623"/>
                    <a:pt x="2537384" y="135179"/>
                  </a:cubicBezTo>
                  <a:cubicBezTo>
                    <a:pt x="2541042" y="138735"/>
                    <a:pt x="2545766" y="141884"/>
                    <a:pt x="2551557" y="144628"/>
                  </a:cubicBezTo>
                  <a:cubicBezTo>
                    <a:pt x="2557348" y="147371"/>
                    <a:pt x="2563444" y="150216"/>
                    <a:pt x="2569845" y="153162"/>
                  </a:cubicBezTo>
                  <a:cubicBezTo>
                    <a:pt x="2576246" y="156108"/>
                    <a:pt x="2582291" y="159614"/>
                    <a:pt x="2587981" y="163678"/>
                  </a:cubicBezTo>
                  <a:cubicBezTo>
                    <a:pt x="2593670" y="167742"/>
                    <a:pt x="2598344" y="172822"/>
                    <a:pt x="2602001" y="178918"/>
                  </a:cubicBezTo>
                  <a:cubicBezTo>
                    <a:pt x="2605659" y="185014"/>
                    <a:pt x="2607488" y="192735"/>
                    <a:pt x="2607488" y="202082"/>
                  </a:cubicBezTo>
                  <a:cubicBezTo>
                    <a:pt x="2607488" y="213665"/>
                    <a:pt x="2604643" y="223469"/>
                    <a:pt x="2598954" y="231496"/>
                  </a:cubicBezTo>
                  <a:cubicBezTo>
                    <a:pt x="2593264" y="239522"/>
                    <a:pt x="2585847" y="245567"/>
                    <a:pt x="2576703" y="249631"/>
                  </a:cubicBezTo>
                  <a:cubicBezTo>
                    <a:pt x="2567559" y="253695"/>
                    <a:pt x="2557602" y="255727"/>
                    <a:pt x="2546832" y="255727"/>
                  </a:cubicBezTo>
                  <a:cubicBezTo>
                    <a:pt x="2537282" y="255727"/>
                    <a:pt x="2527528" y="254102"/>
                    <a:pt x="2517572" y="250850"/>
                  </a:cubicBezTo>
                  <a:cubicBezTo>
                    <a:pt x="2507615" y="247599"/>
                    <a:pt x="2498471" y="242722"/>
                    <a:pt x="2490140" y="236220"/>
                  </a:cubicBezTo>
                  <a:lnTo>
                    <a:pt x="2503551" y="214274"/>
                  </a:lnTo>
                  <a:cubicBezTo>
                    <a:pt x="2509850" y="218542"/>
                    <a:pt x="2516708" y="221844"/>
                    <a:pt x="2524125" y="224180"/>
                  </a:cubicBezTo>
                  <a:cubicBezTo>
                    <a:pt x="2531542" y="226517"/>
                    <a:pt x="2538603" y="227686"/>
                    <a:pt x="2545308" y="227686"/>
                  </a:cubicBezTo>
                  <a:cubicBezTo>
                    <a:pt x="2552624" y="227686"/>
                    <a:pt x="2558872" y="225755"/>
                    <a:pt x="2564054" y="221894"/>
                  </a:cubicBezTo>
                  <a:cubicBezTo>
                    <a:pt x="2569235" y="218034"/>
                    <a:pt x="2571826" y="212242"/>
                    <a:pt x="2571826" y="204521"/>
                  </a:cubicBezTo>
                  <a:cubicBezTo>
                    <a:pt x="2571826" y="198831"/>
                    <a:pt x="2569998" y="194208"/>
                    <a:pt x="2566340" y="190652"/>
                  </a:cubicBezTo>
                  <a:cubicBezTo>
                    <a:pt x="2562682" y="187096"/>
                    <a:pt x="2557958" y="183896"/>
                    <a:pt x="2552166" y="181051"/>
                  </a:cubicBezTo>
                  <a:cubicBezTo>
                    <a:pt x="2546376" y="178206"/>
                    <a:pt x="2540330" y="175311"/>
                    <a:pt x="2534031" y="172364"/>
                  </a:cubicBezTo>
                  <a:cubicBezTo>
                    <a:pt x="2527732" y="169418"/>
                    <a:pt x="2521687" y="165913"/>
                    <a:pt x="2515896" y="161849"/>
                  </a:cubicBezTo>
                  <a:cubicBezTo>
                    <a:pt x="2510104" y="157785"/>
                    <a:pt x="2505380" y="152603"/>
                    <a:pt x="2501722" y="146304"/>
                  </a:cubicBezTo>
                  <a:cubicBezTo>
                    <a:pt x="2498065" y="140005"/>
                    <a:pt x="2496236" y="131978"/>
                    <a:pt x="2496236" y="122225"/>
                  </a:cubicBezTo>
                  <a:cubicBezTo>
                    <a:pt x="2496236" y="112065"/>
                    <a:pt x="2499030" y="103327"/>
                    <a:pt x="2504618" y="96012"/>
                  </a:cubicBezTo>
                  <a:cubicBezTo>
                    <a:pt x="2510206" y="88697"/>
                    <a:pt x="2517470" y="83160"/>
                    <a:pt x="2526411" y="79400"/>
                  </a:cubicBezTo>
                  <a:cubicBezTo>
                    <a:pt x="2535352" y="75641"/>
                    <a:pt x="2544699" y="73762"/>
                    <a:pt x="2554453" y="73762"/>
                  </a:cubicBezTo>
                  <a:close/>
                  <a:moveTo>
                    <a:pt x="2406091" y="73762"/>
                  </a:moveTo>
                  <a:cubicBezTo>
                    <a:pt x="2415845" y="73762"/>
                    <a:pt x="2424532" y="75997"/>
                    <a:pt x="2432152" y="80467"/>
                  </a:cubicBezTo>
                  <a:cubicBezTo>
                    <a:pt x="2439772" y="84938"/>
                    <a:pt x="2445766" y="91592"/>
                    <a:pt x="2450135" y="100432"/>
                  </a:cubicBezTo>
                  <a:cubicBezTo>
                    <a:pt x="2454504" y="109271"/>
                    <a:pt x="2456688" y="120294"/>
                    <a:pt x="2456688" y="133502"/>
                  </a:cubicBezTo>
                  <a:lnTo>
                    <a:pt x="2456688" y="251460"/>
                  </a:lnTo>
                  <a:lnTo>
                    <a:pt x="2420722" y="251460"/>
                  </a:lnTo>
                  <a:lnTo>
                    <a:pt x="2420722" y="137160"/>
                  </a:lnTo>
                  <a:cubicBezTo>
                    <a:pt x="2420722" y="126390"/>
                    <a:pt x="2418486" y="117907"/>
                    <a:pt x="2414016" y="111709"/>
                  </a:cubicBezTo>
                  <a:cubicBezTo>
                    <a:pt x="2409545" y="105512"/>
                    <a:pt x="2403348" y="102413"/>
                    <a:pt x="2395423" y="102413"/>
                  </a:cubicBezTo>
                  <a:cubicBezTo>
                    <a:pt x="2389327" y="102413"/>
                    <a:pt x="2383536" y="104394"/>
                    <a:pt x="2378050" y="108356"/>
                  </a:cubicBezTo>
                  <a:cubicBezTo>
                    <a:pt x="2372563" y="112319"/>
                    <a:pt x="2368093" y="118466"/>
                    <a:pt x="2364638" y="126797"/>
                  </a:cubicBezTo>
                  <a:cubicBezTo>
                    <a:pt x="2361184" y="135128"/>
                    <a:pt x="2359457" y="145999"/>
                    <a:pt x="2359457" y="159410"/>
                  </a:cubicBezTo>
                  <a:lnTo>
                    <a:pt x="2359457" y="251460"/>
                  </a:lnTo>
                  <a:lnTo>
                    <a:pt x="2323186" y="251460"/>
                  </a:lnTo>
                  <a:lnTo>
                    <a:pt x="2323186" y="78029"/>
                  </a:lnTo>
                  <a:lnTo>
                    <a:pt x="2357628" y="78029"/>
                  </a:lnTo>
                  <a:lnTo>
                    <a:pt x="2358374" y="102502"/>
                  </a:lnTo>
                  <a:lnTo>
                    <a:pt x="2370734" y="87173"/>
                  </a:lnTo>
                  <a:cubicBezTo>
                    <a:pt x="2381301" y="78232"/>
                    <a:pt x="2393086" y="73762"/>
                    <a:pt x="2406091" y="73762"/>
                  </a:cubicBezTo>
                  <a:close/>
                  <a:moveTo>
                    <a:pt x="2217877" y="73762"/>
                  </a:moveTo>
                  <a:cubicBezTo>
                    <a:pt x="2234540" y="73762"/>
                    <a:pt x="2248408" y="77521"/>
                    <a:pt x="2259482" y="85039"/>
                  </a:cubicBezTo>
                  <a:cubicBezTo>
                    <a:pt x="2270557" y="92558"/>
                    <a:pt x="2278888" y="103175"/>
                    <a:pt x="2284476" y="116891"/>
                  </a:cubicBezTo>
                  <a:cubicBezTo>
                    <a:pt x="2290064" y="130607"/>
                    <a:pt x="2292858" y="146609"/>
                    <a:pt x="2292858" y="164897"/>
                  </a:cubicBezTo>
                  <a:cubicBezTo>
                    <a:pt x="2292858" y="183388"/>
                    <a:pt x="2289810" y="199492"/>
                    <a:pt x="2283714" y="213208"/>
                  </a:cubicBezTo>
                  <a:cubicBezTo>
                    <a:pt x="2277618" y="226924"/>
                    <a:pt x="2268830" y="237439"/>
                    <a:pt x="2257349" y="244754"/>
                  </a:cubicBezTo>
                  <a:cubicBezTo>
                    <a:pt x="2245868" y="252070"/>
                    <a:pt x="2231898" y="255727"/>
                    <a:pt x="2215439" y="255727"/>
                  </a:cubicBezTo>
                  <a:cubicBezTo>
                    <a:pt x="2198776" y="255727"/>
                    <a:pt x="2184908" y="251917"/>
                    <a:pt x="2173834" y="244297"/>
                  </a:cubicBezTo>
                  <a:cubicBezTo>
                    <a:pt x="2162759" y="236677"/>
                    <a:pt x="2154478" y="226111"/>
                    <a:pt x="2148992" y="212598"/>
                  </a:cubicBezTo>
                  <a:cubicBezTo>
                    <a:pt x="2143506" y="199085"/>
                    <a:pt x="2140762" y="183388"/>
                    <a:pt x="2140763" y="165506"/>
                  </a:cubicBezTo>
                  <a:cubicBezTo>
                    <a:pt x="2140762" y="147015"/>
                    <a:pt x="2143810" y="130861"/>
                    <a:pt x="2149907" y="117043"/>
                  </a:cubicBezTo>
                  <a:cubicBezTo>
                    <a:pt x="2156002" y="103226"/>
                    <a:pt x="2164842" y="92558"/>
                    <a:pt x="2176424" y="85039"/>
                  </a:cubicBezTo>
                  <a:cubicBezTo>
                    <a:pt x="2188006" y="77521"/>
                    <a:pt x="2201824" y="73762"/>
                    <a:pt x="2217877" y="73762"/>
                  </a:cubicBezTo>
                  <a:close/>
                  <a:moveTo>
                    <a:pt x="1890217" y="73762"/>
                  </a:moveTo>
                  <a:cubicBezTo>
                    <a:pt x="1891842" y="73762"/>
                    <a:pt x="1893418" y="73762"/>
                    <a:pt x="1894942" y="73762"/>
                  </a:cubicBezTo>
                  <a:cubicBezTo>
                    <a:pt x="1896466" y="73762"/>
                    <a:pt x="1898040" y="73965"/>
                    <a:pt x="1899666" y="74371"/>
                  </a:cubicBezTo>
                  <a:lnTo>
                    <a:pt x="1895704" y="110338"/>
                  </a:lnTo>
                  <a:cubicBezTo>
                    <a:pt x="1890420" y="108102"/>
                    <a:pt x="1885340" y="106985"/>
                    <a:pt x="1880464" y="106985"/>
                  </a:cubicBezTo>
                  <a:cubicBezTo>
                    <a:pt x="1873554" y="106985"/>
                    <a:pt x="1867408" y="109118"/>
                    <a:pt x="1862023" y="113386"/>
                  </a:cubicBezTo>
                  <a:cubicBezTo>
                    <a:pt x="1856638" y="117653"/>
                    <a:pt x="1852473" y="123647"/>
                    <a:pt x="1849526" y="131369"/>
                  </a:cubicBezTo>
                  <a:cubicBezTo>
                    <a:pt x="1846580" y="139090"/>
                    <a:pt x="1845107" y="148234"/>
                    <a:pt x="1845107" y="158801"/>
                  </a:cubicBezTo>
                  <a:lnTo>
                    <a:pt x="1845107" y="251460"/>
                  </a:lnTo>
                  <a:lnTo>
                    <a:pt x="1809140" y="251460"/>
                  </a:lnTo>
                  <a:lnTo>
                    <a:pt x="1809140" y="76810"/>
                  </a:lnTo>
                  <a:lnTo>
                    <a:pt x="1842973" y="76810"/>
                  </a:lnTo>
                  <a:lnTo>
                    <a:pt x="1844225" y="106852"/>
                  </a:lnTo>
                  <a:lnTo>
                    <a:pt x="1844764" y="105232"/>
                  </a:lnTo>
                  <a:cubicBezTo>
                    <a:pt x="1847888" y="98577"/>
                    <a:pt x="1851609" y="92862"/>
                    <a:pt x="1855927" y="88087"/>
                  </a:cubicBezTo>
                  <a:cubicBezTo>
                    <a:pt x="1864563" y="78537"/>
                    <a:pt x="1875993" y="73762"/>
                    <a:pt x="1890217" y="73762"/>
                  </a:cubicBezTo>
                  <a:close/>
                  <a:moveTo>
                    <a:pt x="1703527" y="73762"/>
                  </a:moveTo>
                  <a:cubicBezTo>
                    <a:pt x="1720190" y="73762"/>
                    <a:pt x="1734058" y="77521"/>
                    <a:pt x="1745132" y="85039"/>
                  </a:cubicBezTo>
                  <a:cubicBezTo>
                    <a:pt x="1756207" y="92558"/>
                    <a:pt x="1764538" y="103175"/>
                    <a:pt x="1770126" y="116891"/>
                  </a:cubicBezTo>
                  <a:cubicBezTo>
                    <a:pt x="1775714" y="130607"/>
                    <a:pt x="1778508" y="146609"/>
                    <a:pt x="1778508" y="164897"/>
                  </a:cubicBezTo>
                  <a:cubicBezTo>
                    <a:pt x="1778508" y="183388"/>
                    <a:pt x="1775460" y="199492"/>
                    <a:pt x="1769364" y="213208"/>
                  </a:cubicBezTo>
                  <a:cubicBezTo>
                    <a:pt x="1763268" y="226924"/>
                    <a:pt x="1754479" y="237439"/>
                    <a:pt x="1742999" y="244754"/>
                  </a:cubicBezTo>
                  <a:cubicBezTo>
                    <a:pt x="1731518" y="252070"/>
                    <a:pt x="1717548" y="255727"/>
                    <a:pt x="1701089" y="255727"/>
                  </a:cubicBezTo>
                  <a:cubicBezTo>
                    <a:pt x="1684426" y="255727"/>
                    <a:pt x="1670558" y="251917"/>
                    <a:pt x="1659483" y="244297"/>
                  </a:cubicBezTo>
                  <a:cubicBezTo>
                    <a:pt x="1648409" y="236677"/>
                    <a:pt x="1640129" y="226111"/>
                    <a:pt x="1634642" y="212598"/>
                  </a:cubicBezTo>
                  <a:cubicBezTo>
                    <a:pt x="1629156" y="199085"/>
                    <a:pt x="1626413" y="183388"/>
                    <a:pt x="1626413" y="165506"/>
                  </a:cubicBezTo>
                  <a:cubicBezTo>
                    <a:pt x="1626413" y="147015"/>
                    <a:pt x="1629461" y="130861"/>
                    <a:pt x="1635557" y="117043"/>
                  </a:cubicBezTo>
                  <a:cubicBezTo>
                    <a:pt x="1641653" y="103226"/>
                    <a:pt x="1650492" y="92558"/>
                    <a:pt x="1662074" y="85039"/>
                  </a:cubicBezTo>
                  <a:cubicBezTo>
                    <a:pt x="1673657" y="77521"/>
                    <a:pt x="1687474" y="73762"/>
                    <a:pt x="1703527" y="73762"/>
                  </a:cubicBezTo>
                  <a:close/>
                  <a:moveTo>
                    <a:pt x="1167384" y="73762"/>
                  </a:moveTo>
                  <a:cubicBezTo>
                    <a:pt x="1183640" y="73762"/>
                    <a:pt x="1196746" y="77267"/>
                    <a:pt x="1206703" y="84277"/>
                  </a:cubicBezTo>
                  <a:cubicBezTo>
                    <a:pt x="1216660" y="91288"/>
                    <a:pt x="1223873" y="101498"/>
                    <a:pt x="1228344" y="114910"/>
                  </a:cubicBezTo>
                  <a:cubicBezTo>
                    <a:pt x="1232814" y="128321"/>
                    <a:pt x="1235050" y="144170"/>
                    <a:pt x="1235050" y="162458"/>
                  </a:cubicBezTo>
                  <a:lnTo>
                    <a:pt x="1235050" y="173736"/>
                  </a:lnTo>
                  <a:lnTo>
                    <a:pt x="1130709" y="173736"/>
                  </a:lnTo>
                  <a:lnTo>
                    <a:pt x="1130998" y="178908"/>
                  </a:lnTo>
                  <a:cubicBezTo>
                    <a:pt x="1132599" y="192300"/>
                    <a:pt x="1136599" y="202921"/>
                    <a:pt x="1143000" y="210769"/>
                  </a:cubicBezTo>
                  <a:cubicBezTo>
                    <a:pt x="1151534" y="221234"/>
                    <a:pt x="1162710" y="226466"/>
                    <a:pt x="1176528" y="226466"/>
                  </a:cubicBezTo>
                  <a:cubicBezTo>
                    <a:pt x="1183843" y="226466"/>
                    <a:pt x="1191107" y="225400"/>
                    <a:pt x="1198321" y="223266"/>
                  </a:cubicBezTo>
                  <a:cubicBezTo>
                    <a:pt x="1205534" y="221132"/>
                    <a:pt x="1213104" y="218034"/>
                    <a:pt x="1221029" y="213970"/>
                  </a:cubicBezTo>
                  <a:lnTo>
                    <a:pt x="1231697" y="238049"/>
                  </a:lnTo>
                  <a:cubicBezTo>
                    <a:pt x="1222146" y="244145"/>
                    <a:pt x="1212342" y="248615"/>
                    <a:pt x="1202283" y="251460"/>
                  </a:cubicBezTo>
                  <a:cubicBezTo>
                    <a:pt x="1192225" y="254305"/>
                    <a:pt x="1182421" y="255727"/>
                    <a:pt x="1172870" y="255727"/>
                  </a:cubicBezTo>
                  <a:cubicBezTo>
                    <a:pt x="1157427" y="255727"/>
                    <a:pt x="1143660" y="252171"/>
                    <a:pt x="1131570" y="245059"/>
                  </a:cubicBezTo>
                  <a:cubicBezTo>
                    <a:pt x="1119480" y="237947"/>
                    <a:pt x="1110082" y="227482"/>
                    <a:pt x="1103376" y="213665"/>
                  </a:cubicBezTo>
                  <a:cubicBezTo>
                    <a:pt x="1096670" y="199847"/>
                    <a:pt x="1093317" y="183083"/>
                    <a:pt x="1093317" y="163373"/>
                  </a:cubicBezTo>
                  <a:cubicBezTo>
                    <a:pt x="1093317" y="143866"/>
                    <a:pt x="1096619" y="127508"/>
                    <a:pt x="1103224" y="114300"/>
                  </a:cubicBezTo>
                  <a:cubicBezTo>
                    <a:pt x="1109828" y="101092"/>
                    <a:pt x="1118768" y="91034"/>
                    <a:pt x="1130046" y="84125"/>
                  </a:cubicBezTo>
                  <a:cubicBezTo>
                    <a:pt x="1141324" y="77216"/>
                    <a:pt x="1153770" y="73762"/>
                    <a:pt x="1167384" y="73762"/>
                  </a:cubicBezTo>
                  <a:close/>
                  <a:moveTo>
                    <a:pt x="852221" y="73762"/>
                  </a:moveTo>
                  <a:cubicBezTo>
                    <a:pt x="863600" y="73762"/>
                    <a:pt x="873557" y="75895"/>
                    <a:pt x="882091" y="80162"/>
                  </a:cubicBezTo>
                  <a:cubicBezTo>
                    <a:pt x="890626" y="84430"/>
                    <a:pt x="897331" y="90881"/>
                    <a:pt x="902208" y="99517"/>
                  </a:cubicBezTo>
                  <a:cubicBezTo>
                    <a:pt x="907085" y="108153"/>
                    <a:pt x="909523" y="119075"/>
                    <a:pt x="909523" y="132283"/>
                  </a:cubicBezTo>
                  <a:lnTo>
                    <a:pt x="909523" y="208483"/>
                  </a:lnTo>
                  <a:cubicBezTo>
                    <a:pt x="909523" y="215189"/>
                    <a:pt x="910488" y="220066"/>
                    <a:pt x="912419" y="223114"/>
                  </a:cubicBezTo>
                  <a:cubicBezTo>
                    <a:pt x="914349" y="226162"/>
                    <a:pt x="917956" y="227686"/>
                    <a:pt x="923239" y="227686"/>
                  </a:cubicBezTo>
                  <a:cubicBezTo>
                    <a:pt x="923849" y="227686"/>
                    <a:pt x="924610" y="227686"/>
                    <a:pt x="925525" y="227686"/>
                  </a:cubicBezTo>
                  <a:cubicBezTo>
                    <a:pt x="926439" y="227686"/>
                    <a:pt x="927303" y="227584"/>
                    <a:pt x="928116" y="227381"/>
                  </a:cubicBezTo>
                  <a:lnTo>
                    <a:pt x="929335" y="253898"/>
                  </a:lnTo>
                  <a:cubicBezTo>
                    <a:pt x="926490" y="254508"/>
                    <a:pt x="923696" y="254965"/>
                    <a:pt x="920953" y="255270"/>
                  </a:cubicBezTo>
                  <a:cubicBezTo>
                    <a:pt x="918210" y="255575"/>
                    <a:pt x="915619" y="255727"/>
                    <a:pt x="913181" y="255727"/>
                  </a:cubicBezTo>
                  <a:cubicBezTo>
                    <a:pt x="902208" y="255727"/>
                    <a:pt x="893674" y="252628"/>
                    <a:pt x="887578" y="246431"/>
                  </a:cubicBezTo>
                  <a:cubicBezTo>
                    <a:pt x="884529" y="243332"/>
                    <a:pt x="882244" y="239306"/>
                    <a:pt x="880720" y="234353"/>
                  </a:cubicBezTo>
                  <a:lnTo>
                    <a:pt x="880194" y="230295"/>
                  </a:lnTo>
                  <a:lnTo>
                    <a:pt x="874166" y="238963"/>
                  </a:lnTo>
                  <a:cubicBezTo>
                    <a:pt x="868883" y="244653"/>
                    <a:pt x="862838" y="248869"/>
                    <a:pt x="856031" y="251612"/>
                  </a:cubicBezTo>
                  <a:cubicBezTo>
                    <a:pt x="849223" y="254356"/>
                    <a:pt x="842264" y="255727"/>
                    <a:pt x="835152" y="255727"/>
                  </a:cubicBezTo>
                  <a:cubicBezTo>
                    <a:pt x="825805" y="255727"/>
                    <a:pt x="817118" y="253644"/>
                    <a:pt x="809092" y="249479"/>
                  </a:cubicBezTo>
                  <a:cubicBezTo>
                    <a:pt x="801065" y="245313"/>
                    <a:pt x="794715" y="239268"/>
                    <a:pt x="790041" y="231343"/>
                  </a:cubicBezTo>
                  <a:cubicBezTo>
                    <a:pt x="785368" y="223418"/>
                    <a:pt x="783031" y="213766"/>
                    <a:pt x="783031" y="202387"/>
                  </a:cubicBezTo>
                  <a:cubicBezTo>
                    <a:pt x="783031" y="185725"/>
                    <a:pt x="789635" y="172466"/>
                    <a:pt x="802843" y="162611"/>
                  </a:cubicBezTo>
                  <a:cubicBezTo>
                    <a:pt x="816051" y="152756"/>
                    <a:pt x="834136" y="147828"/>
                    <a:pt x="857098" y="147828"/>
                  </a:cubicBezTo>
                  <a:cubicBezTo>
                    <a:pt x="861568" y="147828"/>
                    <a:pt x="866800" y="147980"/>
                    <a:pt x="872795" y="148285"/>
                  </a:cubicBezTo>
                  <a:lnTo>
                    <a:pt x="873252" y="148342"/>
                  </a:lnTo>
                  <a:lnTo>
                    <a:pt x="873252" y="133502"/>
                  </a:lnTo>
                  <a:cubicBezTo>
                    <a:pt x="873252" y="123139"/>
                    <a:pt x="870610" y="115621"/>
                    <a:pt x="865327" y="110947"/>
                  </a:cubicBezTo>
                  <a:cubicBezTo>
                    <a:pt x="860044" y="106274"/>
                    <a:pt x="853135" y="103937"/>
                    <a:pt x="844601" y="103937"/>
                  </a:cubicBezTo>
                  <a:cubicBezTo>
                    <a:pt x="838301" y="103937"/>
                    <a:pt x="831392" y="105258"/>
                    <a:pt x="823874" y="107899"/>
                  </a:cubicBezTo>
                  <a:cubicBezTo>
                    <a:pt x="816356" y="110541"/>
                    <a:pt x="808838" y="113995"/>
                    <a:pt x="801319" y="118262"/>
                  </a:cubicBezTo>
                  <a:lnTo>
                    <a:pt x="788822" y="92050"/>
                  </a:lnTo>
                  <a:cubicBezTo>
                    <a:pt x="798169" y="86360"/>
                    <a:pt x="808533" y="81890"/>
                    <a:pt x="819912" y="78638"/>
                  </a:cubicBezTo>
                  <a:cubicBezTo>
                    <a:pt x="831291" y="75387"/>
                    <a:pt x="842061" y="73762"/>
                    <a:pt x="852221" y="73762"/>
                  </a:cubicBezTo>
                  <a:close/>
                  <a:moveTo>
                    <a:pt x="766267" y="73762"/>
                  </a:moveTo>
                  <a:cubicBezTo>
                    <a:pt x="767893" y="73762"/>
                    <a:pt x="769468" y="73762"/>
                    <a:pt x="770991" y="73762"/>
                  </a:cubicBezTo>
                  <a:cubicBezTo>
                    <a:pt x="772515" y="73762"/>
                    <a:pt x="774090" y="73965"/>
                    <a:pt x="775716" y="74371"/>
                  </a:cubicBezTo>
                  <a:lnTo>
                    <a:pt x="771753" y="110338"/>
                  </a:lnTo>
                  <a:cubicBezTo>
                    <a:pt x="766470" y="108102"/>
                    <a:pt x="761390" y="106985"/>
                    <a:pt x="756513" y="106985"/>
                  </a:cubicBezTo>
                  <a:cubicBezTo>
                    <a:pt x="749605" y="106985"/>
                    <a:pt x="743458" y="109118"/>
                    <a:pt x="738073" y="113386"/>
                  </a:cubicBezTo>
                  <a:cubicBezTo>
                    <a:pt x="732688" y="117653"/>
                    <a:pt x="728523" y="123647"/>
                    <a:pt x="725576" y="131369"/>
                  </a:cubicBezTo>
                  <a:cubicBezTo>
                    <a:pt x="722630" y="139090"/>
                    <a:pt x="721157" y="148234"/>
                    <a:pt x="721157" y="158801"/>
                  </a:cubicBezTo>
                  <a:lnTo>
                    <a:pt x="721157" y="251460"/>
                  </a:lnTo>
                  <a:lnTo>
                    <a:pt x="685190" y="251460"/>
                  </a:lnTo>
                  <a:lnTo>
                    <a:pt x="685190" y="76810"/>
                  </a:lnTo>
                  <a:lnTo>
                    <a:pt x="719023" y="76810"/>
                  </a:lnTo>
                  <a:lnTo>
                    <a:pt x="720275" y="106852"/>
                  </a:lnTo>
                  <a:lnTo>
                    <a:pt x="720814" y="105232"/>
                  </a:lnTo>
                  <a:cubicBezTo>
                    <a:pt x="723938" y="98577"/>
                    <a:pt x="727659" y="92862"/>
                    <a:pt x="731977" y="88087"/>
                  </a:cubicBezTo>
                  <a:cubicBezTo>
                    <a:pt x="740613" y="78537"/>
                    <a:pt x="752043" y="73762"/>
                    <a:pt x="766267" y="73762"/>
                  </a:cubicBezTo>
                  <a:close/>
                  <a:moveTo>
                    <a:pt x="436702" y="73762"/>
                  </a:moveTo>
                  <a:cubicBezTo>
                    <a:pt x="453365" y="73762"/>
                    <a:pt x="467233" y="77521"/>
                    <a:pt x="478307" y="85039"/>
                  </a:cubicBezTo>
                  <a:cubicBezTo>
                    <a:pt x="489382" y="92558"/>
                    <a:pt x="497713" y="103175"/>
                    <a:pt x="503301" y="116891"/>
                  </a:cubicBezTo>
                  <a:cubicBezTo>
                    <a:pt x="508889" y="130607"/>
                    <a:pt x="511683" y="146609"/>
                    <a:pt x="511683" y="164897"/>
                  </a:cubicBezTo>
                  <a:cubicBezTo>
                    <a:pt x="511683" y="183388"/>
                    <a:pt x="508635" y="199492"/>
                    <a:pt x="502539" y="213208"/>
                  </a:cubicBezTo>
                  <a:cubicBezTo>
                    <a:pt x="496443" y="226924"/>
                    <a:pt x="487655" y="237439"/>
                    <a:pt x="476174" y="244754"/>
                  </a:cubicBezTo>
                  <a:cubicBezTo>
                    <a:pt x="464693" y="252070"/>
                    <a:pt x="450723" y="255727"/>
                    <a:pt x="434264" y="255727"/>
                  </a:cubicBezTo>
                  <a:cubicBezTo>
                    <a:pt x="417601" y="255727"/>
                    <a:pt x="403733" y="251917"/>
                    <a:pt x="392659" y="244297"/>
                  </a:cubicBezTo>
                  <a:cubicBezTo>
                    <a:pt x="381584" y="236677"/>
                    <a:pt x="373304" y="226111"/>
                    <a:pt x="367817" y="212598"/>
                  </a:cubicBezTo>
                  <a:cubicBezTo>
                    <a:pt x="362331" y="199085"/>
                    <a:pt x="359588" y="183388"/>
                    <a:pt x="359588" y="165506"/>
                  </a:cubicBezTo>
                  <a:cubicBezTo>
                    <a:pt x="359588" y="147015"/>
                    <a:pt x="362636" y="130861"/>
                    <a:pt x="368732" y="117043"/>
                  </a:cubicBezTo>
                  <a:cubicBezTo>
                    <a:pt x="374828" y="103226"/>
                    <a:pt x="383667" y="92558"/>
                    <a:pt x="395249" y="85039"/>
                  </a:cubicBezTo>
                  <a:cubicBezTo>
                    <a:pt x="406832" y="77521"/>
                    <a:pt x="420649" y="73762"/>
                    <a:pt x="436702" y="73762"/>
                  </a:cubicBezTo>
                  <a:close/>
                  <a:moveTo>
                    <a:pt x="272034" y="73762"/>
                  </a:moveTo>
                  <a:cubicBezTo>
                    <a:pt x="288290" y="73762"/>
                    <a:pt x="301396" y="77267"/>
                    <a:pt x="311353" y="84277"/>
                  </a:cubicBezTo>
                  <a:cubicBezTo>
                    <a:pt x="321310" y="91288"/>
                    <a:pt x="328524" y="101498"/>
                    <a:pt x="332994" y="114910"/>
                  </a:cubicBezTo>
                  <a:cubicBezTo>
                    <a:pt x="337464" y="128321"/>
                    <a:pt x="339700" y="144170"/>
                    <a:pt x="339700" y="162458"/>
                  </a:cubicBezTo>
                  <a:lnTo>
                    <a:pt x="339700" y="173736"/>
                  </a:lnTo>
                  <a:lnTo>
                    <a:pt x="235360" y="173736"/>
                  </a:lnTo>
                  <a:lnTo>
                    <a:pt x="235649" y="178908"/>
                  </a:lnTo>
                  <a:cubicBezTo>
                    <a:pt x="237249" y="192300"/>
                    <a:pt x="241249" y="202921"/>
                    <a:pt x="247650" y="210769"/>
                  </a:cubicBezTo>
                  <a:cubicBezTo>
                    <a:pt x="256184" y="221234"/>
                    <a:pt x="267360" y="226466"/>
                    <a:pt x="281178" y="226466"/>
                  </a:cubicBezTo>
                  <a:cubicBezTo>
                    <a:pt x="288493" y="226466"/>
                    <a:pt x="295758" y="225400"/>
                    <a:pt x="302971" y="223266"/>
                  </a:cubicBezTo>
                  <a:cubicBezTo>
                    <a:pt x="310185" y="221132"/>
                    <a:pt x="317754" y="218034"/>
                    <a:pt x="325679" y="213970"/>
                  </a:cubicBezTo>
                  <a:lnTo>
                    <a:pt x="336347" y="238049"/>
                  </a:lnTo>
                  <a:cubicBezTo>
                    <a:pt x="326796" y="244145"/>
                    <a:pt x="316992" y="248615"/>
                    <a:pt x="306934" y="251460"/>
                  </a:cubicBezTo>
                  <a:cubicBezTo>
                    <a:pt x="296875" y="254305"/>
                    <a:pt x="287071" y="255727"/>
                    <a:pt x="277520" y="255727"/>
                  </a:cubicBezTo>
                  <a:cubicBezTo>
                    <a:pt x="262077" y="255727"/>
                    <a:pt x="248311" y="252171"/>
                    <a:pt x="236220" y="245059"/>
                  </a:cubicBezTo>
                  <a:cubicBezTo>
                    <a:pt x="224130" y="237947"/>
                    <a:pt x="214732" y="227482"/>
                    <a:pt x="208026" y="213665"/>
                  </a:cubicBezTo>
                  <a:cubicBezTo>
                    <a:pt x="201320" y="199847"/>
                    <a:pt x="197968" y="183083"/>
                    <a:pt x="197968" y="163373"/>
                  </a:cubicBezTo>
                  <a:cubicBezTo>
                    <a:pt x="197968" y="143866"/>
                    <a:pt x="201270" y="127508"/>
                    <a:pt x="207874" y="114300"/>
                  </a:cubicBezTo>
                  <a:cubicBezTo>
                    <a:pt x="214478" y="101092"/>
                    <a:pt x="223418" y="91034"/>
                    <a:pt x="234696" y="84125"/>
                  </a:cubicBezTo>
                  <a:cubicBezTo>
                    <a:pt x="245974" y="77216"/>
                    <a:pt x="258420" y="73762"/>
                    <a:pt x="272034" y="73762"/>
                  </a:cubicBezTo>
                  <a:close/>
                  <a:moveTo>
                    <a:pt x="1428750" y="17374"/>
                  </a:moveTo>
                  <a:lnTo>
                    <a:pt x="1465631" y="17374"/>
                  </a:lnTo>
                  <a:lnTo>
                    <a:pt x="1465631" y="114910"/>
                  </a:lnTo>
                  <a:lnTo>
                    <a:pt x="1554937" y="114910"/>
                  </a:lnTo>
                  <a:lnTo>
                    <a:pt x="1554937" y="17374"/>
                  </a:lnTo>
                  <a:lnTo>
                    <a:pt x="1591513" y="17374"/>
                  </a:lnTo>
                  <a:lnTo>
                    <a:pt x="1591513" y="251460"/>
                  </a:lnTo>
                  <a:lnTo>
                    <a:pt x="1554937" y="251460"/>
                  </a:lnTo>
                  <a:lnTo>
                    <a:pt x="1554937" y="145694"/>
                  </a:lnTo>
                  <a:lnTo>
                    <a:pt x="1465631" y="145694"/>
                  </a:lnTo>
                  <a:lnTo>
                    <a:pt x="1465631" y="251460"/>
                  </a:lnTo>
                  <a:lnTo>
                    <a:pt x="1428750" y="251460"/>
                  </a:lnTo>
                  <a:close/>
                  <a:moveTo>
                    <a:pt x="531419" y="17374"/>
                  </a:moveTo>
                  <a:lnTo>
                    <a:pt x="672236" y="17374"/>
                  </a:lnTo>
                  <a:lnTo>
                    <a:pt x="672236" y="48158"/>
                  </a:lnTo>
                  <a:lnTo>
                    <a:pt x="619506" y="48158"/>
                  </a:lnTo>
                  <a:lnTo>
                    <a:pt x="619506" y="251460"/>
                  </a:lnTo>
                  <a:lnTo>
                    <a:pt x="582930" y="251460"/>
                  </a:lnTo>
                  <a:lnTo>
                    <a:pt x="582930" y="48158"/>
                  </a:lnTo>
                  <a:lnTo>
                    <a:pt x="531419" y="48158"/>
                  </a:lnTo>
                  <a:close/>
                  <a:moveTo>
                    <a:pt x="32309" y="14630"/>
                  </a:moveTo>
                  <a:lnTo>
                    <a:pt x="131674" y="182216"/>
                  </a:lnTo>
                  <a:lnTo>
                    <a:pt x="131674" y="17374"/>
                  </a:lnTo>
                  <a:lnTo>
                    <a:pt x="165811" y="17374"/>
                  </a:lnTo>
                  <a:lnTo>
                    <a:pt x="165811" y="251460"/>
                  </a:lnTo>
                  <a:lnTo>
                    <a:pt x="134722" y="254508"/>
                  </a:lnTo>
                  <a:lnTo>
                    <a:pt x="34138" y="85398"/>
                  </a:lnTo>
                  <a:lnTo>
                    <a:pt x="34138" y="251460"/>
                  </a:lnTo>
                  <a:lnTo>
                    <a:pt x="0" y="251460"/>
                  </a:lnTo>
                  <a:lnTo>
                    <a:pt x="0" y="17374"/>
                  </a:lnTo>
                  <a:close/>
                  <a:moveTo>
                    <a:pt x="1941728" y="2743"/>
                  </a:moveTo>
                  <a:cubicBezTo>
                    <a:pt x="1948028" y="2743"/>
                    <a:pt x="1953463" y="4877"/>
                    <a:pt x="1958035" y="9144"/>
                  </a:cubicBezTo>
                  <a:cubicBezTo>
                    <a:pt x="1962607" y="13411"/>
                    <a:pt x="1964893" y="19507"/>
                    <a:pt x="1964893" y="27432"/>
                  </a:cubicBezTo>
                  <a:cubicBezTo>
                    <a:pt x="1964893" y="35560"/>
                    <a:pt x="1962556" y="41859"/>
                    <a:pt x="1957883" y="46330"/>
                  </a:cubicBezTo>
                  <a:cubicBezTo>
                    <a:pt x="1953209" y="50800"/>
                    <a:pt x="1947723" y="53035"/>
                    <a:pt x="1941424" y="53035"/>
                  </a:cubicBezTo>
                  <a:cubicBezTo>
                    <a:pt x="1935327" y="53035"/>
                    <a:pt x="1929994" y="50851"/>
                    <a:pt x="1925422" y="46482"/>
                  </a:cubicBezTo>
                  <a:cubicBezTo>
                    <a:pt x="1920849" y="42113"/>
                    <a:pt x="1918563" y="35763"/>
                    <a:pt x="1918564" y="27432"/>
                  </a:cubicBezTo>
                  <a:cubicBezTo>
                    <a:pt x="1918563" y="19507"/>
                    <a:pt x="1920849" y="13411"/>
                    <a:pt x="1925422" y="9144"/>
                  </a:cubicBezTo>
                  <a:cubicBezTo>
                    <a:pt x="1929994" y="4877"/>
                    <a:pt x="1935429" y="2743"/>
                    <a:pt x="1941728" y="2743"/>
                  </a:cubicBezTo>
                  <a:close/>
                  <a:moveTo>
                    <a:pt x="1266215" y="0"/>
                  </a:moveTo>
                  <a:lnTo>
                    <a:pt x="1302182" y="0"/>
                  </a:lnTo>
                  <a:lnTo>
                    <a:pt x="1302182" y="206959"/>
                  </a:lnTo>
                  <a:cubicBezTo>
                    <a:pt x="1302182" y="213868"/>
                    <a:pt x="1303401" y="218846"/>
                    <a:pt x="1305839" y="221894"/>
                  </a:cubicBezTo>
                  <a:cubicBezTo>
                    <a:pt x="1308278" y="224942"/>
                    <a:pt x="1311834" y="226466"/>
                    <a:pt x="1316507" y="226466"/>
                  </a:cubicBezTo>
                  <a:cubicBezTo>
                    <a:pt x="1318539" y="226466"/>
                    <a:pt x="1321028" y="226212"/>
                    <a:pt x="1323975" y="225704"/>
                  </a:cubicBezTo>
                  <a:cubicBezTo>
                    <a:pt x="1326921" y="225196"/>
                    <a:pt x="1329614" y="224536"/>
                    <a:pt x="1332052" y="223723"/>
                  </a:cubicBezTo>
                  <a:lnTo>
                    <a:pt x="1332357" y="251460"/>
                  </a:lnTo>
                  <a:cubicBezTo>
                    <a:pt x="1328090" y="252882"/>
                    <a:pt x="1323924" y="253949"/>
                    <a:pt x="1319860" y="254660"/>
                  </a:cubicBezTo>
                  <a:cubicBezTo>
                    <a:pt x="1315796" y="255372"/>
                    <a:pt x="1311834" y="255727"/>
                    <a:pt x="1307973" y="255727"/>
                  </a:cubicBezTo>
                  <a:cubicBezTo>
                    <a:pt x="1294765" y="255727"/>
                    <a:pt x="1284503" y="251968"/>
                    <a:pt x="1277188" y="244450"/>
                  </a:cubicBezTo>
                  <a:cubicBezTo>
                    <a:pt x="1269873" y="236931"/>
                    <a:pt x="1266215" y="225654"/>
                    <a:pt x="1266215" y="210617"/>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1E64"/>
                </a:solidFill>
                <a:effectLst/>
                <a:uLnTx/>
                <a:uFillTx/>
                <a:latin typeface="Yaldevi SemiBold"/>
                <a:ea typeface="+mn-ea"/>
                <a:cs typeface="+mn-cs"/>
              </a:endParaRPr>
            </a:p>
          </p:txBody>
        </p:sp>
        <p:pic>
          <p:nvPicPr>
            <p:cNvPr id="53" name="Graphic 52">
              <a:extLst>
                <a:ext uri="{FF2B5EF4-FFF2-40B4-BE49-F238E27FC236}">
                  <a16:creationId xmlns:a16="http://schemas.microsoft.com/office/drawing/2014/main" id="{32D7253D-7724-C296-2739-E6E0C5C177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89752" y="1384446"/>
              <a:ext cx="299669" cy="299669"/>
            </a:xfrm>
            <a:prstGeom prst="rect">
              <a:avLst/>
            </a:prstGeom>
          </p:spPr>
        </p:pic>
      </p:grpSp>
      <p:sp>
        <p:nvSpPr>
          <p:cNvPr id="15" name="TextBox 14">
            <a:extLst>
              <a:ext uri="{FF2B5EF4-FFF2-40B4-BE49-F238E27FC236}">
                <a16:creationId xmlns:a16="http://schemas.microsoft.com/office/drawing/2014/main" id="{D1D52661-567A-5D33-1DE7-E554B95031F1}"/>
              </a:ext>
            </a:extLst>
          </p:cNvPr>
          <p:cNvSpPr txBox="1"/>
          <p:nvPr/>
        </p:nvSpPr>
        <p:spPr>
          <a:xfrm>
            <a:off x="1229907" y="2678151"/>
            <a:ext cx="38924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srgbClr val="001E64"/>
                </a:solidFill>
                <a:effectLst/>
                <a:uLnTx/>
                <a:uFillTx/>
                <a:latin typeface="Yaldevi SemiBold"/>
                <a:ea typeface="+mn-ea"/>
                <a:cs typeface="+mn-cs"/>
              </a:rPr>
              <a:t>Yaldevi Semi Bold</a:t>
            </a:r>
            <a:endParaRPr kumimoji="0" lang="en-US" sz="3600" b="0" i="0" u="none" strike="noStrike" kern="1200" cap="none" spc="0" normalizeH="0" baseline="0" noProof="0" dirty="0">
              <a:ln>
                <a:noFill/>
              </a:ln>
              <a:solidFill>
                <a:srgbClr val="001E64"/>
              </a:solidFill>
              <a:effectLst/>
              <a:uLnTx/>
              <a:uFillTx/>
              <a:latin typeface="Yaldevi SemiBold"/>
              <a:ea typeface="+mn-ea"/>
              <a:cs typeface="+mn-cs"/>
            </a:endParaRPr>
          </a:p>
        </p:txBody>
      </p:sp>
      <p:sp>
        <p:nvSpPr>
          <p:cNvPr id="16" name="TextBox 15">
            <a:extLst>
              <a:ext uri="{FF2B5EF4-FFF2-40B4-BE49-F238E27FC236}">
                <a16:creationId xmlns:a16="http://schemas.microsoft.com/office/drawing/2014/main" id="{FE2F162D-7815-A5DC-B45D-F6872033F9CB}"/>
              </a:ext>
            </a:extLst>
          </p:cNvPr>
          <p:cNvSpPr txBox="1"/>
          <p:nvPr/>
        </p:nvSpPr>
        <p:spPr>
          <a:xfrm>
            <a:off x="1229907" y="3327400"/>
            <a:ext cx="161133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srgbClr val="001E64"/>
                </a:solidFill>
                <a:effectLst/>
                <a:uLnTx/>
                <a:uFillTx/>
                <a:latin typeface="Yaldevi"/>
                <a:ea typeface="+mn-ea"/>
                <a:cs typeface="+mn-cs"/>
              </a:rPr>
              <a:t>Yaldevi</a:t>
            </a:r>
            <a:endParaRPr kumimoji="0" lang="en-US" sz="3600" b="0" i="0" u="none" strike="noStrike" kern="1200" cap="none" spc="0" normalizeH="0" baseline="0" noProof="0" dirty="0">
              <a:ln>
                <a:noFill/>
              </a:ln>
              <a:solidFill>
                <a:srgbClr val="001E64"/>
              </a:solidFill>
              <a:effectLst/>
              <a:uLnTx/>
              <a:uFillTx/>
              <a:latin typeface="Yaldevi"/>
              <a:ea typeface="+mn-ea"/>
              <a:cs typeface="+mn-cs"/>
            </a:endParaRPr>
          </a:p>
        </p:txBody>
      </p:sp>
    </p:spTree>
    <p:extLst>
      <p:ext uri="{BB962C8B-B14F-4D97-AF65-F5344CB8AC3E}">
        <p14:creationId xmlns:p14="http://schemas.microsoft.com/office/powerpoint/2010/main" val="300981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81D563-16CB-72D3-615D-B6B89A388000}"/>
              </a:ext>
            </a:extLst>
          </p:cNvPr>
          <p:cNvSpPr>
            <a:spLocks noGrp="1"/>
          </p:cNvSpPr>
          <p:nvPr>
            <p:ph type="title"/>
          </p:nvPr>
        </p:nvSpPr>
        <p:spPr>
          <a:xfrm>
            <a:off x="1746331" y="295675"/>
            <a:ext cx="8699338" cy="1325563"/>
          </a:xfrm>
        </p:spPr>
        <p:txBody>
          <a:bodyPr>
            <a:normAutofit/>
          </a:bodyPr>
          <a:lstStyle/>
          <a:p>
            <a:r>
              <a:rPr lang="en-US" sz="2400" dirty="0"/>
              <a:t>Total Number of Tourist Visitors in Switzerland and Their Change (</a:t>
            </a:r>
            <a:r>
              <a:rPr lang="en-US" sz="2400" dirty="0">
                <a:solidFill>
                  <a:schemeClr val="accent4"/>
                </a:solidFill>
              </a:rPr>
              <a:t>estimates by Neotravel Horizons</a:t>
            </a:r>
            <a:r>
              <a:rPr lang="en-US" sz="2400" dirty="0"/>
              <a:t>), 2050–2060</a:t>
            </a:r>
          </a:p>
        </p:txBody>
      </p:sp>
      <p:sp>
        <p:nvSpPr>
          <p:cNvPr id="6" name="TextBox 5">
            <a:extLst>
              <a:ext uri="{FF2B5EF4-FFF2-40B4-BE49-F238E27FC236}">
                <a16:creationId xmlns:a16="http://schemas.microsoft.com/office/drawing/2014/main" id="{D4C66BD3-E7C5-EC94-3585-BA48C3F3C2C7}"/>
              </a:ext>
            </a:extLst>
          </p:cNvPr>
          <p:cNvSpPr txBox="1"/>
          <p:nvPr/>
        </p:nvSpPr>
        <p:spPr>
          <a:xfrm>
            <a:off x="-1" y="-2855198"/>
            <a:ext cx="26837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7" name="TextBox 6">
            <a:extLst>
              <a:ext uri="{FF2B5EF4-FFF2-40B4-BE49-F238E27FC236}">
                <a16:creationId xmlns:a16="http://schemas.microsoft.com/office/drawing/2014/main" id="{39BBE5FD-77E4-FD88-A88F-857AE64E6CA5}"/>
              </a:ext>
            </a:extLst>
          </p:cNvPr>
          <p:cNvSpPr txBox="1"/>
          <p:nvPr/>
        </p:nvSpPr>
        <p:spPr>
          <a:xfrm>
            <a:off x="-1" y="-2449193"/>
            <a:ext cx="25042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3. Insert a column chart</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aphicFrame>
        <p:nvGraphicFramePr>
          <p:cNvPr id="25" name="Chart Placeholder 24">
            <a:extLst>
              <a:ext uri="{FF2B5EF4-FFF2-40B4-BE49-F238E27FC236}">
                <a16:creationId xmlns:a16="http://schemas.microsoft.com/office/drawing/2014/main" id="{6F5010DF-26EF-2D86-1683-BD8E11EB0B11}"/>
              </a:ext>
            </a:extLst>
          </p:cNvPr>
          <p:cNvGraphicFramePr>
            <a:graphicFrameLocks noGrp="1"/>
          </p:cNvGraphicFramePr>
          <p:nvPr>
            <p:ph type="chart" sz="quarter" idx="13"/>
          </p:nvPr>
        </p:nvGraphicFramePr>
        <p:xfrm>
          <a:off x="1746250" y="1618528"/>
          <a:ext cx="8699500" cy="3946683"/>
        </p:xfrm>
        <a:graphic>
          <a:graphicData uri="http://schemas.openxmlformats.org/drawingml/2006/chart">
            <c:chart xmlns:c="http://schemas.openxmlformats.org/drawingml/2006/chart" xmlns:r="http://schemas.openxmlformats.org/officeDocument/2006/relationships" r:id="rId2"/>
          </a:graphicData>
        </a:graphic>
      </p:graphicFrame>
      <p:sp>
        <p:nvSpPr>
          <p:cNvPr id="26" name="TextBox 25">
            <a:extLst>
              <a:ext uri="{FF2B5EF4-FFF2-40B4-BE49-F238E27FC236}">
                <a16:creationId xmlns:a16="http://schemas.microsoft.com/office/drawing/2014/main" id="{AF378DEA-0177-AD86-7725-33F7FAB1D74D}"/>
              </a:ext>
            </a:extLst>
          </p:cNvPr>
          <p:cNvSpPr txBox="1"/>
          <p:nvPr/>
        </p:nvSpPr>
        <p:spPr>
          <a:xfrm>
            <a:off x="-1" y="-3261203"/>
            <a:ext cx="5371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0"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8" name="TextBox 27">
            <a:extLst>
              <a:ext uri="{FF2B5EF4-FFF2-40B4-BE49-F238E27FC236}">
                <a16:creationId xmlns:a16="http://schemas.microsoft.com/office/drawing/2014/main" id="{1CB2FC9E-2A5D-3031-7152-E2DA1F7B5C7F}"/>
              </a:ext>
            </a:extLst>
          </p:cNvPr>
          <p:cNvSpPr txBox="1"/>
          <p:nvPr/>
        </p:nvSpPr>
        <p:spPr>
          <a:xfrm>
            <a:off x="-1" y="-1637183"/>
            <a:ext cx="91358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5. Signal estimates appropriately (with a letter, transparency, dotted outline, diagonal lines)</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35" name="TextBox 34">
            <a:extLst>
              <a:ext uri="{FF2B5EF4-FFF2-40B4-BE49-F238E27FC236}">
                <a16:creationId xmlns:a16="http://schemas.microsoft.com/office/drawing/2014/main" id="{A92E962B-28CA-84BE-18D6-4509D0DD594F}"/>
              </a:ext>
            </a:extLst>
          </p:cNvPr>
          <p:cNvSpPr txBox="1"/>
          <p:nvPr/>
        </p:nvSpPr>
        <p:spPr>
          <a:xfrm>
            <a:off x="-1" y="-825173"/>
            <a:ext cx="31678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7. Build an appropriate legend</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39" name="TextBox 38">
            <a:extLst>
              <a:ext uri="{FF2B5EF4-FFF2-40B4-BE49-F238E27FC236}">
                <a16:creationId xmlns:a16="http://schemas.microsoft.com/office/drawing/2014/main" id="{4A4F0FFC-05E5-D673-6291-8C6AD18ACB94}"/>
              </a:ext>
            </a:extLst>
          </p:cNvPr>
          <p:cNvSpPr txBox="1"/>
          <p:nvPr/>
        </p:nvSpPr>
        <p:spPr>
          <a:xfrm>
            <a:off x="-1" y="-419171"/>
            <a:ext cx="15504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8. Build a title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40" name="TextBox 39">
            <a:extLst>
              <a:ext uri="{FF2B5EF4-FFF2-40B4-BE49-F238E27FC236}">
                <a16:creationId xmlns:a16="http://schemas.microsoft.com/office/drawing/2014/main" id="{FFB0CF11-D09F-2F52-1278-C2D485CB1855}"/>
              </a:ext>
            </a:extLst>
          </p:cNvPr>
          <p:cNvSpPr txBox="1"/>
          <p:nvPr/>
        </p:nvSpPr>
        <p:spPr>
          <a:xfrm>
            <a:off x="0" y="-1231178"/>
            <a:ext cx="45865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6. Build the second plot and repeat steps 4-6</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50" name="Group 49">
            <a:extLst>
              <a:ext uri="{FF2B5EF4-FFF2-40B4-BE49-F238E27FC236}">
                <a16:creationId xmlns:a16="http://schemas.microsoft.com/office/drawing/2014/main" id="{3F9F5789-9ABA-65EE-6190-3B4E9EFA2362}"/>
              </a:ext>
            </a:extLst>
          </p:cNvPr>
          <p:cNvGrpSpPr/>
          <p:nvPr/>
        </p:nvGrpSpPr>
        <p:grpSpPr>
          <a:xfrm>
            <a:off x="3413638" y="5834290"/>
            <a:ext cx="5364724" cy="317938"/>
            <a:chOff x="4078582" y="5799565"/>
            <a:chExt cx="5364724" cy="317938"/>
          </a:xfrm>
        </p:grpSpPr>
        <p:sp>
          <p:nvSpPr>
            <p:cNvPr id="29" name="TextBox 28">
              <a:extLst>
                <a:ext uri="{FF2B5EF4-FFF2-40B4-BE49-F238E27FC236}">
                  <a16:creationId xmlns:a16="http://schemas.microsoft.com/office/drawing/2014/main" id="{DFD37D72-6F91-D1AA-D8E1-1FEFFCFE2016}"/>
                </a:ext>
              </a:extLst>
            </p:cNvPr>
            <p:cNvSpPr txBox="1"/>
            <p:nvPr/>
          </p:nvSpPr>
          <p:spPr>
            <a:xfrm>
              <a:off x="8261572" y="5799565"/>
              <a:ext cx="118173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r>
                <a:rPr kumimoji="0" lang="pl-PL" sz="1400" b="0" i="0" u="none" strike="noStrike" kern="1200" cap="none" spc="0" normalizeH="0" baseline="0" noProof="0" dirty="0">
                  <a:ln>
                    <a:noFill/>
                  </a:ln>
                  <a:solidFill>
                    <a:prstClr val="black"/>
                  </a:solidFill>
                  <a:effectLst/>
                  <a:uLnTx/>
                  <a:uFillTx/>
                  <a:latin typeface="Yaldevi"/>
                  <a:ea typeface="+mn-ea"/>
                  <a:cs typeface="+mn-cs"/>
                </a:rPr>
                <a:t> - estimates</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47" name="Group 46">
              <a:extLst>
                <a:ext uri="{FF2B5EF4-FFF2-40B4-BE49-F238E27FC236}">
                  <a16:creationId xmlns:a16="http://schemas.microsoft.com/office/drawing/2014/main" id="{0A3BAE94-2902-12A3-E4B9-11141ADAB98C}"/>
                </a:ext>
              </a:extLst>
            </p:cNvPr>
            <p:cNvGrpSpPr/>
            <p:nvPr/>
          </p:nvGrpSpPr>
          <p:grpSpPr>
            <a:xfrm>
              <a:off x="4078582" y="5802469"/>
              <a:ext cx="4034836" cy="315034"/>
              <a:chOff x="5171492" y="5832949"/>
              <a:chExt cx="4034836" cy="315034"/>
            </a:xfrm>
          </p:grpSpPr>
          <p:grpSp>
            <p:nvGrpSpPr>
              <p:cNvPr id="38" name="Group 37">
                <a:extLst>
                  <a:ext uri="{FF2B5EF4-FFF2-40B4-BE49-F238E27FC236}">
                    <a16:creationId xmlns:a16="http://schemas.microsoft.com/office/drawing/2014/main" id="{81F27301-4361-EDEA-0888-7E33107955BD}"/>
                  </a:ext>
                </a:extLst>
              </p:cNvPr>
              <p:cNvGrpSpPr/>
              <p:nvPr/>
            </p:nvGrpSpPr>
            <p:grpSpPr>
              <a:xfrm>
                <a:off x="5171492" y="5840206"/>
                <a:ext cx="1849015" cy="307777"/>
                <a:chOff x="4349476" y="5859279"/>
                <a:chExt cx="1849015" cy="307777"/>
              </a:xfrm>
            </p:grpSpPr>
            <p:sp>
              <p:nvSpPr>
                <p:cNvPr id="34" name="Rectangle: Rounded Corners 33">
                  <a:extLst>
                    <a:ext uri="{FF2B5EF4-FFF2-40B4-BE49-F238E27FC236}">
                      <a16:creationId xmlns:a16="http://schemas.microsoft.com/office/drawing/2014/main" id="{B4A6AACE-1C5C-F067-9678-25713A871DFC}"/>
                    </a:ext>
                  </a:extLst>
                </p:cNvPr>
                <p:cNvSpPr/>
                <p:nvPr/>
              </p:nvSpPr>
              <p:spPr>
                <a:xfrm>
                  <a:off x="4349476" y="5892373"/>
                  <a:ext cx="218440" cy="218440"/>
                </a:xfrm>
                <a:prstGeom prst="roundRect">
                  <a:avLst>
                    <a:gd name="adj" fmla="val 1078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aldevi"/>
                    <a:ea typeface="+mn-ea"/>
                    <a:cs typeface="+mn-cs"/>
                  </a:endParaRPr>
                </a:p>
              </p:txBody>
            </p:sp>
            <p:sp>
              <p:nvSpPr>
                <p:cNvPr id="37" name="TextBox 36">
                  <a:extLst>
                    <a:ext uri="{FF2B5EF4-FFF2-40B4-BE49-F238E27FC236}">
                      <a16:creationId xmlns:a16="http://schemas.microsoft.com/office/drawing/2014/main" id="{823F2F20-6AC9-F5F6-20D1-140302FB4965}"/>
                    </a:ext>
                  </a:extLst>
                </p:cNvPr>
                <p:cNvSpPr txBox="1"/>
                <p:nvPr/>
              </p:nvSpPr>
              <p:spPr>
                <a:xfrm>
                  <a:off x="4567916" y="5859279"/>
                  <a:ext cx="163057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prstClr val="black"/>
                      </a:solidFill>
                      <a:effectLst/>
                      <a:uLnTx/>
                      <a:uFillTx/>
                      <a:latin typeface="Yaldevi"/>
                      <a:ea typeface="+mn-ea"/>
                      <a:cs typeface="+mn-cs"/>
                    </a:rPr>
                    <a:t>Total visitors [mln]</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grpSp>
            <p:nvGrpSpPr>
              <p:cNvPr id="46" name="Group 45">
                <a:extLst>
                  <a:ext uri="{FF2B5EF4-FFF2-40B4-BE49-F238E27FC236}">
                    <a16:creationId xmlns:a16="http://schemas.microsoft.com/office/drawing/2014/main" id="{33AB8EA8-755F-A876-51F5-FE94C5DC0CAB}"/>
                  </a:ext>
                </a:extLst>
              </p:cNvPr>
              <p:cNvGrpSpPr/>
              <p:nvPr/>
            </p:nvGrpSpPr>
            <p:grpSpPr>
              <a:xfrm>
                <a:off x="7238947" y="5832949"/>
                <a:ext cx="1967381" cy="307777"/>
                <a:chOff x="7161195" y="5832949"/>
                <a:chExt cx="1967381" cy="307777"/>
              </a:xfrm>
            </p:grpSpPr>
            <p:cxnSp>
              <p:nvCxnSpPr>
                <p:cNvPr id="42" name="Straight Connector 41">
                  <a:extLst>
                    <a:ext uri="{FF2B5EF4-FFF2-40B4-BE49-F238E27FC236}">
                      <a16:creationId xmlns:a16="http://schemas.microsoft.com/office/drawing/2014/main" id="{FFA48114-8628-3195-2478-08EA37E46A59}"/>
                    </a:ext>
                  </a:extLst>
                </p:cNvPr>
                <p:cNvCxnSpPr/>
                <p:nvPr/>
              </p:nvCxnSpPr>
              <p:spPr>
                <a:xfrm>
                  <a:off x="7161195" y="5994094"/>
                  <a:ext cx="508000" cy="0"/>
                </a:xfrm>
                <a:prstGeom prst="line">
                  <a:avLst/>
                </a:prstGeom>
                <a:ln w="76200" cap="rnd"/>
              </p:spPr>
              <p:style>
                <a:lnRef idx="2">
                  <a:schemeClr val="accent2"/>
                </a:lnRef>
                <a:fillRef idx="0">
                  <a:schemeClr val="accent2"/>
                </a:fillRef>
                <a:effectRef idx="1">
                  <a:schemeClr val="accent2"/>
                </a:effectRef>
                <a:fontRef idx="minor">
                  <a:schemeClr val="tx1"/>
                </a:fontRef>
              </p:style>
            </p:cxnSp>
            <p:sp>
              <p:nvSpPr>
                <p:cNvPr id="45" name="TextBox 44">
                  <a:extLst>
                    <a:ext uri="{FF2B5EF4-FFF2-40B4-BE49-F238E27FC236}">
                      <a16:creationId xmlns:a16="http://schemas.microsoft.com/office/drawing/2014/main" id="{67935F68-F037-ECC2-EBB1-F0E9C1D1FC80}"/>
                    </a:ext>
                  </a:extLst>
                </p:cNvPr>
                <p:cNvSpPr txBox="1"/>
                <p:nvPr/>
              </p:nvSpPr>
              <p:spPr>
                <a:xfrm>
                  <a:off x="7703186" y="5832949"/>
                  <a:ext cx="1425390" cy="307777"/>
                </a:xfrm>
                <a:prstGeom prst="rect">
                  <a:avLst/>
                </a:prstGeom>
                <a:noFill/>
                <a:effectLst/>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prstClr val="black"/>
                      </a:solidFill>
                      <a:effectLst/>
                      <a:uLnTx/>
                      <a:uFillTx/>
                      <a:latin typeface="Yaldevi"/>
                      <a:ea typeface="+mn-ea"/>
                      <a:cs typeface="+mn-cs"/>
                    </a:rPr>
                    <a:t>Change [%,YoY]</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grpSp>
      </p:grpSp>
      <p:sp>
        <p:nvSpPr>
          <p:cNvPr id="48" name="Rectangle 47">
            <a:extLst>
              <a:ext uri="{FF2B5EF4-FFF2-40B4-BE49-F238E27FC236}">
                <a16:creationId xmlns:a16="http://schemas.microsoft.com/office/drawing/2014/main" id="{1E5E5479-D1F6-A1EB-C7DF-D442BE0C5AED}"/>
              </a:ext>
            </a:extLst>
          </p:cNvPr>
          <p:cNvSpPr/>
          <p:nvPr/>
        </p:nvSpPr>
        <p:spPr>
          <a:xfrm>
            <a:off x="9772530" y="1668455"/>
            <a:ext cx="630676" cy="35082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49" name="Rectangle 48">
            <a:extLst>
              <a:ext uri="{FF2B5EF4-FFF2-40B4-BE49-F238E27FC236}">
                <a16:creationId xmlns:a16="http://schemas.microsoft.com/office/drawing/2014/main" id="{2AEDCB5A-B9A5-A925-C831-CC64EFA278B3}"/>
              </a:ext>
            </a:extLst>
          </p:cNvPr>
          <p:cNvSpPr/>
          <p:nvPr/>
        </p:nvSpPr>
        <p:spPr>
          <a:xfrm>
            <a:off x="1347177" y="1517543"/>
            <a:ext cx="630676" cy="3802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grpSp>
        <p:nvGrpSpPr>
          <p:cNvPr id="55" name="Group 54">
            <a:extLst>
              <a:ext uri="{FF2B5EF4-FFF2-40B4-BE49-F238E27FC236}">
                <a16:creationId xmlns:a16="http://schemas.microsoft.com/office/drawing/2014/main" id="{83430C2F-C574-E8A8-EDD7-CBC5A8BE39EB}"/>
              </a:ext>
            </a:extLst>
          </p:cNvPr>
          <p:cNvGrpSpPr/>
          <p:nvPr/>
        </p:nvGrpSpPr>
        <p:grpSpPr>
          <a:xfrm>
            <a:off x="10220959" y="6552481"/>
            <a:ext cx="1834743" cy="182247"/>
            <a:chOff x="7389752" y="1384446"/>
            <a:chExt cx="3016868" cy="299669"/>
          </a:xfrm>
          <a:solidFill>
            <a:schemeClr val="accent6"/>
          </a:solidFill>
        </p:grpSpPr>
        <p:sp>
          <p:nvSpPr>
            <p:cNvPr id="56" name="TextBox 55">
              <a:extLst>
                <a:ext uri="{FF2B5EF4-FFF2-40B4-BE49-F238E27FC236}">
                  <a16:creationId xmlns:a16="http://schemas.microsoft.com/office/drawing/2014/main" id="{5EE22F98-E702-0BB6-A2FA-D23329E32FB9}"/>
                </a:ext>
              </a:extLst>
            </p:cNvPr>
            <p:cNvSpPr txBox="1"/>
            <p:nvPr/>
          </p:nvSpPr>
          <p:spPr>
            <a:xfrm>
              <a:off x="7798522" y="1403919"/>
              <a:ext cx="2608098" cy="255727"/>
            </a:xfrm>
            <a:custGeom>
              <a:avLst/>
              <a:gdLst/>
              <a:ahLst/>
              <a:cxnLst/>
              <a:rect l="l" t="t" r="r" b="b"/>
              <a:pathLst>
                <a:path w="2608098" h="255727">
                  <a:moveTo>
                    <a:pt x="858622" y="171907"/>
                  </a:moveTo>
                  <a:cubicBezTo>
                    <a:pt x="849477" y="171907"/>
                    <a:pt x="842010" y="173126"/>
                    <a:pt x="836219" y="175565"/>
                  </a:cubicBezTo>
                  <a:cubicBezTo>
                    <a:pt x="830427" y="178003"/>
                    <a:pt x="826211" y="181458"/>
                    <a:pt x="823569" y="185928"/>
                  </a:cubicBezTo>
                  <a:cubicBezTo>
                    <a:pt x="820928" y="190398"/>
                    <a:pt x="819607" y="195885"/>
                    <a:pt x="819607" y="202387"/>
                  </a:cubicBezTo>
                  <a:cubicBezTo>
                    <a:pt x="819607" y="210109"/>
                    <a:pt x="821741" y="216103"/>
                    <a:pt x="826008" y="220370"/>
                  </a:cubicBezTo>
                  <a:cubicBezTo>
                    <a:pt x="830275" y="224638"/>
                    <a:pt x="835965" y="226771"/>
                    <a:pt x="843077" y="226771"/>
                  </a:cubicBezTo>
                  <a:cubicBezTo>
                    <a:pt x="848970" y="226771"/>
                    <a:pt x="854151" y="225450"/>
                    <a:pt x="858622" y="222809"/>
                  </a:cubicBezTo>
                  <a:cubicBezTo>
                    <a:pt x="863092" y="220167"/>
                    <a:pt x="866648" y="215951"/>
                    <a:pt x="869290" y="210160"/>
                  </a:cubicBezTo>
                  <a:cubicBezTo>
                    <a:pt x="871931" y="204368"/>
                    <a:pt x="873252" y="196799"/>
                    <a:pt x="873252" y="187452"/>
                  </a:cubicBezTo>
                  <a:lnTo>
                    <a:pt x="873252" y="172333"/>
                  </a:lnTo>
                  <a:close/>
                  <a:moveTo>
                    <a:pt x="2216963" y="103022"/>
                  </a:moveTo>
                  <a:cubicBezTo>
                    <a:pt x="2209038" y="103022"/>
                    <a:pt x="2202078" y="105461"/>
                    <a:pt x="2196084" y="110338"/>
                  </a:cubicBezTo>
                  <a:cubicBezTo>
                    <a:pt x="2190090" y="115214"/>
                    <a:pt x="2185518" y="122276"/>
                    <a:pt x="2182368" y="131521"/>
                  </a:cubicBezTo>
                  <a:cubicBezTo>
                    <a:pt x="2179218" y="140767"/>
                    <a:pt x="2177644" y="151892"/>
                    <a:pt x="2177644" y="164897"/>
                  </a:cubicBezTo>
                  <a:cubicBezTo>
                    <a:pt x="2177644" y="177902"/>
                    <a:pt x="2179168" y="188976"/>
                    <a:pt x="2182216" y="198120"/>
                  </a:cubicBezTo>
                  <a:cubicBezTo>
                    <a:pt x="2185264" y="207264"/>
                    <a:pt x="2189734" y="214274"/>
                    <a:pt x="2195627" y="219151"/>
                  </a:cubicBezTo>
                  <a:cubicBezTo>
                    <a:pt x="2201520" y="224028"/>
                    <a:pt x="2208428" y="226466"/>
                    <a:pt x="2216353" y="226466"/>
                  </a:cubicBezTo>
                  <a:cubicBezTo>
                    <a:pt x="2224684" y="226466"/>
                    <a:pt x="2231796" y="224079"/>
                    <a:pt x="2237689" y="219304"/>
                  </a:cubicBezTo>
                  <a:cubicBezTo>
                    <a:pt x="2243582" y="214528"/>
                    <a:pt x="2248052" y="207518"/>
                    <a:pt x="2251100" y="198272"/>
                  </a:cubicBezTo>
                  <a:cubicBezTo>
                    <a:pt x="2254148" y="189027"/>
                    <a:pt x="2255672" y="178105"/>
                    <a:pt x="2255672" y="165506"/>
                  </a:cubicBezTo>
                  <a:cubicBezTo>
                    <a:pt x="2255672" y="152298"/>
                    <a:pt x="2254148" y="141021"/>
                    <a:pt x="2251100" y="131674"/>
                  </a:cubicBezTo>
                  <a:cubicBezTo>
                    <a:pt x="2248052" y="122326"/>
                    <a:pt x="2243633" y="115214"/>
                    <a:pt x="2237842" y="110338"/>
                  </a:cubicBezTo>
                  <a:cubicBezTo>
                    <a:pt x="2232050" y="105461"/>
                    <a:pt x="2225091" y="103022"/>
                    <a:pt x="2216963" y="103022"/>
                  </a:cubicBezTo>
                  <a:close/>
                  <a:moveTo>
                    <a:pt x="1702613" y="103022"/>
                  </a:moveTo>
                  <a:cubicBezTo>
                    <a:pt x="1694688" y="103022"/>
                    <a:pt x="1687728" y="105461"/>
                    <a:pt x="1681734" y="110338"/>
                  </a:cubicBezTo>
                  <a:cubicBezTo>
                    <a:pt x="1675739" y="115214"/>
                    <a:pt x="1671167" y="122276"/>
                    <a:pt x="1668018" y="131521"/>
                  </a:cubicBezTo>
                  <a:cubicBezTo>
                    <a:pt x="1664868" y="140767"/>
                    <a:pt x="1663294" y="151892"/>
                    <a:pt x="1663294" y="164897"/>
                  </a:cubicBezTo>
                  <a:cubicBezTo>
                    <a:pt x="1663294" y="177902"/>
                    <a:pt x="1664817" y="188976"/>
                    <a:pt x="1667866" y="198120"/>
                  </a:cubicBezTo>
                  <a:cubicBezTo>
                    <a:pt x="1670913" y="207264"/>
                    <a:pt x="1675384" y="214274"/>
                    <a:pt x="1681277" y="219151"/>
                  </a:cubicBezTo>
                  <a:cubicBezTo>
                    <a:pt x="1687169" y="224028"/>
                    <a:pt x="1694078" y="226466"/>
                    <a:pt x="1702003" y="226466"/>
                  </a:cubicBezTo>
                  <a:cubicBezTo>
                    <a:pt x="1710334" y="226466"/>
                    <a:pt x="1717446" y="224079"/>
                    <a:pt x="1723339" y="219304"/>
                  </a:cubicBezTo>
                  <a:cubicBezTo>
                    <a:pt x="1729232" y="214528"/>
                    <a:pt x="1733702" y="207518"/>
                    <a:pt x="1736750" y="198272"/>
                  </a:cubicBezTo>
                  <a:cubicBezTo>
                    <a:pt x="1739798" y="189027"/>
                    <a:pt x="1741322" y="178105"/>
                    <a:pt x="1741322" y="165506"/>
                  </a:cubicBezTo>
                  <a:cubicBezTo>
                    <a:pt x="1741322" y="152298"/>
                    <a:pt x="1739798" y="141021"/>
                    <a:pt x="1736750" y="131674"/>
                  </a:cubicBezTo>
                  <a:cubicBezTo>
                    <a:pt x="1733702" y="122326"/>
                    <a:pt x="1729283" y="115214"/>
                    <a:pt x="1723492" y="110338"/>
                  </a:cubicBezTo>
                  <a:cubicBezTo>
                    <a:pt x="1717700" y="105461"/>
                    <a:pt x="1710741" y="103022"/>
                    <a:pt x="1702613" y="103022"/>
                  </a:cubicBezTo>
                  <a:close/>
                  <a:moveTo>
                    <a:pt x="435788" y="103022"/>
                  </a:moveTo>
                  <a:cubicBezTo>
                    <a:pt x="427863" y="103022"/>
                    <a:pt x="420903" y="105461"/>
                    <a:pt x="414909" y="110338"/>
                  </a:cubicBezTo>
                  <a:cubicBezTo>
                    <a:pt x="408915" y="115214"/>
                    <a:pt x="404343" y="122276"/>
                    <a:pt x="401193" y="131521"/>
                  </a:cubicBezTo>
                  <a:cubicBezTo>
                    <a:pt x="398043" y="140767"/>
                    <a:pt x="396469" y="151892"/>
                    <a:pt x="396469" y="164897"/>
                  </a:cubicBezTo>
                  <a:cubicBezTo>
                    <a:pt x="396469" y="177902"/>
                    <a:pt x="397993" y="188976"/>
                    <a:pt x="401041" y="198120"/>
                  </a:cubicBezTo>
                  <a:cubicBezTo>
                    <a:pt x="404089" y="207264"/>
                    <a:pt x="408559" y="214274"/>
                    <a:pt x="414452" y="219151"/>
                  </a:cubicBezTo>
                  <a:cubicBezTo>
                    <a:pt x="420345" y="224028"/>
                    <a:pt x="427253" y="226466"/>
                    <a:pt x="435178" y="226466"/>
                  </a:cubicBezTo>
                  <a:cubicBezTo>
                    <a:pt x="443509" y="226466"/>
                    <a:pt x="450621" y="224079"/>
                    <a:pt x="456514" y="219304"/>
                  </a:cubicBezTo>
                  <a:cubicBezTo>
                    <a:pt x="462407" y="214528"/>
                    <a:pt x="466877" y="207518"/>
                    <a:pt x="469926" y="198272"/>
                  </a:cubicBezTo>
                  <a:cubicBezTo>
                    <a:pt x="472973" y="189027"/>
                    <a:pt x="474497" y="178105"/>
                    <a:pt x="474497" y="165506"/>
                  </a:cubicBezTo>
                  <a:cubicBezTo>
                    <a:pt x="474497" y="152298"/>
                    <a:pt x="472973" y="141021"/>
                    <a:pt x="469926" y="131674"/>
                  </a:cubicBezTo>
                  <a:cubicBezTo>
                    <a:pt x="466877" y="122326"/>
                    <a:pt x="462458" y="115214"/>
                    <a:pt x="456667" y="110338"/>
                  </a:cubicBezTo>
                  <a:cubicBezTo>
                    <a:pt x="450875" y="105461"/>
                    <a:pt x="443916" y="103022"/>
                    <a:pt x="435788" y="103022"/>
                  </a:cubicBezTo>
                  <a:close/>
                  <a:moveTo>
                    <a:pt x="1167079" y="101803"/>
                  </a:moveTo>
                  <a:cubicBezTo>
                    <a:pt x="1156106" y="101803"/>
                    <a:pt x="1147216" y="107188"/>
                    <a:pt x="1140409" y="117958"/>
                  </a:cubicBezTo>
                  <a:cubicBezTo>
                    <a:pt x="1137006" y="123342"/>
                    <a:pt x="1134453" y="129921"/>
                    <a:pt x="1132751" y="137693"/>
                  </a:cubicBezTo>
                  <a:lnTo>
                    <a:pt x="1131327" y="147032"/>
                  </a:lnTo>
                  <a:lnTo>
                    <a:pt x="1198778" y="146304"/>
                  </a:lnTo>
                  <a:cubicBezTo>
                    <a:pt x="1198778" y="139802"/>
                    <a:pt x="1198118" y="133858"/>
                    <a:pt x="1196797" y="128473"/>
                  </a:cubicBezTo>
                  <a:cubicBezTo>
                    <a:pt x="1195476" y="123088"/>
                    <a:pt x="1193546" y="118415"/>
                    <a:pt x="1191006" y="114452"/>
                  </a:cubicBezTo>
                  <a:cubicBezTo>
                    <a:pt x="1188466" y="110490"/>
                    <a:pt x="1185215" y="107391"/>
                    <a:pt x="1181252" y="105156"/>
                  </a:cubicBezTo>
                  <a:cubicBezTo>
                    <a:pt x="1177290" y="102921"/>
                    <a:pt x="1172566" y="101803"/>
                    <a:pt x="1167079" y="101803"/>
                  </a:cubicBezTo>
                  <a:close/>
                  <a:moveTo>
                    <a:pt x="271729" y="101803"/>
                  </a:moveTo>
                  <a:cubicBezTo>
                    <a:pt x="260756" y="101803"/>
                    <a:pt x="251867" y="107188"/>
                    <a:pt x="245059" y="117958"/>
                  </a:cubicBezTo>
                  <a:cubicBezTo>
                    <a:pt x="241656" y="123342"/>
                    <a:pt x="239103" y="129921"/>
                    <a:pt x="237401" y="137693"/>
                  </a:cubicBezTo>
                  <a:lnTo>
                    <a:pt x="235977" y="147032"/>
                  </a:lnTo>
                  <a:lnTo>
                    <a:pt x="303428" y="146304"/>
                  </a:lnTo>
                  <a:cubicBezTo>
                    <a:pt x="303428" y="139802"/>
                    <a:pt x="302768" y="133858"/>
                    <a:pt x="301447" y="128473"/>
                  </a:cubicBezTo>
                  <a:cubicBezTo>
                    <a:pt x="300126" y="123088"/>
                    <a:pt x="298196" y="118415"/>
                    <a:pt x="295656" y="114452"/>
                  </a:cubicBezTo>
                  <a:cubicBezTo>
                    <a:pt x="293116" y="110490"/>
                    <a:pt x="289865" y="107391"/>
                    <a:pt x="285902" y="105156"/>
                  </a:cubicBezTo>
                  <a:cubicBezTo>
                    <a:pt x="281940" y="102921"/>
                    <a:pt x="277216" y="101803"/>
                    <a:pt x="271729" y="101803"/>
                  </a:cubicBezTo>
                  <a:close/>
                  <a:moveTo>
                    <a:pt x="1999716" y="78029"/>
                  </a:moveTo>
                  <a:lnTo>
                    <a:pt x="2118284" y="78029"/>
                  </a:lnTo>
                  <a:lnTo>
                    <a:pt x="2118284" y="97231"/>
                  </a:lnTo>
                  <a:lnTo>
                    <a:pt x="2039340" y="224942"/>
                  </a:lnTo>
                  <a:lnTo>
                    <a:pt x="2119503" y="225247"/>
                  </a:lnTo>
                  <a:lnTo>
                    <a:pt x="2119503" y="251460"/>
                  </a:lnTo>
                  <a:lnTo>
                    <a:pt x="1997583" y="251460"/>
                  </a:lnTo>
                  <a:lnTo>
                    <a:pt x="1997278" y="232867"/>
                  </a:lnTo>
                  <a:lnTo>
                    <a:pt x="2075612" y="104242"/>
                  </a:lnTo>
                  <a:lnTo>
                    <a:pt x="2000021" y="104242"/>
                  </a:lnTo>
                  <a:close/>
                  <a:moveTo>
                    <a:pt x="1923440" y="78029"/>
                  </a:moveTo>
                  <a:lnTo>
                    <a:pt x="1959407" y="78029"/>
                  </a:lnTo>
                  <a:lnTo>
                    <a:pt x="1959407" y="251460"/>
                  </a:lnTo>
                  <a:lnTo>
                    <a:pt x="1923440" y="251460"/>
                  </a:lnTo>
                  <a:close/>
                  <a:moveTo>
                    <a:pt x="929945" y="78029"/>
                  </a:moveTo>
                  <a:lnTo>
                    <a:pt x="966825" y="78029"/>
                  </a:lnTo>
                  <a:lnTo>
                    <a:pt x="1009379" y="202979"/>
                  </a:lnTo>
                  <a:lnTo>
                    <a:pt x="1052474" y="78029"/>
                  </a:lnTo>
                  <a:lnTo>
                    <a:pt x="1087526" y="78029"/>
                  </a:lnTo>
                  <a:lnTo>
                    <a:pt x="1025957" y="251460"/>
                  </a:lnTo>
                  <a:lnTo>
                    <a:pt x="990905" y="251460"/>
                  </a:lnTo>
                  <a:close/>
                  <a:moveTo>
                    <a:pt x="2554453" y="73762"/>
                  </a:moveTo>
                  <a:cubicBezTo>
                    <a:pt x="2565222" y="73762"/>
                    <a:pt x="2575636" y="76098"/>
                    <a:pt x="2585695" y="80772"/>
                  </a:cubicBezTo>
                  <a:cubicBezTo>
                    <a:pt x="2595753" y="85446"/>
                    <a:pt x="2603221" y="93167"/>
                    <a:pt x="2608098" y="103937"/>
                  </a:cubicBezTo>
                  <a:lnTo>
                    <a:pt x="2584628" y="117653"/>
                  </a:lnTo>
                  <a:cubicBezTo>
                    <a:pt x="2581580" y="111963"/>
                    <a:pt x="2577262" y="107747"/>
                    <a:pt x="2571674" y="105004"/>
                  </a:cubicBezTo>
                  <a:cubicBezTo>
                    <a:pt x="2566086" y="102260"/>
                    <a:pt x="2560650" y="100889"/>
                    <a:pt x="2555367" y="100889"/>
                  </a:cubicBezTo>
                  <a:cubicBezTo>
                    <a:pt x="2551303" y="100889"/>
                    <a:pt x="2547493" y="101702"/>
                    <a:pt x="2543937" y="103327"/>
                  </a:cubicBezTo>
                  <a:cubicBezTo>
                    <a:pt x="2540381" y="104953"/>
                    <a:pt x="2537485" y="107290"/>
                    <a:pt x="2535250" y="110338"/>
                  </a:cubicBezTo>
                  <a:cubicBezTo>
                    <a:pt x="2533015" y="113386"/>
                    <a:pt x="2531898" y="117246"/>
                    <a:pt x="2531898" y="121920"/>
                  </a:cubicBezTo>
                  <a:cubicBezTo>
                    <a:pt x="2531898" y="127203"/>
                    <a:pt x="2533726" y="131623"/>
                    <a:pt x="2537384" y="135179"/>
                  </a:cubicBezTo>
                  <a:cubicBezTo>
                    <a:pt x="2541042" y="138735"/>
                    <a:pt x="2545766" y="141884"/>
                    <a:pt x="2551557" y="144628"/>
                  </a:cubicBezTo>
                  <a:cubicBezTo>
                    <a:pt x="2557348" y="147371"/>
                    <a:pt x="2563444" y="150216"/>
                    <a:pt x="2569845" y="153162"/>
                  </a:cubicBezTo>
                  <a:cubicBezTo>
                    <a:pt x="2576246" y="156108"/>
                    <a:pt x="2582291" y="159614"/>
                    <a:pt x="2587981" y="163678"/>
                  </a:cubicBezTo>
                  <a:cubicBezTo>
                    <a:pt x="2593670" y="167742"/>
                    <a:pt x="2598344" y="172822"/>
                    <a:pt x="2602001" y="178918"/>
                  </a:cubicBezTo>
                  <a:cubicBezTo>
                    <a:pt x="2605659" y="185014"/>
                    <a:pt x="2607488" y="192735"/>
                    <a:pt x="2607488" y="202082"/>
                  </a:cubicBezTo>
                  <a:cubicBezTo>
                    <a:pt x="2607488" y="213665"/>
                    <a:pt x="2604643" y="223469"/>
                    <a:pt x="2598954" y="231496"/>
                  </a:cubicBezTo>
                  <a:cubicBezTo>
                    <a:pt x="2593264" y="239522"/>
                    <a:pt x="2585847" y="245567"/>
                    <a:pt x="2576703" y="249631"/>
                  </a:cubicBezTo>
                  <a:cubicBezTo>
                    <a:pt x="2567559" y="253695"/>
                    <a:pt x="2557602" y="255727"/>
                    <a:pt x="2546832" y="255727"/>
                  </a:cubicBezTo>
                  <a:cubicBezTo>
                    <a:pt x="2537282" y="255727"/>
                    <a:pt x="2527528" y="254102"/>
                    <a:pt x="2517572" y="250850"/>
                  </a:cubicBezTo>
                  <a:cubicBezTo>
                    <a:pt x="2507615" y="247599"/>
                    <a:pt x="2498471" y="242722"/>
                    <a:pt x="2490140" y="236220"/>
                  </a:cubicBezTo>
                  <a:lnTo>
                    <a:pt x="2503551" y="214274"/>
                  </a:lnTo>
                  <a:cubicBezTo>
                    <a:pt x="2509850" y="218542"/>
                    <a:pt x="2516708" y="221844"/>
                    <a:pt x="2524125" y="224180"/>
                  </a:cubicBezTo>
                  <a:cubicBezTo>
                    <a:pt x="2531542" y="226517"/>
                    <a:pt x="2538603" y="227686"/>
                    <a:pt x="2545308" y="227686"/>
                  </a:cubicBezTo>
                  <a:cubicBezTo>
                    <a:pt x="2552624" y="227686"/>
                    <a:pt x="2558872" y="225755"/>
                    <a:pt x="2564054" y="221894"/>
                  </a:cubicBezTo>
                  <a:cubicBezTo>
                    <a:pt x="2569235" y="218034"/>
                    <a:pt x="2571826" y="212242"/>
                    <a:pt x="2571826" y="204521"/>
                  </a:cubicBezTo>
                  <a:cubicBezTo>
                    <a:pt x="2571826" y="198831"/>
                    <a:pt x="2569998" y="194208"/>
                    <a:pt x="2566340" y="190652"/>
                  </a:cubicBezTo>
                  <a:cubicBezTo>
                    <a:pt x="2562682" y="187096"/>
                    <a:pt x="2557958" y="183896"/>
                    <a:pt x="2552166" y="181051"/>
                  </a:cubicBezTo>
                  <a:cubicBezTo>
                    <a:pt x="2546376" y="178206"/>
                    <a:pt x="2540330" y="175311"/>
                    <a:pt x="2534031" y="172364"/>
                  </a:cubicBezTo>
                  <a:cubicBezTo>
                    <a:pt x="2527732" y="169418"/>
                    <a:pt x="2521687" y="165913"/>
                    <a:pt x="2515896" y="161849"/>
                  </a:cubicBezTo>
                  <a:cubicBezTo>
                    <a:pt x="2510104" y="157785"/>
                    <a:pt x="2505380" y="152603"/>
                    <a:pt x="2501722" y="146304"/>
                  </a:cubicBezTo>
                  <a:cubicBezTo>
                    <a:pt x="2498065" y="140005"/>
                    <a:pt x="2496236" y="131978"/>
                    <a:pt x="2496236" y="122225"/>
                  </a:cubicBezTo>
                  <a:cubicBezTo>
                    <a:pt x="2496236" y="112065"/>
                    <a:pt x="2499030" y="103327"/>
                    <a:pt x="2504618" y="96012"/>
                  </a:cubicBezTo>
                  <a:cubicBezTo>
                    <a:pt x="2510206" y="88697"/>
                    <a:pt x="2517470" y="83160"/>
                    <a:pt x="2526411" y="79400"/>
                  </a:cubicBezTo>
                  <a:cubicBezTo>
                    <a:pt x="2535352" y="75641"/>
                    <a:pt x="2544699" y="73762"/>
                    <a:pt x="2554453" y="73762"/>
                  </a:cubicBezTo>
                  <a:close/>
                  <a:moveTo>
                    <a:pt x="2406091" y="73762"/>
                  </a:moveTo>
                  <a:cubicBezTo>
                    <a:pt x="2415845" y="73762"/>
                    <a:pt x="2424532" y="75997"/>
                    <a:pt x="2432152" y="80467"/>
                  </a:cubicBezTo>
                  <a:cubicBezTo>
                    <a:pt x="2439772" y="84938"/>
                    <a:pt x="2445766" y="91592"/>
                    <a:pt x="2450135" y="100432"/>
                  </a:cubicBezTo>
                  <a:cubicBezTo>
                    <a:pt x="2454504" y="109271"/>
                    <a:pt x="2456688" y="120294"/>
                    <a:pt x="2456688" y="133502"/>
                  </a:cubicBezTo>
                  <a:lnTo>
                    <a:pt x="2456688" y="251460"/>
                  </a:lnTo>
                  <a:lnTo>
                    <a:pt x="2420722" y="251460"/>
                  </a:lnTo>
                  <a:lnTo>
                    <a:pt x="2420722" y="137160"/>
                  </a:lnTo>
                  <a:cubicBezTo>
                    <a:pt x="2420722" y="126390"/>
                    <a:pt x="2418486" y="117907"/>
                    <a:pt x="2414016" y="111709"/>
                  </a:cubicBezTo>
                  <a:cubicBezTo>
                    <a:pt x="2409545" y="105512"/>
                    <a:pt x="2403348" y="102413"/>
                    <a:pt x="2395423" y="102413"/>
                  </a:cubicBezTo>
                  <a:cubicBezTo>
                    <a:pt x="2389327" y="102413"/>
                    <a:pt x="2383536" y="104394"/>
                    <a:pt x="2378050" y="108356"/>
                  </a:cubicBezTo>
                  <a:cubicBezTo>
                    <a:pt x="2372563" y="112319"/>
                    <a:pt x="2368093" y="118466"/>
                    <a:pt x="2364638" y="126797"/>
                  </a:cubicBezTo>
                  <a:cubicBezTo>
                    <a:pt x="2361184" y="135128"/>
                    <a:pt x="2359457" y="145999"/>
                    <a:pt x="2359457" y="159410"/>
                  </a:cubicBezTo>
                  <a:lnTo>
                    <a:pt x="2359457" y="251460"/>
                  </a:lnTo>
                  <a:lnTo>
                    <a:pt x="2323186" y="251460"/>
                  </a:lnTo>
                  <a:lnTo>
                    <a:pt x="2323186" y="78029"/>
                  </a:lnTo>
                  <a:lnTo>
                    <a:pt x="2357628" y="78029"/>
                  </a:lnTo>
                  <a:lnTo>
                    <a:pt x="2358374" y="102502"/>
                  </a:lnTo>
                  <a:lnTo>
                    <a:pt x="2370734" y="87173"/>
                  </a:lnTo>
                  <a:cubicBezTo>
                    <a:pt x="2381301" y="78232"/>
                    <a:pt x="2393086" y="73762"/>
                    <a:pt x="2406091" y="73762"/>
                  </a:cubicBezTo>
                  <a:close/>
                  <a:moveTo>
                    <a:pt x="2217877" y="73762"/>
                  </a:moveTo>
                  <a:cubicBezTo>
                    <a:pt x="2234540" y="73762"/>
                    <a:pt x="2248408" y="77521"/>
                    <a:pt x="2259482" y="85039"/>
                  </a:cubicBezTo>
                  <a:cubicBezTo>
                    <a:pt x="2270557" y="92558"/>
                    <a:pt x="2278888" y="103175"/>
                    <a:pt x="2284476" y="116891"/>
                  </a:cubicBezTo>
                  <a:cubicBezTo>
                    <a:pt x="2290064" y="130607"/>
                    <a:pt x="2292858" y="146609"/>
                    <a:pt x="2292858" y="164897"/>
                  </a:cubicBezTo>
                  <a:cubicBezTo>
                    <a:pt x="2292858" y="183388"/>
                    <a:pt x="2289810" y="199492"/>
                    <a:pt x="2283714" y="213208"/>
                  </a:cubicBezTo>
                  <a:cubicBezTo>
                    <a:pt x="2277618" y="226924"/>
                    <a:pt x="2268830" y="237439"/>
                    <a:pt x="2257349" y="244754"/>
                  </a:cubicBezTo>
                  <a:cubicBezTo>
                    <a:pt x="2245868" y="252070"/>
                    <a:pt x="2231898" y="255727"/>
                    <a:pt x="2215439" y="255727"/>
                  </a:cubicBezTo>
                  <a:cubicBezTo>
                    <a:pt x="2198776" y="255727"/>
                    <a:pt x="2184908" y="251917"/>
                    <a:pt x="2173834" y="244297"/>
                  </a:cubicBezTo>
                  <a:cubicBezTo>
                    <a:pt x="2162759" y="236677"/>
                    <a:pt x="2154478" y="226111"/>
                    <a:pt x="2148992" y="212598"/>
                  </a:cubicBezTo>
                  <a:cubicBezTo>
                    <a:pt x="2143506" y="199085"/>
                    <a:pt x="2140762" y="183388"/>
                    <a:pt x="2140763" y="165506"/>
                  </a:cubicBezTo>
                  <a:cubicBezTo>
                    <a:pt x="2140762" y="147015"/>
                    <a:pt x="2143810" y="130861"/>
                    <a:pt x="2149907" y="117043"/>
                  </a:cubicBezTo>
                  <a:cubicBezTo>
                    <a:pt x="2156002" y="103226"/>
                    <a:pt x="2164842" y="92558"/>
                    <a:pt x="2176424" y="85039"/>
                  </a:cubicBezTo>
                  <a:cubicBezTo>
                    <a:pt x="2188006" y="77521"/>
                    <a:pt x="2201824" y="73762"/>
                    <a:pt x="2217877" y="73762"/>
                  </a:cubicBezTo>
                  <a:close/>
                  <a:moveTo>
                    <a:pt x="1890217" y="73762"/>
                  </a:moveTo>
                  <a:cubicBezTo>
                    <a:pt x="1891842" y="73762"/>
                    <a:pt x="1893418" y="73762"/>
                    <a:pt x="1894942" y="73762"/>
                  </a:cubicBezTo>
                  <a:cubicBezTo>
                    <a:pt x="1896466" y="73762"/>
                    <a:pt x="1898040" y="73965"/>
                    <a:pt x="1899666" y="74371"/>
                  </a:cubicBezTo>
                  <a:lnTo>
                    <a:pt x="1895704" y="110338"/>
                  </a:lnTo>
                  <a:cubicBezTo>
                    <a:pt x="1890420" y="108102"/>
                    <a:pt x="1885340" y="106985"/>
                    <a:pt x="1880464" y="106985"/>
                  </a:cubicBezTo>
                  <a:cubicBezTo>
                    <a:pt x="1873554" y="106985"/>
                    <a:pt x="1867408" y="109118"/>
                    <a:pt x="1862023" y="113386"/>
                  </a:cubicBezTo>
                  <a:cubicBezTo>
                    <a:pt x="1856638" y="117653"/>
                    <a:pt x="1852473" y="123647"/>
                    <a:pt x="1849526" y="131369"/>
                  </a:cubicBezTo>
                  <a:cubicBezTo>
                    <a:pt x="1846580" y="139090"/>
                    <a:pt x="1845107" y="148234"/>
                    <a:pt x="1845107" y="158801"/>
                  </a:cubicBezTo>
                  <a:lnTo>
                    <a:pt x="1845107" y="251460"/>
                  </a:lnTo>
                  <a:lnTo>
                    <a:pt x="1809140" y="251460"/>
                  </a:lnTo>
                  <a:lnTo>
                    <a:pt x="1809140" y="76810"/>
                  </a:lnTo>
                  <a:lnTo>
                    <a:pt x="1842973" y="76810"/>
                  </a:lnTo>
                  <a:lnTo>
                    <a:pt x="1844225" y="106852"/>
                  </a:lnTo>
                  <a:lnTo>
                    <a:pt x="1844764" y="105232"/>
                  </a:lnTo>
                  <a:cubicBezTo>
                    <a:pt x="1847888" y="98577"/>
                    <a:pt x="1851609" y="92862"/>
                    <a:pt x="1855927" y="88087"/>
                  </a:cubicBezTo>
                  <a:cubicBezTo>
                    <a:pt x="1864563" y="78537"/>
                    <a:pt x="1875993" y="73762"/>
                    <a:pt x="1890217" y="73762"/>
                  </a:cubicBezTo>
                  <a:close/>
                  <a:moveTo>
                    <a:pt x="1703527" y="73762"/>
                  </a:moveTo>
                  <a:cubicBezTo>
                    <a:pt x="1720190" y="73762"/>
                    <a:pt x="1734058" y="77521"/>
                    <a:pt x="1745132" y="85039"/>
                  </a:cubicBezTo>
                  <a:cubicBezTo>
                    <a:pt x="1756207" y="92558"/>
                    <a:pt x="1764538" y="103175"/>
                    <a:pt x="1770126" y="116891"/>
                  </a:cubicBezTo>
                  <a:cubicBezTo>
                    <a:pt x="1775714" y="130607"/>
                    <a:pt x="1778508" y="146609"/>
                    <a:pt x="1778508" y="164897"/>
                  </a:cubicBezTo>
                  <a:cubicBezTo>
                    <a:pt x="1778508" y="183388"/>
                    <a:pt x="1775460" y="199492"/>
                    <a:pt x="1769364" y="213208"/>
                  </a:cubicBezTo>
                  <a:cubicBezTo>
                    <a:pt x="1763268" y="226924"/>
                    <a:pt x="1754479" y="237439"/>
                    <a:pt x="1742999" y="244754"/>
                  </a:cubicBezTo>
                  <a:cubicBezTo>
                    <a:pt x="1731518" y="252070"/>
                    <a:pt x="1717548" y="255727"/>
                    <a:pt x="1701089" y="255727"/>
                  </a:cubicBezTo>
                  <a:cubicBezTo>
                    <a:pt x="1684426" y="255727"/>
                    <a:pt x="1670558" y="251917"/>
                    <a:pt x="1659483" y="244297"/>
                  </a:cubicBezTo>
                  <a:cubicBezTo>
                    <a:pt x="1648409" y="236677"/>
                    <a:pt x="1640129" y="226111"/>
                    <a:pt x="1634642" y="212598"/>
                  </a:cubicBezTo>
                  <a:cubicBezTo>
                    <a:pt x="1629156" y="199085"/>
                    <a:pt x="1626413" y="183388"/>
                    <a:pt x="1626413" y="165506"/>
                  </a:cubicBezTo>
                  <a:cubicBezTo>
                    <a:pt x="1626413" y="147015"/>
                    <a:pt x="1629461" y="130861"/>
                    <a:pt x="1635557" y="117043"/>
                  </a:cubicBezTo>
                  <a:cubicBezTo>
                    <a:pt x="1641653" y="103226"/>
                    <a:pt x="1650492" y="92558"/>
                    <a:pt x="1662074" y="85039"/>
                  </a:cubicBezTo>
                  <a:cubicBezTo>
                    <a:pt x="1673657" y="77521"/>
                    <a:pt x="1687474" y="73762"/>
                    <a:pt x="1703527" y="73762"/>
                  </a:cubicBezTo>
                  <a:close/>
                  <a:moveTo>
                    <a:pt x="1167384" y="73762"/>
                  </a:moveTo>
                  <a:cubicBezTo>
                    <a:pt x="1183640" y="73762"/>
                    <a:pt x="1196746" y="77267"/>
                    <a:pt x="1206703" y="84277"/>
                  </a:cubicBezTo>
                  <a:cubicBezTo>
                    <a:pt x="1216660" y="91288"/>
                    <a:pt x="1223873" y="101498"/>
                    <a:pt x="1228344" y="114910"/>
                  </a:cubicBezTo>
                  <a:cubicBezTo>
                    <a:pt x="1232814" y="128321"/>
                    <a:pt x="1235050" y="144170"/>
                    <a:pt x="1235050" y="162458"/>
                  </a:cubicBezTo>
                  <a:lnTo>
                    <a:pt x="1235050" y="173736"/>
                  </a:lnTo>
                  <a:lnTo>
                    <a:pt x="1130709" y="173736"/>
                  </a:lnTo>
                  <a:lnTo>
                    <a:pt x="1130998" y="178908"/>
                  </a:lnTo>
                  <a:cubicBezTo>
                    <a:pt x="1132599" y="192300"/>
                    <a:pt x="1136599" y="202921"/>
                    <a:pt x="1143000" y="210769"/>
                  </a:cubicBezTo>
                  <a:cubicBezTo>
                    <a:pt x="1151534" y="221234"/>
                    <a:pt x="1162710" y="226466"/>
                    <a:pt x="1176528" y="226466"/>
                  </a:cubicBezTo>
                  <a:cubicBezTo>
                    <a:pt x="1183843" y="226466"/>
                    <a:pt x="1191107" y="225400"/>
                    <a:pt x="1198321" y="223266"/>
                  </a:cubicBezTo>
                  <a:cubicBezTo>
                    <a:pt x="1205534" y="221132"/>
                    <a:pt x="1213104" y="218034"/>
                    <a:pt x="1221029" y="213970"/>
                  </a:cubicBezTo>
                  <a:lnTo>
                    <a:pt x="1231697" y="238049"/>
                  </a:lnTo>
                  <a:cubicBezTo>
                    <a:pt x="1222146" y="244145"/>
                    <a:pt x="1212342" y="248615"/>
                    <a:pt x="1202283" y="251460"/>
                  </a:cubicBezTo>
                  <a:cubicBezTo>
                    <a:pt x="1192225" y="254305"/>
                    <a:pt x="1182421" y="255727"/>
                    <a:pt x="1172870" y="255727"/>
                  </a:cubicBezTo>
                  <a:cubicBezTo>
                    <a:pt x="1157427" y="255727"/>
                    <a:pt x="1143660" y="252171"/>
                    <a:pt x="1131570" y="245059"/>
                  </a:cubicBezTo>
                  <a:cubicBezTo>
                    <a:pt x="1119480" y="237947"/>
                    <a:pt x="1110082" y="227482"/>
                    <a:pt x="1103376" y="213665"/>
                  </a:cubicBezTo>
                  <a:cubicBezTo>
                    <a:pt x="1096670" y="199847"/>
                    <a:pt x="1093317" y="183083"/>
                    <a:pt x="1093317" y="163373"/>
                  </a:cubicBezTo>
                  <a:cubicBezTo>
                    <a:pt x="1093317" y="143866"/>
                    <a:pt x="1096619" y="127508"/>
                    <a:pt x="1103224" y="114300"/>
                  </a:cubicBezTo>
                  <a:cubicBezTo>
                    <a:pt x="1109828" y="101092"/>
                    <a:pt x="1118768" y="91034"/>
                    <a:pt x="1130046" y="84125"/>
                  </a:cubicBezTo>
                  <a:cubicBezTo>
                    <a:pt x="1141324" y="77216"/>
                    <a:pt x="1153770" y="73762"/>
                    <a:pt x="1167384" y="73762"/>
                  </a:cubicBezTo>
                  <a:close/>
                  <a:moveTo>
                    <a:pt x="852221" y="73762"/>
                  </a:moveTo>
                  <a:cubicBezTo>
                    <a:pt x="863600" y="73762"/>
                    <a:pt x="873557" y="75895"/>
                    <a:pt x="882091" y="80162"/>
                  </a:cubicBezTo>
                  <a:cubicBezTo>
                    <a:pt x="890626" y="84430"/>
                    <a:pt x="897331" y="90881"/>
                    <a:pt x="902208" y="99517"/>
                  </a:cubicBezTo>
                  <a:cubicBezTo>
                    <a:pt x="907085" y="108153"/>
                    <a:pt x="909523" y="119075"/>
                    <a:pt x="909523" y="132283"/>
                  </a:cubicBezTo>
                  <a:lnTo>
                    <a:pt x="909523" y="208483"/>
                  </a:lnTo>
                  <a:cubicBezTo>
                    <a:pt x="909523" y="215189"/>
                    <a:pt x="910488" y="220066"/>
                    <a:pt x="912419" y="223114"/>
                  </a:cubicBezTo>
                  <a:cubicBezTo>
                    <a:pt x="914349" y="226162"/>
                    <a:pt x="917956" y="227686"/>
                    <a:pt x="923239" y="227686"/>
                  </a:cubicBezTo>
                  <a:cubicBezTo>
                    <a:pt x="923849" y="227686"/>
                    <a:pt x="924610" y="227686"/>
                    <a:pt x="925525" y="227686"/>
                  </a:cubicBezTo>
                  <a:cubicBezTo>
                    <a:pt x="926439" y="227686"/>
                    <a:pt x="927303" y="227584"/>
                    <a:pt x="928116" y="227381"/>
                  </a:cubicBezTo>
                  <a:lnTo>
                    <a:pt x="929335" y="253898"/>
                  </a:lnTo>
                  <a:cubicBezTo>
                    <a:pt x="926490" y="254508"/>
                    <a:pt x="923696" y="254965"/>
                    <a:pt x="920953" y="255270"/>
                  </a:cubicBezTo>
                  <a:cubicBezTo>
                    <a:pt x="918210" y="255575"/>
                    <a:pt x="915619" y="255727"/>
                    <a:pt x="913181" y="255727"/>
                  </a:cubicBezTo>
                  <a:cubicBezTo>
                    <a:pt x="902208" y="255727"/>
                    <a:pt x="893674" y="252628"/>
                    <a:pt x="887578" y="246431"/>
                  </a:cubicBezTo>
                  <a:cubicBezTo>
                    <a:pt x="884529" y="243332"/>
                    <a:pt x="882244" y="239306"/>
                    <a:pt x="880720" y="234353"/>
                  </a:cubicBezTo>
                  <a:lnTo>
                    <a:pt x="880194" y="230295"/>
                  </a:lnTo>
                  <a:lnTo>
                    <a:pt x="874166" y="238963"/>
                  </a:lnTo>
                  <a:cubicBezTo>
                    <a:pt x="868883" y="244653"/>
                    <a:pt x="862838" y="248869"/>
                    <a:pt x="856031" y="251612"/>
                  </a:cubicBezTo>
                  <a:cubicBezTo>
                    <a:pt x="849223" y="254356"/>
                    <a:pt x="842264" y="255727"/>
                    <a:pt x="835152" y="255727"/>
                  </a:cubicBezTo>
                  <a:cubicBezTo>
                    <a:pt x="825805" y="255727"/>
                    <a:pt x="817118" y="253644"/>
                    <a:pt x="809092" y="249479"/>
                  </a:cubicBezTo>
                  <a:cubicBezTo>
                    <a:pt x="801065" y="245313"/>
                    <a:pt x="794715" y="239268"/>
                    <a:pt x="790041" y="231343"/>
                  </a:cubicBezTo>
                  <a:cubicBezTo>
                    <a:pt x="785368" y="223418"/>
                    <a:pt x="783031" y="213766"/>
                    <a:pt x="783031" y="202387"/>
                  </a:cubicBezTo>
                  <a:cubicBezTo>
                    <a:pt x="783031" y="185725"/>
                    <a:pt x="789635" y="172466"/>
                    <a:pt x="802843" y="162611"/>
                  </a:cubicBezTo>
                  <a:cubicBezTo>
                    <a:pt x="816051" y="152756"/>
                    <a:pt x="834136" y="147828"/>
                    <a:pt x="857098" y="147828"/>
                  </a:cubicBezTo>
                  <a:cubicBezTo>
                    <a:pt x="861568" y="147828"/>
                    <a:pt x="866800" y="147980"/>
                    <a:pt x="872795" y="148285"/>
                  </a:cubicBezTo>
                  <a:lnTo>
                    <a:pt x="873252" y="148342"/>
                  </a:lnTo>
                  <a:lnTo>
                    <a:pt x="873252" y="133502"/>
                  </a:lnTo>
                  <a:cubicBezTo>
                    <a:pt x="873252" y="123139"/>
                    <a:pt x="870610" y="115621"/>
                    <a:pt x="865327" y="110947"/>
                  </a:cubicBezTo>
                  <a:cubicBezTo>
                    <a:pt x="860044" y="106274"/>
                    <a:pt x="853135" y="103937"/>
                    <a:pt x="844601" y="103937"/>
                  </a:cubicBezTo>
                  <a:cubicBezTo>
                    <a:pt x="838301" y="103937"/>
                    <a:pt x="831392" y="105258"/>
                    <a:pt x="823874" y="107899"/>
                  </a:cubicBezTo>
                  <a:cubicBezTo>
                    <a:pt x="816356" y="110541"/>
                    <a:pt x="808838" y="113995"/>
                    <a:pt x="801319" y="118262"/>
                  </a:cubicBezTo>
                  <a:lnTo>
                    <a:pt x="788822" y="92050"/>
                  </a:lnTo>
                  <a:cubicBezTo>
                    <a:pt x="798169" y="86360"/>
                    <a:pt x="808533" y="81890"/>
                    <a:pt x="819912" y="78638"/>
                  </a:cubicBezTo>
                  <a:cubicBezTo>
                    <a:pt x="831291" y="75387"/>
                    <a:pt x="842061" y="73762"/>
                    <a:pt x="852221" y="73762"/>
                  </a:cubicBezTo>
                  <a:close/>
                  <a:moveTo>
                    <a:pt x="766267" y="73762"/>
                  </a:moveTo>
                  <a:cubicBezTo>
                    <a:pt x="767893" y="73762"/>
                    <a:pt x="769468" y="73762"/>
                    <a:pt x="770991" y="73762"/>
                  </a:cubicBezTo>
                  <a:cubicBezTo>
                    <a:pt x="772515" y="73762"/>
                    <a:pt x="774090" y="73965"/>
                    <a:pt x="775716" y="74371"/>
                  </a:cubicBezTo>
                  <a:lnTo>
                    <a:pt x="771753" y="110338"/>
                  </a:lnTo>
                  <a:cubicBezTo>
                    <a:pt x="766470" y="108102"/>
                    <a:pt x="761390" y="106985"/>
                    <a:pt x="756513" y="106985"/>
                  </a:cubicBezTo>
                  <a:cubicBezTo>
                    <a:pt x="749605" y="106985"/>
                    <a:pt x="743458" y="109118"/>
                    <a:pt x="738073" y="113386"/>
                  </a:cubicBezTo>
                  <a:cubicBezTo>
                    <a:pt x="732688" y="117653"/>
                    <a:pt x="728523" y="123647"/>
                    <a:pt x="725576" y="131369"/>
                  </a:cubicBezTo>
                  <a:cubicBezTo>
                    <a:pt x="722630" y="139090"/>
                    <a:pt x="721157" y="148234"/>
                    <a:pt x="721157" y="158801"/>
                  </a:cubicBezTo>
                  <a:lnTo>
                    <a:pt x="721157" y="251460"/>
                  </a:lnTo>
                  <a:lnTo>
                    <a:pt x="685190" y="251460"/>
                  </a:lnTo>
                  <a:lnTo>
                    <a:pt x="685190" y="76810"/>
                  </a:lnTo>
                  <a:lnTo>
                    <a:pt x="719023" y="76810"/>
                  </a:lnTo>
                  <a:lnTo>
                    <a:pt x="720275" y="106852"/>
                  </a:lnTo>
                  <a:lnTo>
                    <a:pt x="720814" y="105232"/>
                  </a:lnTo>
                  <a:cubicBezTo>
                    <a:pt x="723938" y="98577"/>
                    <a:pt x="727659" y="92862"/>
                    <a:pt x="731977" y="88087"/>
                  </a:cubicBezTo>
                  <a:cubicBezTo>
                    <a:pt x="740613" y="78537"/>
                    <a:pt x="752043" y="73762"/>
                    <a:pt x="766267" y="73762"/>
                  </a:cubicBezTo>
                  <a:close/>
                  <a:moveTo>
                    <a:pt x="436702" y="73762"/>
                  </a:moveTo>
                  <a:cubicBezTo>
                    <a:pt x="453365" y="73762"/>
                    <a:pt x="467233" y="77521"/>
                    <a:pt x="478307" y="85039"/>
                  </a:cubicBezTo>
                  <a:cubicBezTo>
                    <a:pt x="489382" y="92558"/>
                    <a:pt x="497713" y="103175"/>
                    <a:pt x="503301" y="116891"/>
                  </a:cubicBezTo>
                  <a:cubicBezTo>
                    <a:pt x="508889" y="130607"/>
                    <a:pt x="511683" y="146609"/>
                    <a:pt x="511683" y="164897"/>
                  </a:cubicBezTo>
                  <a:cubicBezTo>
                    <a:pt x="511683" y="183388"/>
                    <a:pt x="508635" y="199492"/>
                    <a:pt x="502539" y="213208"/>
                  </a:cubicBezTo>
                  <a:cubicBezTo>
                    <a:pt x="496443" y="226924"/>
                    <a:pt x="487655" y="237439"/>
                    <a:pt x="476174" y="244754"/>
                  </a:cubicBezTo>
                  <a:cubicBezTo>
                    <a:pt x="464693" y="252070"/>
                    <a:pt x="450723" y="255727"/>
                    <a:pt x="434264" y="255727"/>
                  </a:cubicBezTo>
                  <a:cubicBezTo>
                    <a:pt x="417601" y="255727"/>
                    <a:pt x="403733" y="251917"/>
                    <a:pt x="392659" y="244297"/>
                  </a:cubicBezTo>
                  <a:cubicBezTo>
                    <a:pt x="381584" y="236677"/>
                    <a:pt x="373304" y="226111"/>
                    <a:pt x="367817" y="212598"/>
                  </a:cubicBezTo>
                  <a:cubicBezTo>
                    <a:pt x="362331" y="199085"/>
                    <a:pt x="359588" y="183388"/>
                    <a:pt x="359588" y="165506"/>
                  </a:cubicBezTo>
                  <a:cubicBezTo>
                    <a:pt x="359588" y="147015"/>
                    <a:pt x="362636" y="130861"/>
                    <a:pt x="368732" y="117043"/>
                  </a:cubicBezTo>
                  <a:cubicBezTo>
                    <a:pt x="374828" y="103226"/>
                    <a:pt x="383667" y="92558"/>
                    <a:pt x="395249" y="85039"/>
                  </a:cubicBezTo>
                  <a:cubicBezTo>
                    <a:pt x="406832" y="77521"/>
                    <a:pt x="420649" y="73762"/>
                    <a:pt x="436702" y="73762"/>
                  </a:cubicBezTo>
                  <a:close/>
                  <a:moveTo>
                    <a:pt x="272034" y="73762"/>
                  </a:moveTo>
                  <a:cubicBezTo>
                    <a:pt x="288290" y="73762"/>
                    <a:pt x="301396" y="77267"/>
                    <a:pt x="311353" y="84277"/>
                  </a:cubicBezTo>
                  <a:cubicBezTo>
                    <a:pt x="321310" y="91288"/>
                    <a:pt x="328524" y="101498"/>
                    <a:pt x="332994" y="114910"/>
                  </a:cubicBezTo>
                  <a:cubicBezTo>
                    <a:pt x="337464" y="128321"/>
                    <a:pt x="339700" y="144170"/>
                    <a:pt x="339700" y="162458"/>
                  </a:cubicBezTo>
                  <a:lnTo>
                    <a:pt x="339700" y="173736"/>
                  </a:lnTo>
                  <a:lnTo>
                    <a:pt x="235360" y="173736"/>
                  </a:lnTo>
                  <a:lnTo>
                    <a:pt x="235649" y="178908"/>
                  </a:lnTo>
                  <a:cubicBezTo>
                    <a:pt x="237249" y="192300"/>
                    <a:pt x="241249" y="202921"/>
                    <a:pt x="247650" y="210769"/>
                  </a:cubicBezTo>
                  <a:cubicBezTo>
                    <a:pt x="256184" y="221234"/>
                    <a:pt x="267360" y="226466"/>
                    <a:pt x="281178" y="226466"/>
                  </a:cubicBezTo>
                  <a:cubicBezTo>
                    <a:pt x="288493" y="226466"/>
                    <a:pt x="295758" y="225400"/>
                    <a:pt x="302971" y="223266"/>
                  </a:cubicBezTo>
                  <a:cubicBezTo>
                    <a:pt x="310185" y="221132"/>
                    <a:pt x="317754" y="218034"/>
                    <a:pt x="325679" y="213970"/>
                  </a:cubicBezTo>
                  <a:lnTo>
                    <a:pt x="336347" y="238049"/>
                  </a:lnTo>
                  <a:cubicBezTo>
                    <a:pt x="326796" y="244145"/>
                    <a:pt x="316992" y="248615"/>
                    <a:pt x="306934" y="251460"/>
                  </a:cubicBezTo>
                  <a:cubicBezTo>
                    <a:pt x="296875" y="254305"/>
                    <a:pt x="287071" y="255727"/>
                    <a:pt x="277520" y="255727"/>
                  </a:cubicBezTo>
                  <a:cubicBezTo>
                    <a:pt x="262077" y="255727"/>
                    <a:pt x="248311" y="252171"/>
                    <a:pt x="236220" y="245059"/>
                  </a:cubicBezTo>
                  <a:cubicBezTo>
                    <a:pt x="224130" y="237947"/>
                    <a:pt x="214732" y="227482"/>
                    <a:pt x="208026" y="213665"/>
                  </a:cubicBezTo>
                  <a:cubicBezTo>
                    <a:pt x="201320" y="199847"/>
                    <a:pt x="197968" y="183083"/>
                    <a:pt x="197968" y="163373"/>
                  </a:cubicBezTo>
                  <a:cubicBezTo>
                    <a:pt x="197968" y="143866"/>
                    <a:pt x="201270" y="127508"/>
                    <a:pt x="207874" y="114300"/>
                  </a:cubicBezTo>
                  <a:cubicBezTo>
                    <a:pt x="214478" y="101092"/>
                    <a:pt x="223418" y="91034"/>
                    <a:pt x="234696" y="84125"/>
                  </a:cubicBezTo>
                  <a:cubicBezTo>
                    <a:pt x="245974" y="77216"/>
                    <a:pt x="258420" y="73762"/>
                    <a:pt x="272034" y="73762"/>
                  </a:cubicBezTo>
                  <a:close/>
                  <a:moveTo>
                    <a:pt x="1428750" y="17374"/>
                  </a:moveTo>
                  <a:lnTo>
                    <a:pt x="1465631" y="17374"/>
                  </a:lnTo>
                  <a:lnTo>
                    <a:pt x="1465631" y="114910"/>
                  </a:lnTo>
                  <a:lnTo>
                    <a:pt x="1554937" y="114910"/>
                  </a:lnTo>
                  <a:lnTo>
                    <a:pt x="1554937" y="17374"/>
                  </a:lnTo>
                  <a:lnTo>
                    <a:pt x="1591513" y="17374"/>
                  </a:lnTo>
                  <a:lnTo>
                    <a:pt x="1591513" y="251460"/>
                  </a:lnTo>
                  <a:lnTo>
                    <a:pt x="1554937" y="251460"/>
                  </a:lnTo>
                  <a:lnTo>
                    <a:pt x="1554937" y="145694"/>
                  </a:lnTo>
                  <a:lnTo>
                    <a:pt x="1465631" y="145694"/>
                  </a:lnTo>
                  <a:lnTo>
                    <a:pt x="1465631" y="251460"/>
                  </a:lnTo>
                  <a:lnTo>
                    <a:pt x="1428750" y="251460"/>
                  </a:lnTo>
                  <a:close/>
                  <a:moveTo>
                    <a:pt x="531419" y="17374"/>
                  </a:moveTo>
                  <a:lnTo>
                    <a:pt x="672236" y="17374"/>
                  </a:lnTo>
                  <a:lnTo>
                    <a:pt x="672236" y="48158"/>
                  </a:lnTo>
                  <a:lnTo>
                    <a:pt x="619506" y="48158"/>
                  </a:lnTo>
                  <a:lnTo>
                    <a:pt x="619506" y="251460"/>
                  </a:lnTo>
                  <a:lnTo>
                    <a:pt x="582930" y="251460"/>
                  </a:lnTo>
                  <a:lnTo>
                    <a:pt x="582930" y="48158"/>
                  </a:lnTo>
                  <a:lnTo>
                    <a:pt x="531419" y="48158"/>
                  </a:lnTo>
                  <a:close/>
                  <a:moveTo>
                    <a:pt x="32309" y="14630"/>
                  </a:moveTo>
                  <a:lnTo>
                    <a:pt x="131674" y="182216"/>
                  </a:lnTo>
                  <a:lnTo>
                    <a:pt x="131674" y="17374"/>
                  </a:lnTo>
                  <a:lnTo>
                    <a:pt x="165811" y="17374"/>
                  </a:lnTo>
                  <a:lnTo>
                    <a:pt x="165811" y="251460"/>
                  </a:lnTo>
                  <a:lnTo>
                    <a:pt x="134722" y="254508"/>
                  </a:lnTo>
                  <a:lnTo>
                    <a:pt x="34138" y="85398"/>
                  </a:lnTo>
                  <a:lnTo>
                    <a:pt x="34138" y="251460"/>
                  </a:lnTo>
                  <a:lnTo>
                    <a:pt x="0" y="251460"/>
                  </a:lnTo>
                  <a:lnTo>
                    <a:pt x="0" y="17374"/>
                  </a:lnTo>
                  <a:close/>
                  <a:moveTo>
                    <a:pt x="1941728" y="2743"/>
                  </a:moveTo>
                  <a:cubicBezTo>
                    <a:pt x="1948028" y="2743"/>
                    <a:pt x="1953463" y="4877"/>
                    <a:pt x="1958035" y="9144"/>
                  </a:cubicBezTo>
                  <a:cubicBezTo>
                    <a:pt x="1962607" y="13411"/>
                    <a:pt x="1964893" y="19507"/>
                    <a:pt x="1964893" y="27432"/>
                  </a:cubicBezTo>
                  <a:cubicBezTo>
                    <a:pt x="1964893" y="35560"/>
                    <a:pt x="1962556" y="41859"/>
                    <a:pt x="1957883" y="46330"/>
                  </a:cubicBezTo>
                  <a:cubicBezTo>
                    <a:pt x="1953209" y="50800"/>
                    <a:pt x="1947723" y="53035"/>
                    <a:pt x="1941424" y="53035"/>
                  </a:cubicBezTo>
                  <a:cubicBezTo>
                    <a:pt x="1935327" y="53035"/>
                    <a:pt x="1929994" y="50851"/>
                    <a:pt x="1925422" y="46482"/>
                  </a:cubicBezTo>
                  <a:cubicBezTo>
                    <a:pt x="1920849" y="42113"/>
                    <a:pt x="1918563" y="35763"/>
                    <a:pt x="1918564" y="27432"/>
                  </a:cubicBezTo>
                  <a:cubicBezTo>
                    <a:pt x="1918563" y="19507"/>
                    <a:pt x="1920849" y="13411"/>
                    <a:pt x="1925422" y="9144"/>
                  </a:cubicBezTo>
                  <a:cubicBezTo>
                    <a:pt x="1929994" y="4877"/>
                    <a:pt x="1935429" y="2743"/>
                    <a:pt x="1941728" y="2743"/>
                  </a:cubicBezTo>
                  <a:close/>
                  <a:moveTo>
                    <a:pt x="1266215" y="0"/>
                  </a:moveTo>
                  <a:lnTo>
                    <a:pt x="1302182" y="0"/>
                  </a:lnTo>
                  <a:lnTo>
                    <a:pt x="1302182" y="206959"/>
                  </a:lnTo>
                  <a:cubicBezTo>
                    <a:pt x="1302182" y="213868"/>
                    <a:pt x="1303401" y="218846"/>
                    <a:pt x="1305839" y="221894"/>
                  </a:cubicBezTo>
                  <a:cubicBezTo>
                    <a:pt x="1308278" y="224942"/>
                    <a:pt x="1311834" y="226466"/>
                    <a:pt x="1316507" y="226466"/>
                  </a:cubicBezTo>
                  <a:cubicBezTo>
                    <a:pt x="1318539" y="226466"/>
                    <a:pt x="1321028" y="226212"/>
                    <a:pt x="1323975" y="225704"/>
                  </a:cubicBezTo>
                  <a:cubicBezTo>
                    <a:pt x="1326921" y="225196"/>
                    <a:pt x="1329614" y="224536"/>
                    <a:pt x="1332052" y="223723"/>
                  </a:cubicBezTo>
                  <a:lnTo>
                    <a:pt x="1332357" y="251460"/>
                  </a:lnTo>
                  <a:cubicBezTo>
                    <a:pt x="1328090" y="252882"/>
                    <a:pt x="1323924" y="253949"/>
                    <a:pt x="1319860" y="254660"/>
                  </a:cubicBezTo>
                  <a:cubicBezTo>
                    <a:pt x="1315796" y="255372"/>
                    <a:pt x="1311834" y="255727"/>
                    <a:pt x="1307973" y="255727"/>
                  </a:cubicBezTo>
                  <a:cubicBezTo>
                    <a:pt x="1294765" y="255727"/>
                    <a:pt x="1284503" y="251968"/>
                    <a:pt x="1277188" y="244450"/>
                  </a:cubicBezTo>
                  <a:cubicBezTo>
                    <a:pt x="1269873" y="236931"/>
                    <a:pt x="1266215" y="225654"/>
                    <a:pt x="1266215" y="210617"/>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1E64"/>
                </a:solidFill>
                <a:effectLst/>
                <a:uLnTx/>
                <a:uFillTx/>
                <a:latin typeface="Yaldevi SemiBold"/>
                <a:ea typeface="+mn-ea"/>
                <a:cs typeface="+mn-cs"/>
              </a:endParaRPr>
            </a:p>
          </p:txBody>
        </p:sp>
        <p:pic>
          <p:nvPicPr>
            <p:cNvPr id="57" name="Graphic 56">
              <a:extLst>
                <a:ext uri="{FF2B5EF4-FFF2-40B4-BE49-F238E27FC236}">
                  <a16:creationId xmlns:a16="http://schemas.microsoft.com/office/drawing/2014/main" id="{546E6FDB-16E7-B7C8-FDA3-E634D05A20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9752" y="1384446"/>
              <a:ext cx="299669" cy="299669"/>
            </a:xfrm>
            <a:prstGeom prst="rect">
              <a:avLst/>
            </a:prstGeom>
          </p:spPr>
        </p:pic>
      </p:grpSp>
      <p:sp>
        <p:nvSpPr>
          <p:cNvPr id="2" name="TextBox 1">
            <a:extLst>
              <a:ext uri="{FF2B5EF4-FFF2-40B4-BE49-F238E27FC236}">
                <a16:creationId xmlns:a16="http://schemas.microsoft.com/office/drawing/2014/main" id="{7BC42D1D-D544-9C98-956F-754EFFB02BDC}"/>
              </a:ext>
            </a:extLst>
          </p:cNvPr>
          <p:cNvSpPr txBox="1"/>
          <p:nvPr/>
        </p:nvSpPr>
        <p:spPr>
          <a:xfrm>
            <a:off x="7387265" y="5217049"/>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3" name="TextBox 2">
            <a:extLst>
              <a:ext uri="{FF2B5EF4-FFF2-40B4-BE49-F238E27FC236}">
                <a16:creationId xmlns:a16="http://schemas.microsoft.com/office/drawing/2014/main" id="{C6EF8A0B-70F5-DB33-5D70-601DEABA2094}"/>
              </a:ext>
            </a:extLst>
          </p:cNvPr>
          <p:cNvSpPr txBox="1"/>
          <p:nvPr/>
        </p:nvSpPr>
        <p:spPr>
          <a:xfrm>
            <a:off x="8116792" y="5217051"/>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5" name="TextBox 4">
            <a:extLst>
              <a:ext uri="{FF2B5EF4-FFF2-40B4-BE49-F238E27FC236}">
                <a16:creationId xmlns:a16="http://schemas.microsoft.com/office/drawing/2014/main" id="{DC1A094C-6AFD-357D-0A0F-511FE777D2F3}"/>
              </a:ext>
            </a:extLst>
          </p:cNvPr>
          <p:cNvSpPr txBox="1"/>
          <p:nvPr/>
        </p:nvSpPr>
        <p:spPr>
          <a:xfrm>
            <a:off x="8795892" y="5217050"/>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8" name="TextBox 7">
            <a:extLst>
              <a:ext uri="{FF2B5EF4-FFF2-40B4-BE49-F238E27FC236}">
                <a16:creationId xmlns:a16="http://schemas.microsoft.com/office/drawing/2014/main" id="{16DE68E5-0F49-7B17-A369-F47590AE7F02}"/>
              </a:ext>
            </a:extLst>
          </p:cNvPr>
          <p:cNvSpPr txBox="1"/>
          <p:nvPr/>
        </p:nvSpPr>
        <p:spPr>
          <a:xfrm>
            <a:off x="9516176" y="5217049"/>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9" name="TextBox 8">
            <a:extLst>
              <a:ext uri="{FF2B5EF4-FFF2-40B4-BE49-F238E27FC236}">
                <a16:creationId xmlns:a16="http://schemas.microsoft.com/office/drawing/2014/main" id="{EB41F42D-5F3D-6733-D6EF-07DE66A1E84D}"/>
              </a:ext>
            </a:extLst>
          </p:cNvPr>
          <p:cNvSpPr txBox="1"/>
          <p:nvPr/>
        </p:nvSpPr>
        <p:spPr>
          <a:xfrm>
            <a:off x="-1" y="-2043188"/>
            <a:ext cx="768191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4. Adjust the design to your liking (bar width, data labels, gridlines, font size)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1331328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97B638-3416-ACA3-964B-D527DAB6418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ED732D-9347-1250-C091-AFD7734CBF9F}"/>
              </a:ext>
            </a:extLst>
          </p:cNvPr>
          <p:cNvSpPr txBox="1"/>
          <p:nvPr/>
        </p:nvSpPr>
        <p:spPr>
          <a:xfrm>
            <a:off x="-1" y="-2855198"/>
            <a:ext cx="28921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7" name="TextBox 6">
            <a:extLst>
              <a:ext uri="{FF2B5EF4-FFF2-40B4-BE49-F238E27FC236}">
                <a16:creationId xmlns:a16="http://schemas.microsoft.com/office/drawing/2014/main" id="{21B4651B-CAF5-5324-607A-5A6A7B934297}"/>
              </a:ext>
            </a:extLst>
          </p:cNvPr>
          <p:cNvSpPr txBox="1"/>
          <p:nvPr/>
        </p:nvSpPr>
        <p:spPr>
          <a:xfrm>
            <a:off x="-1" y="-2449193"/>
            <a:ext cx="26709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3. Insert a column chart</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26" name="TextBox 25">
            <a:extLst>
              <a:ext uri="{FF2B5EF4-FFF2-40B4-BE49-F238E27FC236}">
                <a16:creationId xmlns:a16="http://schemas.microsoft.com/office/drawing/2014/main" id="{12278BCD-EEB4-2BFC-B955-D2169858A3DE}"/>
              </a:ext>
            </a:extLst>
          </p:cNvPr>
          <p:cNvSpPr txBox="1"/>
          <p:nvPr/>
        </p:nvSpPr>
        <p:spPr>
          <a:xfrm>
            <a:off x="-1" y="-3261203"/>
            <a:ext cx="57310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1"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27" name="TextBox 26">
            <a:extLst>
              <a:ext uri="{FF2B5EF4-FFF2-40B4-BE49-F238E27FC236}">
                <a16:creationId xmlns:a16="http://schemas.microsoft.com/office/drawing/2014/main" id="{7B81C3EA-1E7F-F056-6042-3F211A9430E0}"/>
              </a:ext>
            </a:extLst>
          </p:cNvPr>
          <p:cNvSpPr txBox="1"/>
          <p:nvPr/>
        </p:nvSpPr>
        <p:spPr>
          <a:xfrm>
            <a:off x="-1" y="-2043188"/>
            <a:ext cx="83423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4. Adjust the design to your liking (bar width, data labels, gridlines, font size)</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28" name="TextBox 27">
            <a:extLst>
              <a:ext uri="{FF2B5EF4-FFF2-40B4-BE49-F238E27FC236}">
                <a16:creationId xmlns:a16="http://schemas.microsoft.com/office/drawing/2014/main" id="{F40795E3-C61A-B92C-D1A8-89B48ED18DA0}"/>
              </a:ext>
            </a:extLst>
          </p:cNvPr>
          <p:cNvSpPr txBox="1"/>
          <p:nvPr/>
        </p:nvSpPr>
        <p:spPr>
          <a:xfrm>
            <a:off x="-1" y="-1637183"/>
            <a:ext cx="99164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a:ln>
                  <a:noFill/>
                </a:ln>
                <a:solidFill>
                  <a:prstClr val="black"/>
                </a:solidFill>
                <a:effectLst/>
                <a:uLnTx/>
                <a:uFillTx/>
                <a:latin typeface="Yaldevi"/>
                <a:ea typeface="+mn-ea"/>
                <a:cs typeface="+mn-cs"/>
              </a:rPr>
              <a:t>5. Signal estimates appropriately (with a letter, transparency, dotted outline, diagonal lines)</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35" name="TextBox 34">
            <a:extLst>
              <a:ext uri="{FF2B5EF4-FFF2-40B4-BE49-F238E27FC236}">
                <a16:creationId xmlns:a16="http://schemas.microsoft.com/office/drawing/2014/main" id="{18DB0DCA-80A9-8F78-BD6D-0D8F353DBE83}"/>
              </a:ext>
            </a:extLst>
          </p:cNvPr>
          <p:cNvSpPr txBox="1"/>
          <p:nvPr/>
        </p:nvSpPr>
        <p:spPr>
          <a:xfrm>
            <a:off x="-1" y="-825173"/>
            <a:ext cx="33505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7. Build an appropriate legend</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39" name="TextBox 38">
            <a:extLst>
              <a:ext uri="{FF2B5EF4-FFF2-40B4-BE49-F238E27FC236}">
                <a16:creationId xmlns:a16="http://schemas.microsoft.com/office/drawing/2014/main" id="{679CDF61-A85A-FBB7-3670-57D4C994DCA2}"/>
              </a:ext>
            </a:extLst>
          </p:cNvPr>
          <p:cNvSpPr txBox="1"/>
          <p:nvPr/>
        </p:nvSpPr>
        <p:spPr>
          <a:xfrm>
            <a:off x="-1" y="-419171"/>
            <a:ext cx="16658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8. Build a title</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sp>
        <p:nvSpPr>
          <p:cNvPr id="40" name="TextBox 39">
            <a:extLst>
              <a:ext uri="{FF2B5EF4-FFF2-40B4-BE49-F238E27FC236}">
                <a16:creationId xmlns:a16="http://schemas.microsoft.com/office/drawing/2014/main" id="{12D67A43-7F76-CE0C-BAD9-F033A4366F72}"/>
              </a:ext>
            </a:extLst>
          </p:cNvPr>
          <p:cNvSpPr txBox="1"/>
          <p:nvPr/>
        </p:nvSpPr>
        <p:spPr>
          <a:xfrm>
            <a:off x="0" y="-1231178"/>
            <a:ext cx="488146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6. Build the second plot and repeat steps 4-6</a:t>
            </a:r>
            <a:endParaRPr kumimoji="0" lang="en-US" sz="1800" b="1" i="0" u="none" strike="noStrike" kern="1200" cap="none" spc="0" normalizeH="0" baseline="0" noProof="0" dirty="0">
              <a:ln>
                <a:noFill/>
              </a:ln>
              <a:solidFill>
                <a:prstClr val="black"/>
              </a:solidFill>
              <a:effectLst/>
              <a:uLnTx/>
              <a:uFillTx/>
              <a:latin typeface="Yaldevi"/>
              <a:ea typeface="+mn-ea"/>
              <a:cs typeface="+mn-cs"/>
            </a:endParaRPr>
          </a:p>
        </p:txBody>
      </p:sp>
      <p:grpSp>
        <p:nvGrpSpPr>
          <p:cNvPr id="55" name="Group 54">
            <a:extLst>
              <a:ext uri="{FF2B5EF4-FFF2-40B4-BE49-F238E27FC236}">
                <a16:creationId xmlns:a16="http://schemas.microsoft.com/office/drawing/2014/main" id="{7A104ADD-D7B1-17AC-CC8F-EB7631FECDA9}"/>
              </a:ext>
            </a:extLst>
          </p:cNvPr>
          <p:cNvGrpSpPr/>
          <p:nvPr/>
        </p:nvGrpSpPr>
        <p:grpSpPr>
          <a:xfrm>
            <a:off x="10220959" y="6552481"/>
            <a:ext cx="1834743" cy="182247"/>
            <a:chOff x="7389752" y="1384446"/>
            <a:chExt cx="3016868" cy="299669"/>
          </a:xfrm>
          <a:solidFill>
            <a:schemeClr val="accent6"/>
          </a:solidFill>
        </p:grpSpPr>
        <p:sp>
          <p:nvSpPr>
            <p:cNvPr id="56" name="TextBox 55">
              <a:extLst>
                <a:ext uri="{FF2B5EF4-FFF2-40B4-BE49-F238E27FC236}">
                  <a16:creationId xmlns:a16="http://schemas.microsoft.com/office/drawing/2014/main" id="{84AA4619-F3A6-FC50-2D5F-F44BDF2C3050}"/>
                </a:ext>
              </a:extLst>
            </p:cNvPr>
            <p:cNvSpPr txBox="1"/>
            <p:nvPr/>
          </p:nvSpPr>
          <p:spPr>
            <a:xfrm>
              <a:off x="7798522" y="1403919"/>
              <a:ext cx="2608098" cy="255727"/>
            </a:xfrm>
            <a:custGeom>
              <a:avLst/>
              <a:gdLst/>
              <a:ahLst/>
              <a:cxnLst/>
              <a:rect l="l" t="t" r="r" b="b"/>
              <a:pathLst>
                <a:path w="2608098" h="255727">
                  <a:moveTo>
                    <a:pt x="858622" y="171907"/>
                  </a:moveTo>
                  <a:cubicBezTo>
                    <a:pt x="849477" y="171907"/>
                    <a:pt x="842010" y="173126"/>
                    <a:pt x="836219" y="175565"/>
                  </a:cubicBezTo>
                  <a:cubicBezTo>
                    <a:pt x="830427" y="178003"/>
                    <a:pt x="826211" y="181458"/>
                    <a:pt x="823569" y="185928"/>
                  </a:cubicBezTo>
                  <a:cubicBezTo>
                    <a:pt x="820928" y="190398"/>
                    <a:pt x="819607" y="195885"/>
                    <a:pt x="819607" y="202387"/>
                  </a:cubicBezTo>
                  <a:cubicBezTo>
                    <a:pt x="819607" y="210109"/>
                    <a:pt x="821741" y="216103"/>
                    <a:pt x="826008" y="220370"/>
                  </a:cubicBezTo>
                  <a:cubicBezTo>
                    <a:pt x="830275" y="224638"/>
                    <a:pt x="835965" y="226771"/>
                    <a:pt x="843077" y="226771"/>
                  </a:cubicBezTo>
                  <a:cubicBezTo>
                    <a:pt x="848970" y="226771"/>
                    <a:pt x="854151" y="225450"/>
                    <a:pt x="858622" y="222809"/>
                  </a:cubicBezTo>
                  <a:cubicBezTo>
                    <a:pt x="863092" y="220167"/>
                    <a:pt x="866648" y="215951"/>
                    <a:pt x="869290" y="210160"/>
                  </a:cubicBezTo>
                  <a:cubicBezTo>
                    <a:pt x="871931" y="204368"/>
                    <a:pt x="873252" y="196799"/>
                    <a:pt x="873252" y="187452"/>
                  </a:cubicBezTo>
                  <a:lnTo>
                    <a:pt x="873252" y="172333"/>
                  </a:lnTo>
                  <a:close/>
                  <a:moveTo>
                    <a:pt x="2216963" y="103022"/>
                  </a:moveTo>
                  <a:cubicBezTo>
                    <a:pt x="2209038" y="103022"/>
                    <a:pt x="2202078" y="105461"/>
                    <a:pt x="2196084" y="110338"/>
                  </a:cubicBezTo>
                  <a:cubicBezTo>
                    <a:pt x="2190090" y="115214"/>
                    <a:pt x="2185518" y="122276"/>
                    <a:pt x="2182368" y="131521"/>
                  </a:cubicBezTo>
                  <a:cubicBezTo>
                    <a:pt x="2179218" y="140767"/>
                    <a:pt x="2177644" y="151892"/>
                    <a:pt x="2177644" y="164897"/>
                  </a:cubicBezTo>
                  <a:cubicBezTo>
                    <a:pt x="2177644" y="177902"/>
                    <a:pt x="2179168" y="188976"/>
                    <a:pt x="2182216" y="198120"/>
                  </a:cubicBezTo>
                  <a:cubicBezTo>
                    <a:pt x="2185264" y="207264"/>
                    <a:pt x="2189734" y="214274"/>
                    <a:pt x="2195627" y="219151"/>
                  </a:cubicBezTo>
                  <a:cubicBezTo>
                    <a:pt x="2201520" y="224028"/>
                    <a:pt x="2208428" y="226466"/>
                    <a:pt x="2216353" y="226466"/>
                  </a:cubicBezTo>
                  <a:cubicBezTo>
                    <a:pt x="2224684" y="226466"/>
                    <a:pt x="2231796" y="224079"/>
                    <a:pt x="2237689" y="219304"/>
                  </a:cubicBezTo>
                  <a:cubicBezTo>
                    <a:pt x="2243582" y="214528"/>
                    <a:pt x="2248052" y="207518"/>
                    <a:pt x="2251100" y="198272"/>
                  </a:cubicBezTo>
                  <a:cubicBezTo>
                    <a:pt x="2254148" y="189027"/>
                    <a:pt x="2255672" y="178105"/>
                    <a:pt x="2255672" y="165506"/>
                  </a:cubicBezTo>
                  <a:cubicBezTo>
                    <a:pt x="2255672" y="152298"/>
                    <a:pt x="2254148" y="141021"/>
                    <a:pt x="2251100" y="131674"/>
                  </a:cubicBezTo>
                  <a:cubicBezTo>
                    <a:pt x="2248052" y="122326"/>
                    <a:pt x="2243633" y="115214"/>
                    <a:pt x="2237842" y="110338"/>
                  </a:cubicBezTo>
                  <a:cubicBezTo>
                    <a:pt x="2232050" y="105461"/>
                    <a:pt x="2225091" y="103022"/>
                    <a:pt x="2216963" y="103022"/>
                  </a:cubicBezTo>
                  <a:close/>
                  <a:moveTo>
                    <a:pt x="1702613" y="103022"/>
                  </a:moveTo>
                  <a:cubicBezTo>
                    <a:pt x="1694688" y="103022"/>
                    <a:pt x="1687728" y="105461"/>
                    <a:pt x="1681734" y="110338"/>
                  </a:cubicBezTo>
                  <a:cubicBezTo>
                    <a:pt x="1675739" y="115214"/>
                    <a:pt x="1671167" y="122276"/>
                    <a:pt x="1668018" y="131521"/>
                  </a:cubicBezTo>
                  <a:cubicBezTo>
                    <a:pt x="1664868" y="140767"/>
                    <a:pt x="1663294" y="151892"/>
                    <a:pt x="1663294" y="164897"/>
                  </a:cubicBezTo>
                  <a:cubicBezTo>
                    <a:pt x="1663294" y="177902"/>
                    <a:pt x="1664817" y="188976"/>
                    <a:pt x="1667866" y="198120"/>
                  </a:cubicBezTo>
                  <a:cubicBezTo>
                    <a:pt x="1670913" y="207264"/>
                    <a:pt x="1675384" y="214274"/>
                    <a:pt x="1681277" y="219151"/>
                  </a:cubicBezTo>
                  <a:cubicBezTo>
                    <a:pt x="1687169" y="224028"/>
                    <a:pt x="1694078" y="226466"/>
                    <a:pt x="1702003" y="226466"/>
                  </a:cubicBezTo>
                  <a:cubicBezTo>
                    <a:pt x="1710334" y="226466"/>
                    <a:pt x="1717446" y="224079"/>
                    <a:pt x="1723339" y="219304"/>
                  </a:cubicBezTo>
                  <a:cubicBezTo>
                    <a:pt x="1729232" y="214528"/>
                    <a:pt x="1733702" y="207518"/>
                    <a:pt x="1736750" y="198272"/>
                  </a:cubicBezTo>
                  <a:cubicBezTo>
                    <a:pt x="1739798" y="189027"/>
                    <a:pt x="1741322" y="178105"/>
                    <a:pt x="1741322" y="165506"/>
                  </a:cubicBezTo>
                  <a:cubicBezTo>
                    <a:pt x="1741322" y="152298"/>
                    <a:pt x="1739798" y="141021"/>
                    <a:pt x="1736750" y="131674"/>
                  </a:cubicBezTo>
                  <a:cubicBezTo>
                    <a:pt x="1733702" y="122326"/>
                    <a:pt x="1729283" y="115214"/>
                    <a:pt x="1723492" y="110338"/>
                  </a:cubicBezTo>
                  <a:cubicBezTo>
                    <a:pt x="1717700" y="105461"/>
                    <a:pt x="1710741" y="103022"/>
                    <a:pt x="1702613" y="103022"/>
                  </a:cubicBezTo>
                  <a:close/>
                  <a:moveTo>
                    <a:pt x="435788" y="103022"/>
                  </a:moveTo>
                  <a:cubicBezTo>
                    <a:pt x="427863" y="103022"/>
                    <a:pt x="420903" y="105461"/>
                    <a:pt x="414909" y="110338"/>
                  </a:cubicBezTo>
                  <a:cubicBezTo>
                    <a:pt x="408915" y="115214"/>
                    <a:pt x="404343" y="122276"/>
                    <a:pt x="401193" y="131521"/>
                  </a:cubicBezTo>
                  <a:cubicBezTo>
                    <a:pt x="398043" y="140767"/>
                    <a:pt x="396469" y="151892"/>
                    <a:pt x="396469" y="164897"/>
                  </a:cubicBezTo>
                  <a:cubicBezTo>
                    <a:pt x="396469" y="177902"/>
                    <a:pt x="397993" y="188976"/>
                    <a:pt x="401041" y="198120"/>
                  </a:cubicBezTo>
                  <a:cubicBezTo>
                    <a:pt x="404089" y="207264"/>
                    <a:pt x="408559" y="214274"/>
                    <a:pt x="414452" y="219151"/>
                  </a:cubicBezTo>
                  <a:cubicBezTo>
                    <a:pt x="420345" y="224028"/>
                    <a:pt x="427253" y="226466"/>
                    <a:pt x="435178" y="226466"/>
                  </a:cubicBezTo>
                  <a:cubicBezTo>
                    <a:pt x="443509" y="226466"/>
                    <a:pt x="450621" y="224079"/>
                    <a:pt x="456514" y="219304"/>
                  </a:cubicBezTo>
                  <a:cubicBezTo>
                    <a:pt x="462407" y="214528"/>
                    <a:pt x="466877" y="207518"/>
                    <a:pt x="469926" y="198272"/>
                  </a:cubicBezTo>
                  <a:cubicBezTo>
                    <a:pt x="472973" y="189027"/>
                    <a:pt x="474497" y="178105"/>
                    <a:pt x="474497" y="165506"/>
                  </a:cubicBezTo>
                  <a:cubicBezTo>
                    <a:pt x="474497" y="152298"/>
                    <a:pt x="472973" y="141021"/>
                    <a:pt x="469926" y="131674"/>
                  </a:cubicBezTo>
                  <a:cubicBezTo>
                    <a:pt x="466877" y="122326"/>
                    <a:pt x="462458" y="115214"/>
                    <a:pt x="456667" y="110338"/>
                  </a:cubicBezTo>
                  <a:cubicBezTo>
                    <a:pt x="450875" y="105461"/>
                    <a:pt x="443916" y="103022"/>
                    <a:pt x="435788" y="103022"/>
                  </a:cubicBezTo>
                  <a:close/>
                  <a:moveTo>
                    <a:pt x="1167079" y="101803"/>
                  </a:moveTo>
                  <a:cubicBezTo>
                    <a:pt x="1156106" y="101803"/>
                    <a:pt x="1147216" y="107188"/>
                    <a:pt x="1140409" y="117958"/>
                  </a:cubicBezTo>
                  <a:cubicBezTo>
                    <a:pt x="1137006" y="123342"/>
                    <a:pt x="1134453" y="129921"/>
                    <a:pt x="1132751" y="137693"/>
                  </a:cubicBezTo>
                  <a:lnTo>
                    <a:pt x="1131327" y="147032"/>
                  </a:lnTo>
                  <a:lnTo>
                    <a:pt x="1198778" y="146304"/>
                  </a:lnTo>
                  <a:cubicBezTo>
                    <a:pt x="1198778" y="139802"/>
                    <a:pt x="1198118" y="133858"/>
                    <a:pt x="1196797" y="128473"/>
                  </a:cubicBezTo>
                  <a:cubicBezTo>
                    <a:pt x="1195476" y="123088"/>
                    <a:pt x="1193546" y="118415"/>
                    <a:pt x="1191006" y="114452"/>
                  </a:cubicBezTo>
                  <a:cubicBezTo>
                    <a:pt x="1188466" y="110490"/>
                    <a:pt x="1185215" y="107391"/>
                    <a:pt x="1181252" y="105156"/>
                  </a:cubicBezTo>
                  <a:cubicBezTo>
                    <a:pt x="1177290" y="102921"/>
                    <a:pt x="1172566" y="101803"/>
                    <a:pt x="1167079" y="101803"/>
                  </a:cubicBezTo>
                  <a:close/>
                  <a:moveTo>
                    <a:pt x="271729" y="101803"/>
                  </a:moveTo>
                  <a:cubicBezTo>
                    <a:pt x="260756" y="101803"/>
                    <a:pt x="251867" y="107188"/>
                    <a:pt x="245059" y="117958"/>
                  </a:cubicBezTo>
                  <a:cubicBezTo>
                    <a:pt x="241656" y="123342"/>
                    <a:pt x="239103" y="129921"/>
                    <a:pt x="237401" y="137693"/>
                  </a:cubicBezTo>
                  <a:lnTo>
                    <a:pt x="235977" y="147032"/>
                  </a:lnTo>
                  <a:lnTo>
                    <a:pt x="303428" y="146304"/>
                  </a:lnTo>
                  <a:cubicBezTo>
                    <a:pt x="303428" y="139802"/>
                    <a:pt x="302768" y="133858"/>
                    <a:pt x="301447" y="128473"/>
                  </a:cubicBezTo>
                  <a:cubicBezTo>
                    <a:pt x="300126" y="123088"/>
                    <a:pt x="298196" y="118415"/>
                    <a:pt x="295656" y="114452"/>
                  </a:cubicBezTo>
                  <a:cubicBezTo>
                    <a:pt x="293116" y="110490"/>
                    <a:pt x="289865" y="107391"/>
                    <a:pt x="285902" y="105156"/>
                  </a:cubicBezTo>
                  <a:cubicBezTo>
                    <a:pt x="281940" y="102921"/>
                    <a:pt x="277216" y="101803"/>
                    <a:pt x="271729" y="101803"/>
                  </a:cubicBezTo>
                  <a:close/>
                  <a:moveTo>
                    <a:pt x="1999716" y="78029"/>
                  </a:moveTo>
                  <a:lnTo>
                    <a:pt x="2118284" y="78029"/>
                  </a:lnTo>
                  <a:lnTo>
                    <a:pt x="2118284" y="97231"/>
                  </a:lnTo>
                  <a:lnTo>
                    <a:pt x="2039340" y="224942"/>
                  </a:lnTo>
                  <a:lnTo>
                    <a:pt x="2119503" y="225247"/>
                  </a:lnTo>
                  <a:lnTo>
                    <a:pt x="2119503" y="251460"/>
                  </a:lnTo>
                  <a:lnTo>
                    <a:pt x="1997583" y="251460"/>
                  </a:lnTo>
                  <a:lnTo>
                    <a:pt x="1997278" y="232867"/>
                  </a:lnTo>
                  <a:lnTo>
                    <a:pt x="2075612" y="104242"/>
                  </a:lnTo>
                  <a:lnTo>
                    <a:pt x="2000021" y="104242"/>
                  </a:lnTo>
                  <a:close/>
                  <a:moveTo>
                    <a:pt x="1923440" y="78029"/>
                  </a:moveTo>
                  <a:lnTo>
                    <a:pt x="1959407" y="78029"/>
                  </a:lnTo>
                  <a:lnTo>
                    <a:pt x="1959407" y="251460"/>
                  </a:lnTo>
                  <a:lnTo>
                    <a:pt x="1923440" y="251460"/>
                  </a:lnTo>
                  <a:close/>
                  <a:moveTo>
                    <a:pt x="929945" y="78029"/>
                  </a:moveTo>
                  <a:lnTo>
                    <a:pt x="966825" y="78029"/>
                  </a:lnTo>
                  <a:lnTo>
                    <a:pt x="1009379" y="202979"/>
                  </a:lnTo>
                  <a:lnTo>
                    <a:pt x="1052474" y="78029"/>
                  </a:lnTo>
                  <a:lnTo>
                    <a:pt x="1087526" y="78029"/>
                  </a:lnTo>
                  <a:lnTo>
                    <a:pt x="1025957" y="251460"/>
                  </a:lnTo>
                  <a:lnTo>
                    <a:pt x="990905" y="251460"/>
                  </a:lnTo>
                  <a:close/>
                  <a:moveTo>
                    <a:pt x="2554453" y="73762"/>
                  </a:moveTo>
                  <a:cubicBezTo>
                    <a:pt x="2565222" y="73762"/>
                    <a:pt x="2575636" y="76098"/>
                    <a:pt x="2585695" y="80772"/>
                  </a:cubicBezTo>
                  <a:cubicBezTo>
                    <a:pt x="2595753" y="85446"/>
                    <a:pt x="2603221" y="93167"/>
                    <a:pt x="2608098" y="103937"/>
                  </a:cubicBezTo>
                  <a:lnTo>
                    <a:pt x="2584628" y="117653"/>
                  </a:lnTo>
                  <a:cubicBezTo>
                    <a:pt x="2581580" y="111963"/>
                    <a:pt x="2577262" y="107747"/>
                    <a:pt x="2571674" y="105004"/>
                  </a:cubicBezTo>
                  <a:cubicBezTo>
                    <a:pt x="2566086" y="102260"/>
                    <a:pt x="2560650" y="100889"/>
                    <a:pt x="2555367" y="100889"/>
                  </a:cubicBezTo>
                  <a:cubicBezTo>
                    <a:pt x="2551303" y="100889"/>
                    <a:pt x="2547493" y="101702"/>
                    <a:pt x="2543937" y="103327"/>
                  </a:cubicBezTo>
                  <a:cubicBezTo>
                    <a:pt x="2540381" y="104953"/>
                    <a:pt x="2537485" y="107290"/>
                    <a:pt x="2535250" y="110338"/>
                  </a:cubicBezTo>
                  <a:cubicBezTo>
                    <a:pt x="2533015" y="113386"/>
                    <a:pt x="2531898" y="117246"/>
                    <a:pt x="2531898" y="121920"/>
                  </a:cubicBezTo>
                  <a:cubicBezTo>
                    <a:pt x="2531898" y="127203"/>
                    <a:pt x="2533726" y="131623"/>
                    <a:pt x="2537384" y="135179"/>
                  </a:cubicBezTo>
                  <a:cubicBezTo>
                    <a:pt x="2541042" y="138735"/>
                    <a:pt x="2545766" y="141884"/>
                    <a:pt x="2551557" y="144628"/>
                  </a:cubicBezTo>
                  <a:cubicBezTo>
                    <a:pt x="2557348" y="147371"/>
                    <a:pt x="2563444" y="150216"/>
                    <a:pt x="2569845" y="153162"/>
                  </a:cubicBezTo>
                  <a:cubicBezTo>
                    <a:pt x="2576246" y="156108"/>
                    <a:pt x="2582291" y="159614"/>
                    <a:pt x="2587981" y="163678"/>
                  </a:cubicBezTo>
                  <a:cubicBezTo>
                    <a:pt x="2593670" y="167742"/>
                    <a:pt x="2598344" y="172822"/>
                    <a:pt x="2602001" y="178918"/>
                  </a:cubicBezTo>
                  <a:cubicBezTo>
                    <a:pt x="2605659" y="185014"/>
                    <a:pt x="2607488" y="192735"/>
                    <a:pt x="2607488" y="202082"/>
                  </a:cubicBezTo>
                  <a:cubicBezTo>
                    <a:pt x="2607488" y="213665"/>
                    <a:pt x="2604643" y="223469"/>
                    <a:pt x="2598954" y="231496"/>
                  </a:cubicBezTo>
                  <a:cubicBezTo>
                    <a:pt x="2593264" y="239522"/>
                    <a:pt x="2585847" y="245567"/>
                    <a:pt x="2576703" y="249631"/>
                  </a:cubicBezTo>
                  <a:cubicBezTo>
                    <a:pt x="2567559" y="253695"/>
                    <a:pt x="2557602" y="255727"/>
                    <a:pt x="2546832" y="255727"/>
                  </a:cubicBezTo>
                  <a:cubicBezTo>
                    <a:pt x="2537282" y="255727"/>
                    <a:pt x="2527528" y="254102"/>
                    <a:pt x="2517572" y="250850"/>
                  </a:cubicBezTo>
                  <a:cubicBezTo>
                    <a:pt x="2507615" y="247599"/>
                    <a:pt x="2498471" y="242722"/>
                    <a:pt x="2490140" y="236220"/>
                  </a:cubicBezTo>
                  <a:lnTo>
                    <a:pt x="2503551" y="214274"/>
                  </a:lnTo>
                  <a:cubicBezTo>
                    <a:pt x="2509850" y="218542"/>
                    <a:pt x="2516708" y="221844"/>
                    <a:pt x="2524125" y="224180"/>
                  </a:cubicBezTo>
                  <a:cubicBezTo>
                    <a:pt x="2531542" y="226517"/>
                    <a:pt x="2538603" y="227686"/>
                    <a:pt x="2545308" y="227686"/>
                  </a:cubicBezTo>
                  <a:cubicBezTo>
                    <a:pt x="2552624" y="227686"/>
                    <a:pt x="2558872" y="225755"/>
                    <a:pt x="2564054" y="221894"/>
                  </a:cubicBezTo>
                  <a:cubicBezTo>
                    <a:pt x="2569235" y="218034"/>
                    <a:pt x="2571826" y="212242"/>
                    <a:pt x="2571826" y="204521"/>
                  </a:cubicBezTo>
                  <a:cubicBezTo>
                    <a:pt x="2571826" y="198831"/>
                    <a:pt x="2569998" y="194208"/>
                    <a:pt x="2566340" y="190652"/>
                  </a:cubicBezTo>
                  <a:cubicBezTo>
                    <a:pt x="2562682" y="187096"/>
                    <a:pt x="2557958" y="183896"/>
                    <a:pt x="2552166" y="181051"/>
                  </a:cubicBezTo>
                  <a:cubicBezTo>
                    <a:pt x="2546376" y="178206"/>
                    <a:pt x="2540330" y="175311"/>
                    <a:pt x="2534031" y="172364"/>
                  </a:cubicBezTo>
                  <a:cubicBezTo>
                    <a:pt x="2527732" y="169418"/>
                    <a:pt x="2521687" y="165913"/>
                    <a:pt x="2515896" y="161849"/>
                  </a:cubicBezTo>
                  <a:cubicBezTo>
                    <a:pt x="2510104" y="157785"/>
                    <a:pt x="2505380" y="152603"/>
                    <a:pt x="2501722" y="146304"/>
                  </a:cubicBezTo>
                  <a:cubicBezTo>
                    <a:pt x="2498065" y="140005"/>
                    <a:pt x="2496236" y="131978"/>
                    <a:pt x="2496236" y="122225"/>
                  </a:cubicBezTo>
                  <a:cubicBezTo>
                    <a:pt x="2496236" y="112065"/>
                    <a:pt x="2499030" y="103327"/>
                    <a:pt x="2504618" y="96012"/>
                  </a:cubicBezTo>
                  <a:cubicBezTo>
                    <a:pt x="2510206" y="88697"/>
                    <a:pt x="2517470" y="83160"/>
                    <a:pt x="2526411" y="79400"/>
                  </a:cubicBezTo>
                  <a:cubicBezTo>
                    <a:pt x="2535352" y="75641"/>
                    <a:pt x="2544699" y="73762"/>
                    <a:pt x="2554453" y="73762"/>
                  </a:cubicBezTo>
                  <a:close/>
                  <a:moveTo>
                    <a:pt x="2406091" y="73762"/>
                  </a:moveTo>
                  <a:cubicBezTo>
                    <a:pt x="2415845" y="73762"/>
                    <a:pt x="2424532" y="75997"/>
                    <a:pt x="2432152" y="80467"/>
                  </a:cubicBezTo>
                  <a:cubicBezTo>
                    <a:pt x="2439772" y="84938"/>
                    <a:pt x="2445766" y="91592"/>
                    <a:pt x="2450135" y="100432"/>
                  </a:cubicBezTo>
                  <a:cubicBezTo>
                    <a:pt x="2454504" y="109271"/>
                    <a:pt x="2456688" y="120294"/>
                    <a:pt x="2456688" y="133502"/>
                  </a:cubicBezTo>
                  <a:lnTo>
                    <a:pt x="2456688" y="251460"/>
                  </a:lnTo>
                  <a:lnTo>
                    <a:pt x="2420722" y="251460"/>
                  </a:lnTo>
                  <a:lnTo>
                    <a:pt x="2420722" y="137160"/>
                  </a:lnTo>
                  <a:cubicBezTo>
                    <a:pt x="2420722" y="126390"/>
                    <a:pt x="2418486" y="117907"/>
                    <a:pt x="2414016" y="111709"/>
                  </a:cubicBezTo>
                  <a:cubicBezTo>
                    <a:pt x="2409545" y="105512"/>
                    <a:pt x="2403348" y="102413"/>
                    <a:pt x="2395423" y="102413"/>
                  </a:cubicBezTo>
                  <a:cubicBezTo>
                    <a:pt x="2389327" y="102413"/>
                    <a:pt x="2383536" y="104394"/>
                    <a:pt x="2378050" y="108356"/>
                  </a:cubicBezTo>
                  <a:cubicBezTo>
                    <a:pt x="2372563" y="112319"/>
                    <a:pt x="2368093" y="118466"/>
                    <a:pt x="2364638" y="126797"/>
                  </a:cubicBezTo>
                  <a:cubicBezTo>
                    <a:pt x="2361184" y="135128"/>
                    <a:pt x="2359457" y="145999"/>
                    <a:pt x="2359457" y="159410"/>
                  </a:cubicBezTo>
                  <a:lnTo>
                    <a:pt x="2359457" y="251460"/>
                  </a:lnTo>
                  <a:lnTo>
                    <a:pt x="2323186" y="251460"/>
                  </a:lnTo>
                  <a:lnTo>
                    <a:pt x="2323186" y="78029"/>
                  </a:lnTo>
                  <a:lnTo>
                    <a:pt x="2357628" y="78029"/>
                  </a:lnTo>
                  <a:lnTo>
                    <a:pt x="2358374" y="102502"/>
                  </a:lnTo>
                  <a:lnTo>
                    <a:pt x="2370734" y="87173"/>
                  </a:lnTo>
                  <a:cubicBezTo>
                    <a:pt x="2381301" y="78232"/>
                    <a:pt x="2393086" y="73762"/>
                    <a:pt x="2406091" y="73762"/>
                  </a:cubicBezTo>
                  <a:close/>
                  <a:moveTo>
                    <a:pt x="2217877" y="73762"/>
                  </a:moveTo>
                  <a:cubicBezTo>
                    <a:pt x="2234540" y="73762"/>
                    <a:pt x="2248408" y="77521"/>
                    <a:pt x="2259482" y="85039"/>
                  </a:cubicBezTo>
                  <a:cubicBezTo>
                    <a:pt x="2270557" y="92558"/>
                    <a:pt x="2278888" y="103175"/>
                    <a:pt x="2284476" y="116891"/>
                  </a:cubicBezTo>
                  <a:cubicBezTo>
                    <a:pt x="2290064" y="130607"/>
                    <a:pt x="2292858" y="146609"/>
                    <a:pt x="2292858" y="164897"/>
                  </a:cubicBezTo>
                  <a:cubicBezTo>
                    <a:pt x="2292858" y="183388"/>
                    <a:pt x="2289810" y="199492"/>
                    <a:pt x="2283714" y="213208"/>
                  </a:cubicBezTo>
                  <a:cubicBezTo>
                    <a:pt x="2277618" y="226924"/>
                    <a:pt x="2268830" y="237439"/>
                    <a:pt x="2257349" y="244754"/>
                  </a:cubicBezTo>
                  <a:cubicBezTo>
                    <a:pt x="2245868" y="252070"/>
                    <a:pt x="2231898" y="255727"/>
                    <a:pt x="2215439" y="255727"/>
                  </a:cubicBezTo>
                  <a:cubicBezTo>
                    <a:pt x="2198776" y="255727"/>
                    <a:pt x="2184908" y="251917"/>
                    <a:pt x="2173834" y="244297"/>
                  </a:cubicBezTo>
                  <a:cubicBezTo>
                    <a:pt x="2162759" y="236677"/>
                    <a:pt x="2154478" y="226111"/>
                    <a:pt x="2148992" y="212598"/>
                  </a:cubicBezTo>
                  <a:cubicBezTo>
                    <a:pt x="2143506" y="199085"/>
                    <a:pt x="2140762" y="183388"/>
                    <a:pt x="2140763" y="165506"/>
                  </a:cubicBezTo>
                  <a:cubicBezTo>
                    <a:pt x="2140762" y="147015"/>
                    <a:pt x="2143810" y="130861"/>
                    <a:pt x="2149907" y="117043"/>
                  </a:cubicBezTo>
                  <a:cubicBezTo>
                    <a:pt x="2156002" y="103226"/>
                    <a:pt x="2164842" y="92558"/>
                    <a:pt x="2176424" y="85039"/>
                  </a:cubicBezTo>
                  <a:cubicBezTo>
                    <a:pt x="2188006" y="77521"/>
                    <a:pt x="2201824" y="73762"/>
                    <a:pt x="2217877" y="73762"/>
                  </a:cubicBezTo>
                  <a:close/>
                  <a:moveTo>
                    <a:pt x="1890217" y="73762"/>
                  </a:moveTo>
                  <a:cubicBezTo>
                    <a:pt x="1891842" y="73762"/>
                    <a:pt x="1893418" y="73762"/>
                    <a:pt x="1894942" y="73762"/>
                  </a:cubicBezTo>
                  <a:cubicBezTo>
                    <a:pt x="1896466" y="73762"/>
                    <a:pt x="1898040" y="73965"/>
                    <a:pt x="1899666" y="74371"/>
                  </a:cubicBezTo>
                  <a:lnTo>
                    <a:pt x="1895704" y="110338"/>
                  </a:lnTo>
                  <a:cubicBezTo>
                    <a:pt x="1890420" y="108102"/>
                    <a:pt x="1885340" y="106985"/>
                    <a:pt x="1880464" y="106985"/>
                  </a:cubicBezTo>
                  <a:cubicBezTo>
                    <a:pt x="1873554" y="106985"/>
                    <a:pt x="1867408" y="109118"/>
                    <a:pt x="1862023" y="113386"/>
                  </a:cubicBezTo>
                  <a:cubicBezTo>
                    <a:pt x="1856638" y="117653"/>
                    <a:pt x="1852473" y="123647"/>
                    <a:pt x="1849526" y="131369"/>
                  </a:cubicBezTo>
                  <a:cubicBezTo>
                    <a:pt x="1846580" y="139090"/>
                    <a:pt x="1845107" y="148234"/>
                    <a:pt x="1845107" y="158801"/>
                  </a:cubicBezTo>
                  <a:lnTo>
                    <a:pt x="1845107" y="251460"/>
                  </a:lnTo>
                  <a:lnTo>
                    <a:pt x="1809140" y="251460"/>
                  </a:lnTo>
                  <a:lnTo>
                    <a:pt x="1809140" y="76810"/>
                  </a:lnTo>
                  <a:lnTo>
                    <a:pt x="1842973" y="76810"/>
                  </a:lnTo>
                  <a:lnTo>
                    <a:pt x="1844225" y="106852"/>
                  </a:lnTo>
                  <a:lnTo>
                    <a:pt x="1844764" y="105232"/>
                  </a:lnTo>
                  <a:cubicBezTo>
                    <a:pt x="1847888" y="98577"/>
                    <a:pt x="1851609" y="92862"/>
                    <a:pt x="1855927" y="88087"/>
                  </a:cubicBezTo>
                  <a:cubicBezTo>
                    <a:pt x="1864563" y="78537"/>
                    <a:pt x="1875993" y="73762"/>
                    <a:pt x="1890217" y="73762"/>
                  </a:cubicBezTo>
                  <a:close/>
                  <a:moveTo>
                    <a:pt x="1703527" y="73762"/>
                  </a:moveTo>
                  <a:cubicBezTo>
                    <a:pt x="1720190" y="73762"/>
                    <a:pt x="1734058" y="77521"/>
                    <a:pt x="1745132" y="85039"/>
                  </a:cubicBezTo>
                  <a:cubicBezTo>
                    <a:pt x="1756207" y="92558"/>
                    <a:pt x="1764538" y="103175"/>
                    <a:pt x="1770126" y="116891"/>
                  </a:cubicBezTo>
                  <a:cubicBezTo>
                    <a:pt x="1775714" y="130607"/>
                    <a:pt x="1778508" y="146609"/>
                    <a:pt x="1778508" y="164897"/>
                  </a:cubicBezTo>
                  <a:cubicBezTo>
                    <a:pt x="1778508" y="183388"/>
                    <a:pt x="1775460" y="199492"/>
                    <a:pt x="1769364" y="213208"/>
                  </a:cubicBezTo>
                  <a:cubicBezTo>
                    <a:pt x="1763268" y="226924"/>
                    <a:pt x="1754479" y="237439"/>
                    <a:pt x="1742999" y="244754"/>
                  </a:cubicBezTo>
                  <a:cubicBezTo>
                    <a:pt x="1731518" y="252070"/>
                    <a:pt x="1717548" y="255727"/>
                    <a:pt x="1701089" y="255727"/>
                  </a:cubicBezTo>
                  <a:cubicBezTo>
                    <a:pt x="1684426" y="255727"/>
                    <a:pt x="1670558" y="251917"/>
                    <a:pt x="1659483" y="244297"/>
                  </a:cubicBezTo>
                  <a:cubicBezTo>
                    <a:pt x="1648409" y="236677"/>
                    <a:pt x="1640129" y="226111"/>
                    <a:pt x="1634642" y="212598"/>
                  </a:cubicBezTo>
                  <a:cubicBezTo>
                    <a:pt x="1629156" y="199085"/>
                    <a:pt x="1626413" y="183388"/>
                    <a:pt x="1626413" y="165506"/>
                  </a:cubicBezTo>
                  <a:cubicBezTo>
                    <a:pt x="1626413" y="147015"/>
                    <a:pt x="1629461" y="130861"/>
                    <a:pt x="1635557" y="117043"/>
                  </a:cubicBezTo>
                  <a:cubicBezTo>
                    <a:pt x="1641653" y="103226"/>
                    <a:pt x="1650492" y="92558"/>
                    <a:pt x="1662074" y="85039"/>
                  </a:cubicBezTo>
                  <a:cubicBezTo>
                    <a:pt x="1673657" y="77521"/>
                    <a:pt x="1687474" y="73762"/>
                    <a:pt x="1703527" y="73762"/>
                  </a:cubicBezTo>
                  <a:close/>
                  <a:moveTo>
                    <a:pt x="1167384" y="73762"/>
                  </a:moveTo>
                  <a:cubicBezTo>
                    <a:pt x="1183640" y="73762"/>
                    <a:pt x="1196746" y="77267"/>
                    <a:pt x="1206703" y="84277"/>
                  </a:cubicBezTo>
                  <a:cubicBezTo>
                    <a:pt x="1216660" y="91288"/>
                    <a:pt x="1223873" y="101498"/>
                    <a:pt x="1228344" y="114910"/>
                  </a:cubicBezTo>
                  <a:cubicBezTo>
                    <a:pt x="1232814" y="128321"/>
                    <a:pt x="1235050" y="144170"/>
                    <a:pt x="1235050" y="162458"/>
                  </a:cubicBezTo>
                  <a:lnTo>
                    <a:pt x="1235050" y="173736"/>
                  </a:lnTo>
                  <a:lnTo>
                    <a:pt x="1130709" y="173736"/>
                  </a:lnTo>
                  <a:lnTo>
                    <a:pt x="1130998" y="178908"/>
                  </a:lnTo>
                  <a:cubicBezTo>
                    <a:pt x="1132599" y="192300"/>
                    <a:pt x="1136599" y="202921"/>
                    <a:pt x="1143000" y="210769"/>
                  </a:cubicBezTo>
                  <a:cubicBezTo>
                    <a:pt x="1151534" y="221234"/>
                    <a:pt x="1162710" y="226466"/>
                    <a:pt x="1176528" y="226466"/>
                  </a:cubicBezTo>
                  <a:cubicBezTo>
                    <a:pt x="1183843" y="226466"/>
                    <a:pt x="1191107" y="225400"/>
                    <a:pt x="1198321" y="223266"/>
                  </a:cubicBezTo>
                  <a:cubicBezTo>
                    <a:pt x="1205534" y="221132"/>
                    <a:pt x="1213104" y="218034"/>
                    <a:pt x="1221029" y="213970"/>
                  </a:cubicBezTo>
                  <a:lnTo>
                    <a:pt x="1231697" y="238049"/>
                  </a:lnTo>
                  <a:cubicBezTo>
                    <a:pt x="1222146" y="244145"/>
                    <a:pt x="1212342" y="248615"/>
                    <a:pt x="1202283" y="251460"/>
                  </a:cubicBezTo>
                  <a:cubicBezTo>
                    <a:pt x="1192225" y="254305"/>
                    <a:pt x="1182421" y="255727"/>
                    <a:pt x="1172870" y="255727"/>
                  </a:cubicBezTo>
                  <a:cubicBezTo>
                    <a:pt x="1157427" y="255727"/>
                    <a:pt x="1143660" y="252171"/>
                    <a:pt x="1131570" y="245059"/>
                  </a:cubicBezTo>
                  <a:cubicBezTo>
                    <a:pt x="1119480" y="237947"/>
                    <a:pt x="1110082" y="227482"/>
                    <a:pt x="1103376" y="213665"/>
                  </a:cubicBezTo>
                  <a:cubicBezTo>
                    <a:pt x="1096670" y="199847"/>
                    <a:pt x="1093317" y="183083"/>
                    <a:pt x="1093317" y="163373"/>
                  </a:cubicBezTo>
                  <a:cubicBezTo>
                    <a:pt x="1093317" y="143866"/>
                    <a:pt x="1096619" y="127508"/>
                    <a:pt x="1103224" y="114300"/>
                  </a:cubicBezTo>
                  <a:cubicBezTo>
                    <a:pt x="1109828" y="101092"/>
                    <a:pt x="1118768" y="91034"/>
                    <a:pt x="1130046" y="84125"/>
                  </a:cubicBezTo>
                  <a:cubicBezTo>
                    <a:pt x="1141324" y="77216"/>
                    <a:pt x="1153770" y="73762"/>
                    <a:pt x="1167384" y="73762"/>
                  </a:cubicBezTo>
                  <a:close/>
                  <a:moveTo>
                    <a:pt x="852221" y="73762"/>
                  </a:moveTo>
                  <a:cubicBezTo>
                    <a:pt x="863600" y="73762"/>
                    <a:pt x="873557" y="75895"/>
                    <a:pt x="882091" y="80162"/>
                  </a:cubicBezTo>
                  <a:cubicBezTo>
                    <a:pt x="890626" y="84430"/>
                    <a:pt x="897331" y="90881"/>
                    <a:pt x="902208" y="99517"/>
                  </a:cubicBezTo>
                  <a:cubicBezTo>
                    <a:pt x="907085" y="108153"/>
                    <a:pt x="909523" y="119075"/>
                    <a:pt x="909523" y="132283"/>
                  </a:cubicBezTo>
                  <a:lnTo>
                    <a:pt x="909523" y="208483"/>
                  </a:lnTo>
                  <a:cubicBezTo>
                    <a:pt x="909523" y="215189"/>
                    <a:pt x="910488" y="220066"/>
                    <a:pt x="912419" y="223114"/>
                  </a:cubicBezTo>
                  <a:cubicBezTo>
                    <a:pt x="914349" y="226162"/>
                    <a:pt x="917956" y="227686"/>
                    <a:pt x="923239" y="227686"/>
                  </a:cubicBezTo>
                  <a:cubicBezTo>
                    <a:pt x="923849" y="227686"/>
                    <a:pt x="924610" y="227686"/>
                    <a:pt x="925525" y="227686"/>
                  </a:cubicBezTo>
                  <a:cubicBezTo>
                    <a:pt x="926439" y="227686"/>
                    <a:pt x="927303" y="227584"/>
                    <a:pt x="928116" y="227381"/>
                  </a:cubicBezTo>
                  <a:lnTo>
                    <a:pt x="929335" y="253898"/>
                  </a:lnTo>
                  <a:cubicBezTo>
                    <a:pt x="926490" y="254508"/>
                    <a:pt x="923696" y="254965"/>
                    <a:pt x="920953" y="255270"/>
                  </a:cubicBezTo>
                  <a:cubicBezTo>
                    <a:pt x="918210" y="255575"/>
                    <a:pt x="915619" y="255727"/>
                    <a:pt x="913181" y="255727"/>
                  </a:cubicBezTo>
                  <a:cubicBezTo>
                    <a:pt x="902208" y="255727"/>
                    <a:pt x="893674" y="252628"/>
                    <a:pt x="887578" y="246431"/>
                  </a:cubicBezTo>
                  <a:cubicBezTo>
                    <a:pt x="884529" y="243332"/>
                    <a:pt x="882244" y="239306"/>
                    <a:pt x="880720" y="234353"/>
                  </a:cubicBezTo>
                  <a:lnTo>
                    <a:pt x="880194" y="230295"/>
                  </a:lnTo>
                  <a:lnTo>
                    <a:pt x="874166" y="238963"/>
                  </a:lnTo>
                  <a:cubicBezTo>
                    <a:pt x="868883" y="244653"/>
                    <a:pt x="862838" y="248869"/>
                    <a:pt x="856031" y="251612"/>
                  </a:cubicBezTo>
                  <a:cubicBezTo>
                    <a:pt x="849223" y="254356"/>
                    <a:pt x="842264" y="255727"/>
                    <a:pt x="835152" y="255727"/>
                  </a:cubicBezTo>
                  <a:cubicBezTo>
                    <a:pt x="825805" y="255727"/>
                    <a:pt x="817118" y="253644"/>
                    <a:pt x="809092" y="249479"/>
                  </a:cubicBezTo>
                  <a:cubicBezTo>
                    <a:pt x="801065" y="245313"/>
                    <a:pt x="794715" y="239268"/>
                    <a:pt x="790041" y="231343"/>
                  </a:cubicBezTo>
                  <a:cubicBezTo>
                    <a:pt x="785368" y="223418"/>
                    <a:pt x="783031" y="213766"/>
                    <a:pt x="783031" y="202387"/>
                  </a:cubicBezTo>
                  <a:cubicBezTo>
                    <a:pt x="783031" y="185725"/>
                    <a:pt x="789635" y="172466"/>
                    <a:pt x="802843" y="162611"/>
                  </a:cubicBezTo>
                  <a:cubicBezTo>
                    <a:pt x="816051" y="152756"/>
                    <a:pt x="834136" y="147828"/>
                    <a:pt x="857098" y="147828"/>
                  </a:cubicBezTo>
                  <a:cubicBezTo>
                    <a:pt x="861568" y="147828"/>
                    <a:pt x="866800" y="147980"/>
                    <a:pt x="872795" y="148285"/>
                  </a:cubicBezTo>
                  <a:lnTo>
                    <a:pt x="873252" y="148342"/>
                  </a:lnTo>
                  <a:lnTo>
                    <a:pt x="873252" y="133502"/>
                  </a:lnTo>
                  <a:cubicBezTo>
                    <a:pt x="873252" y="123139"/>
                    <a:pt x="870610" y="115621"/>
                    <a:pt x="865327" y="110947"/>
                  </a:cubicBezTo>
                  <a:cubicBezTo>
                    <a:pt x="860044" y="106274"/>
                    <a:pt x="853135" y="103937"/>
                    <a:pt x="844601" y="103937"/>
                  </a:cubicBezTo>
                  <a:cubicBezTo>
                    <a:pt x="838301" y="103937"/>
                    <a:pt x="831392" y="105258"/>
                    <a:pt x="823874" y="107899"/>
                  </a:cubicBezTo>
                  <a:cubicBezTo>
                    <a:pt x="816356" y="110541"/>
                    <a:pt x="808838" y="113995"/>
                    <a:pt x="801319" y="118262"/>
                  </a:cubicBezTo>
                  <a:lnTo>
                    <a:pt x="788822" y="92050"/>
                  </a:lnTo>
                  <a:cubicBezTo>
                    <a:pt x="798169" y="86360"/>
                    <a:pt x="808533" y="81890"/>
                    <a:pt x="819912" y="78638"/>
                  </a:cubicBezTo>
                  <a:cubicBezTo>
                    <a:pt x="831291" y="75387"/>
                    <a:pt x="842061" y="73762"/>
                    <a:pt x="852221" y="73762"/>
                  </a:cubicBezTo>
                  <a:close/>
                  <a:moveTo>
                    <a:pt x="766267" y="73762"/>
                  </a:moveTo>
                  <a:cubicBezTo>
                    <a:pt x="767893" y="73762"/>
                    <a:pt x="769468" y="73762"/>
                    <a:pt x="770991" y="73762"/>
                  </a:cubicBezTo>
                  <a:cubicBezTo>
                    <a:pt x="772515" y="73762"/>
                    <a:pt x="774090" y="73965"/>
                    <a:pt x="775716" y="74371"/>
                  </a:cubicBezTo>
                  <a:lnTo>
                    <a:pt x="771753" y="110338"/>
                  </a:lnTo>
                  <a:cubicBezTo>
                    <a:pt x="766470" y="108102"/>
                    <a:pt x="761390" y="106985"/>
                    <a:pt x="756513" y="106985"/>
                  </a:cubicBezTo>
                  <a:cubicBezTo>
                    <a:pt x="749605" y="106985"/>
                    <a:pt x="743458" y="109118"/>
                    <a:pt x="738073" y="113386"/>
                  </a:cubicBezTo>
                  <a:cubicBezTo>
                    <a:pt x="732688" y="117653"/>
                    <a:pt x="728523" y="123647"/>
                    <a:pt x="725576" y="131369"/>
                  </a:cubicBezTo>
                  <a:cubicBezTo>
                    <a:pt x="722630" y="139090"/>
                    <a:pt x="721157" y="148234"/>
                    <a:pt x="721157" y="158801"/>
                  </a:cubicBezTo>
                  <a:lnTo>
                    <a:pt x="721157" y="251460"/>
                  </a:lnTo>
                  <a:lnTo>
                    <a:pt x="685190" y="251460"/>
                  </a:lnTo>
                  <a:lnTo>
                    <a:pt x="685190" y="76810"/>
                  </a:lnTo>
                  <a:lnTo>
                    <a:pt x="719023" y="76810"/>
                  </a:lnTo>
                  <a:lnTo>
                    <a:pt x="720275" y="106852"/>
                  </a:lnTo>
                  <a:lnTo>
                    <a:pt x="720814" y="105232"/>
                  </a:lnTo>
                  <a:cubicBezTo>
                    <a:pt x="723938" y="98577"/>
                    <a:pt x="727659" y="92862"/>
                    <a:pt x="731977" y="88087"/>
                  </a:cubicBezTo>
                  <a:cubicBezTo>
                    <a:pt x="740613" y="78537"/>
                    <a:pt x="752043" y="73762"/>
                    <a:pt x="766267" y="73762"/>
                  </a:cubicBezTo>
                  <a:close/>
                  <a:moveTo>
                    <a:pt x="436702" y="73762"/>
                  </a:moveTo>
                  <a:cubicBezTo>
                    <a:pt x="453365" y="73762"/>
                    <a:pt x="467233" y="77521"/>
                    <a:pt x="478307" y="85039"/>
                  </a:cubicBezTo>
                  <a:cubicBezTo>
                    <a:pt x="489382" y="92558"/>
                    <a:pt x="497713" y="103175"/>
                    <a:pt x="503301" y="116891"/>
                  </a:cubicBezTo>
                  <a:cubicBezTo>
                    <a:pt x="508889" y="130607"/>
                    <a:pt x="511683" y="146609"/>
                    <a:pt x="511683" y="164897"/>
                  </a:cubicBezTo>
                  <a:cubicBezTo>
                    <a:pt x="511683" y="183388"/>
                    <a:pt x="508635" y="199492"/>
                    <a:pt x="502539" y="213208"/>
                  </a:cubicBezTo>
                  <a:cubicBezTo>
                    <a:pt x="496443" y="226924"/>
                    <a:pt x="487655" y="237439"/>
                    <a:pt x="476174" y="244754"/>
                  </a:cubicBezTo>
                  <a:cubicBezTo>
                    <a:pt x="464693" y="252070"/>
                    <a:pt x="450723" y="255727"/>
                    <a:pt x="434264" y="255727"/>
                  </a:cubicBezTo>
                  <a:cubicBezTo>
                    <a:pt x="417601" y="255727"/>
                    <a:pt x="403733" y="251917"/>
                    <a:pt x="392659" y="244297"/>
                  </a:cubicBezTo>
                  <a:cubicBezTo>
                    <a:pt x="381584" y="236677"/>
                    <a:pt x="373304" y="226111"/>
                    <a:pt x="367817" y="212598"/>
                  </a:cubicBezTo>
                  <a:cubicBezTo>
                    <a:pt x="362331" y="199085"/>
                    <a:pt x="359588" y="183388"/>
                    <a:pt x="359588" y="165506"/>
                  </a:cubicBezTo>
                  <a:cubicBezTo>
                    <a:pt x="359588" y="147015"/>
                    <a:pt x="362636" y="130861"/>
                    <a:pt x="368732" y="117043"/>
                  </a:cubicBezTo>
                  <a:cubicBezTo>
                    <a:pt x="374828" y="103226"/>
                    <a:pt x="383667" y="92558"/>
                    <a:pt x="395249" y="85039"/>
                  </a:cubicBezTo>
                  <a:cubicBezTo>
                    <a:pt x="406832" y="77521"/>
                    <a:pt x="420649" y="73762"/>
                    <a:pt x="436702" y="73762"/>
                  </a:cubicBezTo>
                  <a:close/>
                  <a:moveTo>
                    <a:pt x="272034" y="73762"/>
                  </a:moveTo>
                  <a:cubicBezTo>
                    <a:pt x="288290" y="73762"/>
                    <a:pt x="301396" y="77267"/>
                    <a:pt x="311353" y="84277"/>
                  </a:cubicBezTo>
                  <a:cubicBezTo>
                    <a:pt x="321310" y="91288"/>
                    <a:pt x="328524" y="101498"/>
                    <a:pt x="332994" y="114910"/>
                  </a:cubicBezTo>
                  <a:cubicBezTo>
                    <a:pt x="337464" y="128321"/>
                    <a:pt x="339700" y="144170"/>
                    <a:pt x="339700" y="162458"/>
                  </a:cubicBezTo>
                  <a:lnTo>
                    <a:pt x="339700" y="173736"/>
                  </a:lnTo>
                  <a:lnTo>
                    <a:pt x="235360" y="173736"/>
                  </a:lnTo>
                  <a:lnTo>
                    <a:pt x="235649" y="178908"/>
                  </a:lnTo>
                  <a:cubicBezTo>
                    <a:pt x="237249" y="192300"/>
                    <a:pt x="241249" y="202921"/>
                    <a:pt x="247650" y="210769"/>
                  </a:cubicBezTo>
                  <a:cubicBezTo>
                    <a:pt x="256184" y="221234"/>
                    <a:pt x="267360" y="226466"/>
                    <a:pt x="281178" y="226466"/>
                  </a:cubicBezTo>
                  <a:cubicBezTo>
                    <a:pt x="288493" y="226466"/>
                    <a:pt x="295758" y="225400"/>
                    <a:pt x="302971" y="223266"/>
                  </a:cubicBezTo>
                  <a:cubicBezTo>
                    <a:pt x="310185" y="221132"/>
                    <a:pt x="317754" y="218034"/>
                    <a:pt x="325679" y="213970"/>
                  </a:cubicBezTo>
                  <a:lnTo>
                    <a:pt x="336347" y="238049"/>
                  </a:lnTo>
                  <a:cubicBezTo>
                    <a:pt x="326796" y="244145"/>
                    <a:pt x="316992" y="248615"/>
                    <a:pt x="306934" y="251460"/>
                  </a:cubicBezTo>
                  <a:cubicBezTo>
                    <a:pt x="296875" y="254305"/>
                    <a:pt x="287071" y="255727"/>
                    <a:pt x="277520" y="255727"/>
                  </a:cubicBezTo>
                  <a:cubicBezTo>
                    <a:pt x="262077" y="255727"/>
                    <a:pt x="248311" y="252171"/>
                    <a:pt x="236220" y="245059"/>
                  </a:cubicBezTo>
                  <a:cubicBezTo>
                    <a:pt x="224130" y="237947"/>
                    <a:pt x="214732" y="227482"/>
                    <a:pt x="208026" y="213665"/>
                  </a:cubicBezTo>
                  <a:cubicBezTo>
                    <a:pt x="201320" y="199847"/>
                    <a:pt x="197968" y="183083"/>
                    <a:pt x="197968" y="163373"/>
                  </a:cubicBezTo>
                  <a:cubicBezTo>
                    <a:pt x="197968" y="143866"/>
                    <a:pt x="201270" y="127508"/>
                    <a:pt x="207874" y="114300"/>
                  </a:cubicBezTo>
                  <a:cubicBezTo>
                    <a:pt x="214478" y="101092"/>
                    <a:pt x="223418" y="91034"/>
                    <a:pt x="234696" y="84125"/>
                  </a:cubicBezTo>
                  <a:cubicBezTo>
                    <a:pt x="245974" y="77216"/>
                    <a:pt x="258420" y="73762"/>
                    <a:pt x="272034" y="73762"/>
                  </a:cubicBezTo>
                  <a:close/>
                  <a:moveTo>
                    <a:pt x="1428750" y="17374"/>
                  </a:moveTo>
                  <a:lnTo>
                    <a:pt x="1465631" y="17374"/>
                  </a:lnTo>
                  <a:lnTo>
                    <a:pt x="1465631" y="114910"/>
                  </a:lnTo>
                  <a:lnTo>
                    <a:pt x="1554937" y="114910"/>
                  </a:lnTo>
                  <a:lnTo>
                    <a:pt x="1554937" y="17374"/>
                  </a:lnTo>
                  <a:lnTo>
                    <a:pt x="1591513" y="17374"/>
                  </a:lnTo>
                  <a:lnTo>
                    <a:pt x="1591513" y="251460"/>
                  </a:lnTo>
                  <a:lnTo>
                    <a:pt x="1554937" y="251460"/>
                  </a:lnTo>
                  <a:lnTo>
                    <a:pt x="1554937" y="145694"/>
                  </a:lnTo>
                  <a:lnTo>
                    <a:pt x="1465631" y="145694"/>
                  </a:lnTo>
                  <a:lnTo>
                    <a:pt x="1465631" y="251460"/>
                  </a:lnTo>
                  <a:lnTo>
                    <a:pt x="1428750" y="251460"/>
                  </a:lnTo>
                  <a:close/>
                  <a:moveTo>
                    <a:pt x="531419" y="17374"/>
                  </a:moveTo>
                  <a:lnTo>
                    <a:pt x="672236" y="17374"/>
                  </a:lnTo>
                  <a:lnTo>
                    <a:pt x="672236" y="48158"/>
                  </a:lnTo>
                  <a:lnTo>
                    <a:pt x="619506" y="48158"/>
                  </a:lnTo>
                  <a:lnTo>
                    <a:pt x="619506" y="251460"/>
                  </a:lnTo>
                  <a:lnTo>
                    <a:pt x="582930" y="251460"/>
                  </a:lnTo>
                  <a:lnTo>
                    <a:pt x="582930" y="48158"/>
                  </a:lnTo>
                  <a:lnTo>
                    <a:pt x="531419" y="48158"/>
                  </a:lnTo>
                  <a:close/>
                  <a:moveTo>
                    <a:pt x="32309" y="14630"/>
                  </a:moveTo>
                  <a:lnTo>
                    <a:pt x="131674" y="182216"/>
                  </a:lnTo>
                  <a:lnTo>
                    <a:pt x="131674" y="17374"/>
                  </a:lnTo>
                  <a:lnTo>
                    <a:pt x="165811" y="17374"/>
                  </a:lnTo>
                  <a:lnTo>
                    <a:pt x="165811" y="251460"/>
                  </a:lnTo>
                  <a:lnTo>
                    <a:pt x="134722" y="254508"/>
                  </a:lnTo>
                  <a:lnTo>
                    <a:pt x="34138" y="85398"/>
                  </a:lnTo>
                  <a:lnTo>
                    <a:pt x="34138" y="251460"/>
                  </a:lnTo>
                  <a:lnTo>
                    <a:pt x="0" y="251460"/>
                  </a:lnTo>
                  <a:lnTo>
                    <a:pt x="0" y="17374"/>
                  </a:lnTo>
                  <a:close/>
                  <a:moveTo>
                    <a:pt x="1941728" y="2743"/>
                  </a:moveTo>
                  <a:cubicBezTo>
                    <a:pt x="1948028" y="2743"/>
                    <a:pt x="1953463" y="4877"/>
                    <a:pt x="1958035" y="9144"/>
                  </a:cubicBezTo>
                  <a:cubicBezTo>
                    <a:pt x="1962607" y="13411"/>
                    <a:pt x="1964893" y="19507"/>
                    <a:pt x="1964893" y="27432"/>
                  </a:cubicBezTo>
                  <a:cubicBezTo>
                    <a:pt x="1964893" y="35560"/>
                    <a:pt x="1962556" y="41859"/>
                    <a:pt x="1957883" y="46330"/>
                  </a:cubicBezTo>
                  <a:cubicBezTo>
                    <a:pt x="1953209" y="50800"/>
                    <a:pt x="1947723" y="53035"/>
                    <a:pt x="1941424" y="53035"/>
                  </a:cubicBezTo>
                  <a:cubicBezTo>
                    <a:pt x="1935327" y="53035"/>
                    <a:pt x="1929994" y="50851"/>
                    <a:pt x="1925422" y="46482"/>
                  </a:cubicBezTo>
                  <a:cubicBezTo>
                    <a:pt x="1920849" y="42113"/>
                    <a:pt x="1918563" y="35763"/>
                    <a:pt x="1918564" y="27432"/>
                  </a:cubicBezTo>
                  <a:cubicBezTo>
                    <a:pt x="1918563" y="19507"/>
                    <a:pt x="1920849" y="13411"/>
                    <a:pt x="1925422" y="9144"/>
                  </a:cubicBezTo>
                  <a:cubicBezTo>
                    <a:pt x="1929994" y="4877"/>
                    <a:pt x="1935429" y="2743"/>
                    <a:pt x="1941728" y="2743"/>
                  </a:cubicBezTo>
                  <a:close/>
                  <a:moveTo>
                    <a:pt x="1266215" y="0"/>
                  </a:moveTo>
                  <a:lnTo>
                    <a:pt x="1302182" y="0"/>
                  </a:lnTo>
                  <a:lnTo>
                    <a:pt x="1302182" y="206959"/>
                  </a:lnTo>
                  <a:cubicBezTo>
                    <a:pt x="1302182" y="213868"/>
                    <a:pt x="1303401" y="218846"/>
                    <a:pt x="1305839" y="221894"/>
                  </a:cubicBezTo>
                  <a:cubicBezTo>
                    <a:pt x="1308278" y="224942"/>
                    <a:pt x="1311834" y="226466"/>
                    <a:pt x="1316507" y="226466"/>
                  </a:cubicBezTo>
                  <a:cubicBezTo>
                    <a:pt x="1318539" y="226466"/>
                    <a:pt x="1321028" y="226212"/>
                    <a:pt x="1323975" y="225704"/>
                  </a:cubicBezTo>
                  <a:cubicBezTo>
                    <a:pt x="1326921" y="225196"/>
                    <a:pt x="1329614" y="224536"/>
                    <a:pt x="1332052" y="223723"/>
                  </a:cubicBezTo>
                  <a:lnTo>
                    <a:pt x="1332357" y="251460"/>
                  </a:lnTo>
                  <a:cubicBezTo>
                    <a:pt x="1328090" y="252882"/>
                    <a:pt x="1323924" y="253949"/>
                    <a:pt x="1319860" y="254660"/>
                  </a:cubicBezTo>
                  <a:cubicBezTo>
                    <a:pt x="1315796" y="255372"/>
                    <a:pt x="1311834" y="255727"/>
                    <a:pt x="1307973" y="255727"/>
                  </a:cubicBezTo>
                  <a:cubicBezTo>
                    <a:pt x="1294765" y="255727"/>
                    <a:pt x="1284503" y="251968"/>
                    <a:pt x="1277188" y="244450"/>
                  </a:cubicBezTo>
                  <a:cubicBezTo>
                    <a:pt x="1269873" y="236931"/>
                    <a:pt x="1266215" y="225654"/>
                    <a:pt x="1266215" y="210617"/>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1E64"/>
                </a:solidFill>
                <a:effectLst/>
                <a:uLnTx/>
                <a:uFillTx/>
                <a:latin typeface="Yaldevi SemiBold"/>
                <a:ea typeface="+mn-ea"/>
                <a:cs typeface="+mn-cs"/>
              </a:endParaRPr>
            </a:p>
          </p:txBody>
        </p:sp>
        <p:pic>
          <p:nvPicPr>
            <p:cNvPr id="57" name="Graphic 56">
              <a:extLst>
                <a:ext uri="{FF2B5EF4-FFF2-40B4-BE49-F238E27FC236}">
                  <a16:creationId xmlns:a16="http://schemas.microsoft.com/office/drawing/2014/main" id="{4592BD09-7946-85E0-BFF9-77130D5FE9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89752" y="1384446"/>
              <a:ext cx="299669" cy="299669"/>
            </a:xfrm>
            <a:prstGeom prst="rect">
              <a:avLst/>
            </a:prstGeom>
          </p:spPr>
        </p:pic>
      </p:grpSp>
      <p:sp>
        <p:nvSpPr>
          <p:cNvPr id="13" name="Title 12">
            <a:extLst>
              <a:ext uri="{FF2B5EF4-FFF2-40B4-BE49-F238E27FC236}">
                <a16:creationId xmlns:a16="http://schemas.microsoft.com/office/drawing/2014/main" id="{17E8E377-D866-C060-D067-4F630281855C}"/>
              </a:ext>
            </a:extLst>
          </p:cNvPr>
          <p:cNvSpPr>
            <a:spLocks noGrp="1"/>
          </p:cNvSpPr>
          <p:nvPr>
            <p:ph type="title"/>
          </p:nvPr>
        </p:nvSpPr>
        <p:spPr>
          <a:xfrm>
            <a:off x="1746331" y="527887"/>
            <a:ext cx="8699338" cy="1232967"/>
          </a:xfrm>
        </p:spPr>
        <p:txBody>
          <a:bodyPr>
            <a:normAutofit/>
          </a:bodyPr>
          <a:lstStyle/>
          <a:p>
            <a:r>
              <a:rPr lang="pl-PL" dirty="0"/>
              <a:t>Total number of visitors in Switzerland and their change over time (2050 – 2060)*</a:t>
            </a:r>
            <a:endParaRPr lang="en-US" dirty="0">
              <a:solidFill>
                <a:schemeClr val="accent4"/>
              </a:solidFill>
            </a:endParaRPr>
          </a:p>
        </p:txBody>
      </p:sp>
      <p:graphicFrame>
        <p:nvGraphicFramePr>
          <p:cNvPr id="4" name="Chart Placeholder 3">
            <a:extLst>
              <a:ext uri="{FF2B5EF4-FFF2-40B4-BE49-F238E27FC236}">
                <a16:creationId xmlns:a16="http://schemas.microsoft.com/office/drawing/2014/main" id="{5E5DBCBD-0DED-47AF-725E-C8085B71BBA1}"/>
              </a:ext>
            </a:extLst>
          </p:cNvPr>
          <p:cNvGraphicFramePr>
            <a:graphicFrameLocks noGrp="1"/>
          </p:cNvGraphicFramePr>
          <p:nvPr>
            <p:ph type="chart" sz="quarter" idx="13"/>
          </p:nvPr>
        </p:nvGraphicFramePr>
        <p:xfrm>
          <a:off x="1746250" y="1163638"/>
          <a:ext cx="8699500" cy="406241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F0A0E4DA-5B88-4399-4647-3E13E60826C9}"/>
              </a:ext>
            </a:extLst>
          </p:cNvPr>
          <p:cNvSpPr txBox="1"/>
          <p:nvPr/>
        </p:nvSpPr>
        <p:spPr>
          <a:xfrm>
            <a:off x="7518400" y="4879340"/>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8" name="TextBox 7">
            <a:extLst>
              <a:ext uri="{FF2B5EF4-FFF2-40B4-BE49-F238E27FC236}">
                <a16:creationId xmlns:a16="http://schemas.microsoft.com/office/drawing/2014/main" id="{1BF01412-BBCC-B706-A30C-A23DF6C01E9D}"/>
              </a:ext>
            </a:extLst>
          </p:cNvPr>
          <p:cNvSpPr txBox="1"/>
          <p:nvPr/>
        </p:nvSpPr>
        <p:spPr>
          <a:xfrm>
            <a:off x="8226688" y="4879340"/>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9" name="TextBox 8">
            <a:extLst>
              <a:ext uri="{FF2B5EF4-FFF2-40B4-BE49-F238E27FC236}">
                <a16:creationId xmlns:a16="http://schemas.microsoft.com/office/drawing/2014/main" id="{601B8833-0C5F-E209-54AD-0D6BCF7D2AF0}"/>
              </a:ext>
            </a:extLst>
          </p:cNvPr>
          <p:cNvSpPr txBox="1"/>
          <p:nvPr/>
        </p:nvSpPr>
        <p:spPr>
          <a:xfrm>
            <a:off x="8926096" y="4879339"/>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10" name="TextBox 9">
            <a:extLst>
              <a:ext uri="{FF2B5EF4-FFF2-40B4-BE49-F238E27FC236}">
                <a16:creationId xmlns:a16="http://schemas.microsoft.com/office/drawing/2014/main" id="{9726FD22-8017-4B46-E513-3456B0BF3CE4}"/>
              </a:ext>
            </a:extLst>
          </p:cNvPr>
          <p:cNvSpPr txBox="1"/>
          <p:nvPr/>
        </p:nvSpPr>
        <p:spPr>
          <a:xfrm>
            <a:off x="9645472" y="4879338"/>
            <a:ext cx="27603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endParaRPr kumimoji="0" lang="en-US" sz="1400" b="0" i="0" u="none" strike="noStrike" kern="1200" cap="none" spc="0" normalizeH="0" baseline="0" noProof="0" dirty="0">
              <a:ln>
                <a:noFill/>
              </a:ln>
              <a:solidFill>
                <a:srgbClr val="D63230"/>
              </a:solidFill>
              <a:effectLst/>
              <a:uLnTx/>
              <a:uFillTx/>
              <a:latin typeface="Yaldevi"/>
              <a:ea typeface="+mn-ea"/>
              <a:cs typeface="+mn-cs"/>
            </a:endParaRPr>
          </a:p>
        </p:txBody>
      </p:sp>
      <p:sp>
        <p:nvSpPr>
          <p:cNvPr id="2" name="Rectangle 1">
            <a:extLst>
              <a:ext uri="{FF2B5EF4-FFF2-40B4-BE49-F238E27FC236}">
                <a16:creationId xmlns:a16="http://schemas.microsoft.com/office/drawing/2014/main" id="{77AFC30C-CFAA-CBFC-8D21-4F33CB4D8F34}"/>
              </a:ext>
            </a:extLst>
          </p:cNvPr>
          <p:cNvSpPr/>
          <p:nvPr/>
        </p:nvSpPr>
        <p:spPr>
          <a:xfrm>
            <a:off x="1552027" y="1151062"/>
            <a:ext cx="540933" cy="42845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3" name="Rectangle 2">
            <a:extLst>
              <a:ext uri="{FF2B5EF4-FFF2-40B4-BE49-F238E27FC236}">
                <a16:creationId xmlns:a16="http://schemas.microsoft.com/office/drawing/2014/main" id="{0E33B6E2-CE49-E04A-9C0D-2BAB254C2561}"/>
              </a:ext>
            </a:extLst>
          </p:cNvPr>
          <p:cNvSpPr/>
          <p:nvPr/>
        </p:nvSpPr>
        <p:spPr>
          <a:xfrm>
            <a:off x="9991131" y="1151062"/>
            <a:ext cx="540933" cy="42845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Yaldevi"/>
              <a:ea typeface="+mn-ea"/>
              <a:cs typeface="+mn-cs"/>
            </a:endParaRPr>
          </a:p>
        </p:txBody>
      </p:sp>
      <p:sp>
        <p:nvSpPr>
          <p:cNvPr id="14" name="TextBox 13">
            <a:extLst>
              <a:ext uri="{FF2B5EF4-FFF2-40B4-BE49-F238E27FC236}">
                <a16:creationId xmlns:a16="http://schemas.microsoft.com/office/drawing/2014/main" id="{89EC0819-94B5-3123-E174-919FE505BBCC}"/>
              </a:ext>
            </a:extLst>
          </p:cNvPr>
          <p:cNvSpPr txBox="1"/>
          <p:nvPr/>
        </p:nvSpPr>
        <p:spPr>
          <a:xfrm>
            <a:off x="401390" y="6426951"/>
            <a:ext cx="644709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*estimates by NeoTravel Horizon</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15" name="Group 14">
            <a:extLst>
              <a:ext uri="{FF2B5EF4-FFF2-40B4-BE49-F238E27FC236}">
                <a16:creationId xmlns:a16="http://schemas.microsoft.com/office/drawing/2014/main" id="{37D44A07-1994-0D32-34E2-45A40A6FB70B}"/>
              </a:ext>
            </a:extLst>
          </p:cNvPr>
          <p:cNvGrpSpPr/>
          <p:nvPr/>
        </p:nvGrpSpPr>
        <p:grpSpPr>
          <a:xfrm>
            <a:off x="3413638" y="5580290"/>
            <a:ext cx="5364724" cy="317938"/>
            <a:chOff x="4078582" y="5799565"/>
            <a:chExt cx="5364724" cy="317938"/>
          </a:xfrm>
        </p:grpSpPr>
        <p:sp>
          <p:nvSpPr>
            <p:cNvPr id="16" name="TextBox 15">
              <a:extLst>
                <a:ext uri="{FF2B5EF4-FFF2-40B4-BE49-F238E27FC236}">
                  <a16:creationId xmlns:a16="http://schemas.microsoft.com/office/drawing/2014/main" id="{E2D63871-27F7-209B-7BCC-7154EB0F82EF}"/>
                </a:ext>
              </a:extLst>
            </p:cNvPr>
            <p:cNvSpPr txBox="1"/>
            <p:nvPr/>
          </p:nvSpPr>
          <p:spPr>
            <a:xfrm>
              <a:off x="8261572" y="5799565"/>
              <a:ext cx="118173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D63230"/>
                  </a:solidFill>
                  <a:effectLst/>
                  <a:uLnTx/>
                  <a:uFillTx/>
                  <a:latin typeface="Yaldevi"/>
                  <a:ea typeface="+mn-ea"/>
                  <a:cs typeface="+mn-cs"/>
                </a:rPr>
                <a:t>e</a:t>
              </a:r>
              <a:r>
                <a:rPr kumimoji="0" lang="pl-PL" sz="1400" b="0" i="0" u="none" strike="noStrike" kern="1200" cap="none" spc="0" normalizeH="0" baseline="0" noProof="0" dirty="0">
                  <a:ln>
                    <a:noFill/>
                  </a:ln>
                  <a:solidFill>
                    <a:prstClr val="black"/>
                  </a:solidFill>
                  <a:effectLst/>
                  <a:uLnTx/>
                  <a:uFillTx/>
                  <a:latin typeface="Yaldevi"/>
                  <a:ea typeface="+mn-ea"/>
                  <a:cs typeface="+mn-cs"/>
                </a:rPr>
                <a:t> - estimates</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17" name="Group 16">
              <a:extLst>
                <a:ext uri="{FF2B5EF4-FFF2-40B4-BE49-F238E27FC236}">
                  <a16:creationId xmlns:a16="http://schemas.microsoft.com/office/drawing/2014/main" id="{58721C93-EF8A-ADF7-6B6A-81495959E84D}"/>
                </a:ext>
              </a:extLst>
            </p:cNvPr>
            <p:cNvGrpSpPr/>
            <p:nvPr/>
          </p:nvGrpSpPr>
          <p:grpSpPr>
            <a:xfrm>
              <a:off x="4078582" y="5802469"/>
              <a:ext cx="4034836" cy="315034"/>
              <a:chOff x="5171492" y="5832949"/>
              <a:chExt cx="4034836" cy="315034"/>
            </a:xfrm>
          </p:grpSpPr>
          <p:grpSp>
            <p:nvGrpSpPr>
              <p:cNvPr id="18" name="Group 17">
                <a:extLst>
                  <a:ext uri="{FF2B5EF4-FFF2-40B4-BE49-F238E27FC236}">
                    <a16:creationId xmlns:a16="http://schemas.microsoft.com/office/drawing/2014/main" id="{C67D8163-3C10-9382-AC40-2A056DAD9535}"/>
                  </a:ext>
                </a:extLst>
              </p:cNvPr>
              <p:cNvGrpSpPr/>
              <p:nvPr/>
            </p:nvGrpSpPr>
            <p:grpSpPr>
              <a:xfrm>
                <a:off x="5171492" y="5840206"/>
                <a:ext cx="1849015" cy="307777"/>
                <a:chOff x="4349476" y="5859279"/>
                <a:chExt cx="1849015" cy="307777"/>
              </a:xfrm>
            </p:grpSpPr>
            <p:sp>
              <p:nvSpPr>
                <p:cNvPr id="22" name="Rectangle: Rounded Corners 21">
                  <a:extLst>
                    <a:ext uri="{FF2B5EF4-FFF2-40B4-BE49-F238E27FC236}">
                      <a16:creationId xmlns:a16="http://schemas.microsoft.com/office/drawing/2014/main" id="{6EC6FEDE-FB90-85B9-3F15-ECBCD41C5725}"/>
                    </a:ext>
                  </a:extLst>
                </p:cNvPr>
                <p:cNvSpPr/>
                <p:nvPr/>
              </p:nvSpPr>
              <p:spPr>
                <a:xfrm>
                  <a:off x="4349476" y="5892373"/>
                  <a:ext cx="218440" cy="218440"/>
                </a:xfrm>
                <a:prstGeom prst="roundRect">
                  <a:avLst>
                    <a:gd name="adj" fmla="val 10785"/>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Yaldevi"/>
                    <a:ea typeface="+mn-ea"/>
                    <a:cs typeface="+mn-cs"/>
                  </a:endParaRPr>
                </a:p>
              </p:txBody>
            </p:sp>
            <p:sp>
              <p:nvSpPr>
                <p:cNvPr id="23" name="TextBox 22">
                  <a:extLst>
                    <a:ext uri="{FF2B5EF4-FFF2-40B4-BE49-F238E27FC236}">
                      <a16:creationId xmlns:a16="http://schemas.microsoft.com/office/drawing/2014/main" id="{7C4F8784-65F3-FF98-FEC7-D58B1F802326}"/>
                    </a:ext>
                  </a:extLst>
                </p:cNvPr>
                <p:cNvSpPr txBox="1"/>
                <p:nvPr/>
              </p:nvSpPr>
              <p:spPr>
                <a:xfrm>
                  <a:off x="4567916" y="5859279"/>
                  <a:ext cx="163057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prstClr val="black"/>
                      </a:solidFill>
                      <a:effectLst/>
                      <a:uLnTx/>
                      <a:uFillTx/>
                      <a:latin typeface="Yaldevi"/>
                      <a:ea typeface="+mn-ea"/>
                      <a:cs typeface="+mn-cs"/>
                    </a:rPr>
                    <a:t>Total visitors [mln]</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grpSp>
            <p:nvGrpSpPr>
              <p:cNvPr id="19" name="Group 18">
                <a:extLst>
                  <a:ext uri="{FF2B5EF4-FFF2-40B4-BE49-F238E27FC236}">
                    <a16:creationId xmlns:a16="http://schemas.microsoft.com/office/drawing/2014/main" id="{7756D858-BBDC-CA02-40E8-27D0DD4E3B21}"/>
                  </a:ext>
                </a:extLst>
              </p:cNvPr>
              <p:cNvGrpSpPr/>
              <p:nvPr/>
            </p:nvGrpSpPr>
            <p:grpSpPr>
              <a:xfrm>
                <a:off x="7238947" y="5832949"/>
                <a:ext cx="1967381" cy="307777"/>
                <a:chOff x="7161195" y="5832949"/>
                <a:chExt cx="1967381" cy="307777"/>
              </a:xfrm>
            </p:grpSpPr>
            <p:cxnSp>
              <p:nvCxnSpPr>
                <p:cNvPr id="20" name="Straight Connector 19">
                  <a:extLst>
                    <a:ext uri="{FF2B5EF4-FFF2-40B4-BE49-F238E27FC236}">
                      <a16:creationId xmlns:a16="http://schemas.microsoft.com/office/drawing/2014/main" id="{A45AB365-2F61-F2D1-F4FF-7B42653919C4}"/>
                    </a:ext>
                  </a:extLst>
                </p:cNvPr>
                <p:cNvCxnSpPr/>
                <p:nvPr/>
              </p:nvCxnSpPr>
              <p:spPr>
                <a:xfrm>
                  <a:off x="7161195" y="5994094"/>
                  <a:ext cx="508000" cy="0"/>
                </a:xfrm>
                <a:prstGeom prst="line">
                  <a:avLst/>
                </a:prstGeom>
                <a:ln w="76200" cap="rnd"/>
              </p:spPr>
              <p:style>
                <a:lnRef idx="2">
                  <a:schemeClr val="accent2"/>
                </a:lnRef>
                <a:fillRef idx="0">
                  <a:schemeClr val="accent2"/>
                </a:fillRef>
                <a:effectRef idx="1">
                  <a:schemeClr val="accent2"/>
                </a:effectRef>
                <a:fontRef idx="minor">
                  <a:schemeClr val="tx1"/>
                </a:fontRef>
              </p:style>
            </p:cxnSp>
            <p:sp>
              <p:nvSpPr>
                <p:cNvPr id="21" name="TextBox 20">
                  <a:extLst>
                    <a:ext uri="{FF2B5EF4-FFF2-40B4-BE49-F238E27FC236}">
                      <a16:creationId xmlns:a16="http://schemas.microsoft.com/office/drawing/2014/main" id="{98FD6A4E-A2B4-3F6B-A2A7-354A72E533EC}"/>
                    </a:ext>
                  </a:extLst>
                </p:cNvPr>
                <p:cNvSpPr txBox="1"/>
                <p:nvPr/>
              </p:nvSpPr>
              <p:spPr>
                <a:xfrm>
                  <a:off x="7703186" y="5832949"/>
                  <a:ext cx="1425390" cy="307777"/>
                </a:xfrm>
                <a:prstGeom prst="rect">
                  <a:avLst/>
                </a:prstGeom>
                <a:noFill/>
                <a:effectLst/>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prstClr val="black"/>
                      </a:solidFill>
                      <a:effectLst/>
                      <a:uLnTx/>
                      <a:uFillTx/>
                      <a:latin typeface="Yaldevi"/>
                      <a:ea typeface="+mn-ea"/>
                      <a:cs typeface="+mn-cs"/>
                    </a:rPr>
                    <a:t>Change [%,YoY]</a:t>
                  </a:r>
                  <a:endParaRPr kumimoji="0" lang="en-US" sz="1400" b="0" i="0" u="none" strike="noStrike" kern="1200" cap="none" spc="0" normalizeH="0" baseline="0" noProof="0" dirty="0">
                    <a:ln>
                      <a:noFill/>
                    </a:ln>
                    <a:solidFill>
                      <a:prstClr val="black"/>
                    </a:solidFill>
                    <a:effectLst/>
                    <a:uLnTx/>
                    <a:uFillTx/>
                    <a:latin typeface="Yaldevi"/>
                    <a:ea typeface="+mn-ea"/>
                    <a:cs typeface="+mn-cs"/>
                  </a:endParaRPr>
                </a:p>
              </p:txBody>
            </p:sp>
          </p:grpSp>
        </p:grpSp>
      </p:grpSp>
    </p:spTree>
    <p:extLst>
      <p:ext uri="{BB962C8B-B14F-4D97-AF65-F5344CB8AC3E}">
        <p14:creationId xmlns:p14="http://schemas.microsoft.com/office/powerpoint/2010/main" val="3024538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9CE34A-6553-A136-D0D5-E85622F4A5AD}"/>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EEB537D-0AC5-9D88-561F-C8B9B983886A}"/>
              </a:ext>
            </a:extLst>
          </p:cNvPr>
          <p:cNvSpPr txBox="1"/>
          <p:nvPr/>
        </p:nvSpPr>
        <p:spPr>
          <a:xfrm>
            <a:off x="3197507" y="1118143"/>
            <a:ext cx="609407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6105B"/>
                </a:solidFill>
                <a:effectLst/>
                <a:uLnTx/>
                <a:uFillTx/>
                <a:latin typeface="Yaldevi"/>
                <a:ea typeface="+mn-ea"/>
                <a:cs typeface="+mn-cs"/>
              </a:rPr>
              <a:t>Case Study: </a:t>
            </a:r>
            <a:r>
              <a:rPr kumimoji="0" lang="en-US" sz="1800" b="0" i="0" u="none" strike="noStrike" kern="1200" cap="none" spc="0" normalizeH="0" baseline="0" noProof="0" dirty="0">
                <a:ln>
                  <a:noFill/>
                </a:ln>
                <a:solidFill>
                  <a:srgbClr val="06105B"/>
                </a:solidFill>
                <a:effectLst/>
                <a:uLnTx/>
                <a:uFillTx/>
                <a:latin typeface="Yaldevi"/>
                <a:ea typeface="+mn-ea"/>
                <a:cs typeface="+mn-cs"/>
              </a:rPr>
              <a:t>The Warehouse Optimization</a:t>
            </a:r>
          </a:p>
        </p:txBody>
      </p:sp>
      <p:sp>
        <p:nvSpPr>
          <p:cNvPr id="19" name="TextBox 18">
            <a:extLst>
              <a:ext uri="{FF2B5EF4-FFF2-40B4-BE49-F238E27FC236}">
                <a16:creationId xmlns:a16="http://schemas.microsoft.com/office/drawing/2014/main" id="{54225E45-6954-3ADA-F32D-76AC3234D08E}"/>
              </a:ext>
            </a:extLst>
          </p:cNvPr>
          <p:cNvSpPr txBox="1"/>
          <p:nvPr/>
        </p:nvSpPr>
        <p:spPr>
          <a:xfrm>
            <a:off x="2351590" y="2105798"/>
            <a:ext cx="7488820" cy="31393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Brief: </a:t>
            </a:r>
            <a:r>
              <a:rPr kumimoji="0" lang="en-US" sz="1800" b="0" i="0" u="none" strike="noStrike" kern="1200" cap="none" spc="0" normalizeH="0" baseline="0" noProof="0" dirty="0">
                <a:ln>
                  <a:noFill/>
                </a:ln>
                <a:solidFill>
                  <a:srgbClr val="06105B"/>
                </a:solidFill>
                <a:effectLst/>
                <a:uLnTx/>
                <a:uFillTx/>
                <a:latin typeface="Yaldevi"/>
                <a:ea typeface="+mn-ea"/>
                <a:cs typeface="+mn-cs"/>
              </a:rPr>
              <a:t>Welcome to </a:t>
            </a:r>
            <a:r>
              <a:rPr kumimoji="0" lang="en-US" sz="1800" b="1" i="0" u="none" strike="noStrike" kern="1200" cap="none" spc="0" normalizeH="0" baseline="0" noProof="0" dirty="0">
                <a:ln>
                  <a:noFill/>
                </a:ln>
                <a:solidFill>
                  <a:srgbClr val="06105B"/>
                </a:solidFill>
                <a:effectLst/>
                <a:uLnTx/>
                <a:uFillTx/>
                <a:latin typeface="Yaldevi"/>
                <a:ea typeface="+mn-ea"/>
                <a:cs typeface="+mn-cs"/>
              </a:rPr>
              <a:t>Cargo</a:t>
            </a:r>
            <a:r>
              <a:rPr kumimoji="0" lang="en-US" sz="1800" b="0" i="0" u="none" strike="noStrike" kern="1200" cap="none" spc="0" normalizeH="0" baseline="0" noProof="0" dirty="0">
                <a:ln>
                  <a:noFill/>
                </a:ln>
                <a:solidFill>
                  <a:srgbClr val="06105B"/>
                </a:solidFill>
                <a:effectLst/>
                <a:uLnTx/>
                <a:uFillTx/>
                <a:latin typeface="Yaldevi"/>
                <a:ea typeface="+mn-ea"/>
                <a:cs typeface="+mn-cs"/>
              </a:rPr>
              <a:t>. We manage supply chains for the agricultural sector. Currently, our main grain silo in </a:t>
            </a:r>
            <a:r>
              <a:rPr kumimoji="0" lang="pl-PL" sz="1800" b="0" i="0" u="none" strike="noStrike" kern="1200" cap="none" spc="0" normalizeH="0" baseline="0" noProof="0" dirty="0">
                <a:ln>
                  <a:noFill/>
                </a:ln>
                <a:solidFill>
                  <a:srgbClr val="06105B"/>
                </a:solidFill>
                <a:effectLst/>
                <a:uLnTx/>
                <a:uFillTx/>
                <a:latin typeface="Yaldevi"/>
                <a:ea typeface="+mn-ea"/>
                <a:cs typeface="+mn-cs"/>
              </a:rPr>
              <a:t>Kentucky</a:t>
            </a:r>
            <a:r>
              <a:rPr kumimoji="0" lang="en-US" sz="1800" b="0" i="0" u="none" strike="noStrike" kern="1200" cap="none" spc="0" normalizeH="0" baseline="0" noProof="0" dirty="0">
                <a:ln>
                  <a:noFill/>
                </a:ln>
                <a:solidFill>
                  <a:srgbClr val="06105B"/>
                </a:solidFill>
                <a:effectLst/>
                <a:uLnTx/>
                <a:uFillTx/>
                <a:latin typeface="Yaldevi"/>
                <a:ea typeface="+mn-ea"/>
                <a:cs typeface="+mn-cs"/>
              </a:rPr>
              <a:t> holds 206 tons of inventory. To meet the demands of the 20</a:t>
            </a:r>
            <a:r>
              <a:rPr kumimoji="0" lang="pl-PL" sz="1800" b="0" i="0" u="none" strike="noStrike" kern="1200" cap="none" spc="0" normalizeH="0" baseline="0" noProof="0" dirty="0">
                <a:ln>
                  <a:noFill/>
                </a:ln>
                <a:solidFill>
                  <a:srgbClr val="06105B"/>
                </a:solidFill>
                <a:effectLst/>
                <a:uLnTx/>
                <a:uFillTx/>
                <a:latin typeface="Yaldevi"/>
                <a:ea typeface="+mn-ea"/>
                <a:cs typeface="+mn-cs"/>
              </a:rPr>
              <a:t>49</a:t>
            </a:r>
            <a:r>
              <a:rPr kumimoji="0" lang="en-US" sz="1800" b="0" i="0" u="none" strike="noStrike" kern="1200" cap="none" spc="0" normalizeH="0" baseline="0" noProof="0" dirty="0">
                <a:ln>
                  <a:noFill/>
                </a:ln>
                <a:solidFill>
                  <a:srgbClr val="06105B"/>
                </a:solidFill>
                <a:effectLst/>
                <a:uLnTx/>
                <a:uFillTx/>
                <a:latin typeface="Yaldevi"/>
                <a:ea typeface="+mn-ea"/>
                <a:cs typeface="+mn-cs"/>
              </a:rPr>
              <a:t> export season, we need to reach a final capacity of 209 tons.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dirty="0">
              <a:ln>
                <a:noFill/>
              </a:ln>
              <a:solidFill>
                <a:srgbClr val="06105B"/>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dirty="0">
              <a:ln>
                <a:noFill/>
              </a:ln>
              <a:solidFill>
                <a:srgbClr val="06105B"/>
              </a:solidFill>
              <a:effectLst/>
              <a:uLnTx/>
              <a:uFillTx/>
              <a:latin typeface="Yaldev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6105B"/>
                </a:solidFill>
                <a:effectLst/>
                <a:uLnTx/>
                <a:uFillTx/>
                <a:latin typeface="Yaldevi"/>
                <a:ea typeface="+mn-ea"/>
                <a:cs typeface="+mn-cs"/>
              </a:rPr>
              <a:t>Your Mission: </a:t>
            </a:r>
            <a:r>
              <a:rPr kumimoji="0" lang="en-US" sz="1800" b="0" i="0" u="none" strike="noStrike" kern="1200" cap="none" spc="0" normalizeH="0" baseline="0" noProof="0" dirty="0">
                <a:ln>
                  <a:noFill/>
                </a:ln>
                <a:solidFill>
                  <a:srgbClr val="06105B"/>
                </a:solidFill>
                <a:effectLst/>
                <a:uLnTx/>
                <a:uFillTx/>
                <a:latin typeface="Yaldevi"/>
                <a:ea typeface="+mn-ea"/>
                <a:cs typeface="+mn-cs"/>
              </a:rPr>
              <a:t>Build a </a:t>
            </a:r>
            <a:r>
              <a:rPr kumimoji="0" lang="en-US" sz="1800" b="1" i="0" u="none" strike="noStrike" kern="1200" cap="none" spc="0" normalizeH="0" baseline="0" noProof="0" dirty="0">
                <a:ln>
                  <a:noFill/>
                </a:ln>
                <a:solidFill>
                  <a:srgbClr val="06105B"/>
                </a:solidFill>
                <a:effectLst/>
                <a:uLnTx/>
                <a:uFillTx/>
                <a:latin typeface="Yaldevi"/>
                <a:ea typeface="+mn-ea"/>
                <a:cs typeface="+mn-cs"/>
              </a:rPr>
              <a:t>Chart</a:t>
            </a:r>
            <a:r>
              <a:rPr kumimoji="0" lang="en-US" sz="1800" b="0" i="0" u="none" strike="noStrike" kern="1200" cap="none" spc="0" normalizeH="0" baseline="0" noProof="0" dirty="0">
                <a:ln>
                  <a:noFill/>
                </a:ln>
                <a:solidFill>
                  <a:srgbClr val="06105B"/>
                </a:solidFill>
                <a:effectLst/>
                <a:uLnTx/>
                <a:uFillTx/>
                <a:latin typeface="Yaldevi"/>
                <a:ea typeface="+mn-ea"/>
                <a:cs typeface="+mn-cs"/>
              </a:rPr>
              <a:t> (The Bridge) that explains how we reach this target. The regional manager needs to see the gains from the 'Autumn Harvest' and 'Supplier Buyback' against the 'Winter Distribution' losses. We need to see the movement of physical goods, not just the final number.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6105B"/>
              </a:solidFill>
              <a:effectLst/>
              <a:uLnTx/>
              <a:uFillTx/>
              <a:latin typeface="Yaldevi"/>
              <a:ea typeface="+mn-ea"/>
              <a:cs typeface="+mn-cs"/>
            </a:endParaRPr>
          </a:p>
        </p:txBody>
      </p:sp>
      <p:grpSp>
        <p:nvGrpSpPr>
          <p:cNvPr id="7" name="Group 6">
            <a:extLst>
              <a:ext uri="{FF2B5EF4-FFF2-40B4-BE49-F238E27FC236}">
                <a16:creationId xmlns:a16="http://schemas.microsoft.com/office/drawing/2014/main" id="{F5314573-14F0-458F-CD0B-CA18255D8551}"/>
              </a:ext>
            </a:extLst>
          </p:cNvPr>
          <p:cNvGrpSpPr/>
          <p:nvPr/>
        </p:nvGrpSpPr>
        <p:grpSpPr>
          <a:xfrm>
            <a:off x="5354878" y="611034"/>
            <a:ext cx="1482244" cy="302288"/>
            <a:chOff x="4708470" y="611034"/>
            <a:chExt cx="1482244" cy="302288"/>
          </a:xfrm>
        </p:grpSpPr>
        <p:sp>
          <p:nvSpPr>
            <p:cNvPr id="6" name="TextBox 5">
              <a:extLst>
                <a:ext uri="{FF2B5EF4-FFF2-40B4-BE49-F238E27FC236}">
                  <a16:creationId xmlns:a16="http://schemas.microsoft.com/office/drawing/2014/main" id="{6A8C6D81-BC0D-E336-E22E-123E0B68DBEE}"/>
                </a:ext>
              </a:extLst>
            </p:cNvPr>
            <p:cNvSpPr txBox="1"/>
            <p:nvPr/>
          </p:nvSpPr>
          <p:spPr>
            <a:xfrm>
              <a:off x="5156620" y="634950"/>
              <a:ext cx="1034094" cy="278372"/>
            </a:xfrm>
            <a:custGeom>
              <a:avLst/>
              <a:gdLst/>
              <a:ahLst/>
              <a:cxnLst/>
              <a:rect l="l" t="t" r="r" b="b"/>
              <a:pathLst>
                <a:path w="1034094" h="278372">
                  <a:moveTo>
                    <a:pt x="931561" y="45066"/>
                  </a:moveTo>
                  <a:cubicBezTo>
                    <a:pt x="916561" y="45301"/>
                    <a:pt x="904691" y="50560"/>
                    <a:pt x="895950" y="60844"/>
                  </a:cubicBezTo>
                  <a:cubicBezTo>
                    <a:pt x="887209" y="71127"/>
                    <a:pt x="882743" y="85023"/>
                    <a:pt x="882552" y="102534"/>
                  </a:cubicBezTo>
                  <a:cubicBezTo>
                    <a:pt x="882743" y="119707"/>
                    <a:pt x="887209" y="133398"/>
                    <a:pt x="895950" y="143607"/>
                  </a:cubicBezTo>
                  <a:cubicBezTo>
                    <a:pt x="904691" y="153817"/>
                    <a:pt x="916561" y="159046"/>
                    <a:pt x="931561" y="159296"/>
                  </a:cubicBezTo>
                  <a:cubicBezTo>
                    <a:pt x="946392" y="159046"/>
                    <a:pt x="958159" y="153817"/>
                    <a:pt x="966864" y="143607"/>
                  </a:cubicBezTo>
                  <a:cubicBezTo>
                    <a:pt x="975568" y="133398"/>
                    <a:pt x="980019" y="119707"/>
                    <a:pt x="980217" y="102534"/>
                  </a:cubicBezTo>
                  <a:cubicBezTo>
                    <a:pt x="980019" y="85023"/>
                    <a:pt x="975568" y="71127"/>
                    <a:pt x="966864" y="60844"/>
                  </a:cubicBezTo>
                  <a:cubicBezTo>
                    <a:pt x="958159" y="50560"/>
                    <a:pt x="946392" y="45301"/>
                    <a:pt x="931561" y="45066"/>
                  </a:cubicBezTo>
                  <a:close/>
                  <a:moveTo>
                    <a:pt x="702256" y="45066"/>
                  </a:moveTo>
                  <a:cubicBezTo>
                    <a:pt x="687440" y="45279"/>
                    <a:pt x="675731" y="50054"/>
                    <a:pt x="667130" y="59390"/>
                  </a:cubicBezTo>
                  <a:cubicBezTo>
                    <a:pt x="658528" y="68725"/>
                    <a:pt x="654135" y="81345"/>
                    <a:pt x="653952" y="97247"/>
                  </a:cubicBezTo>
                  <a:cubicBezTo>
                    <a:pt x="654135" y="112812"/>
                    <a:pt x="658528" y="125226"/>
                    <a:pt x="667130" y="134488"/>
                  </a:cubicBezTo>
                  <a:cubicBezTo>
                    <a:pt x="675731" y="143751"/>
                    <a:pt x="687440" y="148496"/>
                    <a:pt x="702256" y="148723"/>
                  </a:cubicBezTo>
                  <a:cubicBezTo>
                    <a:pt x="716903" y="148496"/>
                    <a:pt x="728509" y="143751"/>
                    <a:pt x="737074" y="134488"/>
                  </a:cubicBezTo>
                  <a:cubicBezTo>
                    <a:pt x="745639" y="125226"/>
                    <a:pt x="750017" y="112812"/>
                    <a:pt x="750208" y="97247"/>
                  </a:cubicBezTo>
                  <a:cubicBezTo>
                    <a:pt x="750017" y="81345"/>
                    <a:pt x="745639" y="68725"/>
                    <a:pt x="737074" y="59390"/>
                  </a:cubicBezTo>
                  <a:cubicBezTo>
                    <a:pt x="728509" y="50054"/>
                    <a:pt x="716903" y="45279"/>
                    <a:pt x="702256" y="45066"/>
                  </a:cubicBezTo>
                  <a:close/>
                  <a:moveTo>
                    <a:pt x="302206" y="45066"/>
                  </a:moveTo>
                  <a:cubicBezTo>
                    <a:pt x="287390" y="45301"/>
                    <a:pt x="275681" y="50560"/>
                    <a:pt x="267080" y="60844"/>
                  </a:cubicBezTo>
                  <a:cubicBezTo>
                    <a:pt x="258478" y="71127"/>
                    <a:pt x="254085" y="85023"/>
                    <a:pt x="253902" y="102534"/>
                  </a:cubicBezTo>
                  <a:cubicBezTo>
                    <a:pt x="254085" y="119707"/>
                    <a:pt x="258478" y="133398"/>
                    <a:pt x="267080" y="143607"/>
                  </a:cubicBezTo>
                  <a:cubicBezTo>
                    <a:pt x="275681" y="153817"/>
                    <a:pt x="287390" y="159046"/>
                    <a:pt x="302206" y="159296"/>
                  </a:cubicBezTo>
                  <a:cubicBezTo>
                    <a:pt x="316853" y="159046"/>
                    <a:pt x="328459" y="153817"/>
                    <a:pt x="337024" y="143607"/>
                  </a:cubicBezTo>
                  <a:cubicBezTo>
                    <a:pt x="345589" y="133398"/>
                    <a:pt x="349967" y="119707"/>
                    <a:pt x="350158" y="102534"/>
                  </a:cubicBezTo>
                  <a:cubicBezTo>
                    <a:pt x="349967" y="85023"/>
                    <a:pt x="345589" y="71127"/>
                    <a:pt x="337024" y="60844"/>
                  </a:cubicBezTo>
                  <a:cubicBezTo>
                    <a:pt x="328459" y="50560"/>
                    <a:pt x="316853" y="45301"/>
                    <a:pt x="302206" y="45066"/>
                  </a:cubicBezTo>
                  <a:close/>
                  <a:moveTo>
                    <a:pt x="549462" y="352"/>
                  </a:moveTo>
                  <a:cubicBezTo>
                    <a:pt x="559712" y="389"/>
                    <a:pt x="568816" y="1284"/>
                    <a:pt x="576775" y="3037"/>
                  </a:cubicBezTo>
                  <a:cubicBezTo>
                    <a:pt x="584734" y="4790"/>
                    <a:pt x="592429" y="7181"/>
                    <a:pt x="599859" y="10211"/>
                  </a:cubicBezTo>
                  <a:lnTo>
                    <a:pt x="581181" y="53172"/>
                  </a:lnTo>
                  <a:cubicBezTo>
                    <a:pt x="575762" y="50845"/>
                    <a:pt x="570123" y="48980"/>
                    <a:pt x="564264" y="47577"/>
                  </a:cubicBezTo>
                  <a:cubicBezTo>
                    <a:pt x="558405" y="46175"/>
                    <a:pt x="552062" y="45455"/>
                    <a:pt x="545233" y="45419"/>
                  </a:cubicBezTo>
                  <a:cubicBezTo>
                    <a:pt x="527575" y="45484"/>
                    <a:pt x="513640" y="50375"/>
                    <a:pt x="503427" y="60091"/>
                  </a:cubicBezTo>
                  <a:cubicBezTo>
                    <a:pt x="493214" y="69807"/>
                    <a:pt x="488001" y="83955"/>
                    <a:pt x="487788" y="102534"/>
                  </a:cubicBezTo>
                  <a:lnTo>
                    <a:pt x="487788" y="199076"/>
                  </a:lnTo>
                  <a:lnTo>
                    <a:pt x="435673" y="199076"/>
                  </a:lnTo>
                  <a:lnTo>
                    <a:pt x="435673" y="5286"/>
                  </a:lnTo>
                  <a:lnTo>
                    <a:pt x="487788" y="5286"/>
                  </a:lnTo>
                  <a:lnTo>
                    <a:pt x="487788" y="35560"/>
                  </a:lnTo>
                  <a:cubicBezTo>
                    <a:pt x="493926" y="24697"/>
                    <a:pt x="502091" y="16145"/>
                    <a:pt x="512282" y="9903"/>
                  </a:cubicBezTo>
                  <a:cubicBezTo>
                    <a:pt x="522473" y="3660"/>
                    <a:pt x="534866" y="477"/>
                    <a:pt x="549462" y="352"/>
                  </a:cubicBezTo>
                  <a:close/>
                  <a:moveTo>
                    <a:pt x="931561" y="0"/>
                  </a:moveTo>
                  <a:cubicBezTo>
                    <a:pt x="962821" y="416"/>
                    <a:pt x="987620" y="9794"/>
                    <a:pt x="1005960" y="28132"/>
                  </a:cubicBezTo>
                  <a:cubicBezTo>
                    <a:pt x="1024299" y="46471"/>
                    <a:pt x="1033677" y="71271"/>
                    <a:pt x="1034094" y="102534"/>
                  </a:cubicBezTo>
                  <a:cubicBezTo>
                    <a:pt x="1033677" y="133459"/>
                    <a:pt x="1024299" y="158053"/>
                    <a:pt x="1005960" y="176318"/>
                  </a:cubicBezTo>
                  <a:cubicBezTo>
                    <a:pt x="987620" y="194583"/>
                    <a:pt x="962821" y="203931"/>
                    <a:pt x="931561" y="204362"/>
                  </a:cubicBezTo>
                  <a:cubicBezTo>
                    <a:pt x="900132" y="203931"/>
                    <a:pt x="875230" y="194583"/>
                    <a:pt x="856853" y="176318"/>
                  </a:cubicBezTo>
                  <a:cubicBezTo>
                    <a:pt x="838477" y="158053"/>
                    <a:pt x="829084" y="133459"/>
                    <a:pt x="828675" y="102534"/>
                  </a:cubicBezTo>
                  <a:cubicBezTo>
                    <a:pt x="829084" y="71271"/>
                    <a:pt x="838477" y="46471"/>
                    <a:pt x="856853" y="28132"/>
                  </a:cubicBezTo>
                  <a:cubicBezTo>
                    <a:pt x="875230" y="9794"/>
                    <a:pt x="900132" y="416"/>
                    <a:pt x="931561" y="0"/>
                  </a:cubicBezTo>
                  <a:close/>
                  <a:moveTo>
                    <a:pt x="690268" y="0"/>
                  </a:moveTo>
                  <a:cubicBezTo>
                    <a:pt x="704687" y="132"/>
                    <a:pt x="716837" y="3213"/>
                    <a:pt x="726717" y="9242"/>
                  </a:cubicBezTo>
                  <a:cubicBezTo>
                    <a:pt x="736596" y="15272"/>
                    <a:pt x="744427" y="23458"/>
                    <a:pt x="750208" y="33801"/>
                  </a:cubicBezTo>
                  <a:lnTo>
                    <a:pt x="750208" y="5286"/>
                  </a:lnTo>
                  <a:lnTo>
                    <a:pt x="802323" y="5286"/>
                  </a:lnTo>
                  <a:lnTo>
                    <a:pt x="802323" y="176538"/>
                  </a:lnTo>
                  <a:cubicBezTo>
                    <a:pt x="801796" y="208079"/>
                    <a:pt x="791405" y="232851"/>
                    <a:pt x="771150" y="250853"/>
                  </a:cubicBezTo>
                  <a:cubicBezTo>
                    <a:pt x="750894" y="268856"/>
                    <a:pt x="723934" y="278028"/>
                    <a:pt x="690268" y="278372"/>
                  </a:cubicBezTo>
                  <a:cubicBezTo>
                    <a:pt x="670438" y="278284"/>
                    <a:pt x="653874" y="276875"/>
                    <a:pt x="640576" y="274146"/>
                  </a:cubicBezTo>
                  <a:cubicBezTo>
                    <a:pt x="627278" y="271417"/>
                    <a:pt x="615656" y="267896"/>
                    <a:pt x="605709" y="263582"/>
                  </a:cubicBezTo>
                  <a:lnTo>
                    <a:pt x="626485" y="215316"/>
                  </a:lnTo>
                  <a:cubicBezTo>
                    <a:pt x="634041" y="218749"/>
                    <a:pt x="642965" y="221587"/>
                    <a:pt x="653257" y="223829"/>
                  </a:cubicBezTo>
                  <a:cubicBezTo>
                    <a:pt x="663549" y="226072"/>
                    <a:pt x="675298" y="227233"/>
                    <a:pt x="688505" y="227314"/>
                  </a:cubicBezTo>
                  <a:cubicBezTo>
                    <a:pt x="707119" y="227254"/>
                    <a:pt x="721986" y="222963"/>
                    <a:pt x="733107" y="214438"/>
                  </a:cubicBezTo>
                  <a:cubicBezTo>
                    <a:pt x="744228" y="205914"/>
                    <a:pt x="749929" y="193515"/>
                    <a:pt x="750208" y="177242"/>
                  </a:cubicBezTo>
                  <a:lnTo>
                    <a:pt x="750208" y="160342"/>
                  </a:lnTo>
                  <a:cubicBezTo>
                    <a:pt x="744427" y="170516"/>
                    <a:pt x="736596" y="178599"/>
                    <a:pt x="726717" y="184592"/>
                  </a:cubicBezTo>
                  <a:cubicBezTo>
                    <a:pt x="716837" y="190584"/>
                    <a:pt x="704687" y="193650"/>
                    <a:pt x="690268" y="193790"/>
                  </a:cubicBezTo>
                  <a:cubicBezTo>
                    <a:pt x="673509" y="193668"/>
                    <a:pt x="658352" y="189608"/>
                    <a:pt x="644797" y="181608"/>
                  </a:cubicBezTo>
                  <a:cubicBezTo>
                    <a:pt x="631241" y="173607"/>
                    <a:pt x="620447" y="162395"/>
                    <a:pt x="612414" y="147972"/>
                  </a:cubicBezTo>
                  <a:cubicBezTo>
                    <a:pt x="604381" y="133548"/>
                    <a:pt x="600268" y="116640"/>
                    <a:pt x="600075" y="97247"/>
                  </a:cubicBezTo>
                  <a:cubicBezTo>
                    <a:pt x="600268" y="77624"/>
                    <a:pt x="604381" y="60551"/>
                    <a:pt x="612414" y="46027"/>
                  </a:cubicBezTo>
                  <a:cubicBezTo>
                    <a:pt x="620447" y="31503"/>
                    <a:pt x="631241" y="20230"/>
                    <a:pt x="644797" y="12208"/>
                  </a:cubicBezTo>
                  <a:cubicBezTo>
                    <a:pt x="658352" y="4186"/>
                    <a:pt x="673509" y="117"/>
                    <a:pt x="690268" y="0"/>
                  </a:cubicBezTo>
                  <a:close/>
                  <a:moveTo>
                    <a:pt x="290218" y="0"/>
                  </a:moveTo>
                  <a:cubicBezTo>
                    <a:pt x="304637" y="139"/>
                    <a:pt x="316787" y="3381"/>
                    <a:pt x="326667" y="9726"/>
                  </a:cubicBezTo>
                  <a:cubicBezTo>
                    <a:pt x="336546" y="16071"/>
                    <a:pt x="344377" y="24682"/>
                    <a:pt x="350158" y="35560"/>
                  </a:cubicBezTo>
                  <a:lnTo>
                    <a:pt x="350158" y="5281"/>
                  </a:lnTo>
                  <a:lnTo>
                    <a:pt x="402273" y="5281"/>
                  </a:lnTo>
                  <a:lnTo>
                    <a:pt x="402273" y="199076"/>
                  </a:lnTo>
                  <a:lnTo>
                    <a:pt x="350158" y="199076"/>
                  </a:lnTo>
                  <a:lnTo>
                    <a:pt x="350158" y="168802"/>
                  </a:lnTo>
                  <a:cubicBezTo>
                    <a:pt x="344377" y="179680"/>
                    <a:pt x="336546" y="188291"/>
                    <a:pt x="326667" y="194636"/>
                  </a:cubicBezTo>
                  <a:cubicBezTo>
                    <a:pt x="316787" y="200981"/>
                    <a:pt x="304637" y="204223"/>
                    <a:pt x="290218" y="204362"/>
                  </a:cubicBezTo>
                  <a:cubicBezTo>
                    <a:pt x="273459" y="204235"/>
                    <a:pt x="258302" y="199952"/>
                    <a:pt x="244747" y="191515"/>
                  </a:cubicBezTo>
                  <a:cubicBezTo>
                    <a:pt x="231192" y="183078"/>
                    <a:pt x="220397" y="171253"/>
                    <a:pt x="212364" y="156039"/>
                  </a:cubicBezTo>
                  <a:cubicBezTo>
                    <a:pt x="204331" y="140826"/>
                    <a:pt x="200218" y="122991"/>
                    <a:pt x="200025" y="102534"/>
                  </a:cubicBezTo>
                  <a:cubicBezTo>
                    <a:pt x="200218" y="81846"/>
                    <a:pt x="204331" y="63846"/>
                    <a:pt x="212364" y="48532"/>
                  </a:cubicBezTo>
                  <a:cubicBezTo>
                    <a:pt x="220397" y="33218"/>
                    <a:pt x="231192" y="21332"/>
                    <a:pt x="244747" y="12873"/>
                  </a:cubicBezTo>
                  <a:cubicBezTo>
                    <a:pt x="258302" y="4414"/>
                    <a:pt x="273459" y="123"/>
                    <a:pt x="290218" y="0"/>
                  </a:cubicBezTo>
                  <a:close/>
                  <a:moveTo>
                    <a:pt x="102511" y="0"/>
                  </a:moveTo>
                  <a:cubicBezTo>
                    <a:pt x="119252" y="88"/>
                    <a:pt x="133613" y="1496"/>
                    <a:pt x="145595" y="4225"/>
                  </a:cubicBezTo>
                  <a:cubicBezTo>
                    <a:pt x="157578" y="6954"/>
                    <a:pt x="168239" y="10475"/>
                    <a:pt x="177578" y="14788"/>
                  </a:cubicBezTo>
                  <a:lnTo>
                    <a:pt x="158547" y="58464"/>
                  </a:lnTo>
                  <a:cubicBezTo>
                    <a:pt x="151873" y="54681"/>
                    <a:pt x="143899" y="51582"/>
                    <a:pt x="134626" y="49165"/>
                  </a:cubicBezTo>
                  <a:cubicBezTo>
                    <a:pt x="125353" y="46748"/>
                    <a:pt x="114648" y="45500"/>
                    <a:pt x="102511" y="45419"/>
                  </a:cubicBezTo>
                  <a:cubicBezTo>
                    <a:pt x="86762" y="45661"/>
                    <a:pt x="74736" y="50906"/>
                    <a:pt x="66432" y="61152"/>
                  </a:cubicBezTo>
                  <a:cubicBezTo>
                    <a:pt x="58128" y="71399"/>
                    <a:pt x="53943" y="85193"/>
                    <a:pt x="53877" y="102534"/>
                  </a:cubicBezTo>
                  <a:cubicBezTo>
                    <a:pt x="54141" y="119384"/>
                    <a:pt x="59163" y="132928"/>
                    <a:pt x="68943" y="143167"/>
                  </a:cubicBezTo>
                  <a:cubicBezTo>
                    <a:pt x="78723" y="153406"/>
                    <a:pt x="91674" y="158664"/>
                    <a:pt x="107798" y="158944"/>
                  </a:cubicBezTo>
                  <a:cubicBezTo>
                    <a:pt x="119934" y="158863"/>
                    <a:pt x="130639" y="157614"/>
                    <a:pt x="139912" y="155198"/>
                  </a:cubicBezTo>
                  <a:cubicBezTo>
                    <a:pt x="149186" y="152781"/>
                    <a:pt x="157159" y="149682"/>
                    <a:pt x="163833" y="145899"/>
                  </a:cubicBezTo>
                  <a:lnTo>
                    <a:pt x="182864" y="189575"/>
                  </a:lnTo>
                  <a:cubicBezTo>
                    <a:pt x="173584" y="193888"/>
                    <a:pt x="162805" y="197409"/>
                    <a:pt x="150529" y="200137"/>
                  </a:cubicBezTo>
                  <a:cubicBezTo>
                    <a:pt x="138253" y="202866"/>
                    <a:pt x="123069" y="204274"/>
                    <a:pt x="104978" y="204362"/>
                  </a:cubicBezTo>
                  <a:cubicBezTo>
                    <a:pt x="73471" y="204063"/>
                    <a:pt x="48223" y="194979"/>
                    <a:pt x="29232" y="177111"/>
                  </a:cubicBezTo>
                  <a:cubicBezTo>
                    <a:pt x="10242" y="159242"/>
                    <a:pt x="498" y="134383"/>
                    <a:pt x="0" y="102534"/>
                  </a:cubicBezTo>
                  <a:cubicBezTo>
                    <a:pt x="263" y="70193"/>
                    <a:pt x="9332" y="45085"/>
                    <a:pt x="27207" y="27208"/>
                  </a:cubicBezTo>
                  <a:cubicBezTo>
                    <a:pt x="45082" y="9332"/>
                    <a:pt x="70184" y="262"/>
                    <a:pt x="102511" y="0"/>
                  </a:cubicBezTo>
                  <a:close/>
                </a:path>
              </a:pathLst>
            </a:custGeom>
            <a:solidFill>
              <a:srgbClr val="001E6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001E64"/>
                </a:solidFill>
                <a:effectLst/>
                <a:uLnTx/>
                <a:uFillTx/>
                <a:latin typeface="Yaldevi" pitchFamily="2" charset="-18"/>
                <a:ea typeface="+mn-ea"/>
                <a:cs typeface="+mn-cs"/>
              </a:endParaRPr>
            </a:p>
          </p:txBody>
        </p:sp>
        <p:pic>
          <p:nvPicPr>
            <p:cNvPr id="4" name="Graphic 3">
              <a:extLst>
                <a:ext uri="{FF2B5EF4-FFF2-40B4-BE49-F238E27FC236}">
                  <a16:creationId xmlns:a16="http://schemas.microsoft.com/office/drawing/2014/main" id="{678D9236-2201-A0A2-1654-0C84715B63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8470" y="611034"/>
              <a:ext cx="344705" cy="246218"/>
            </a:xfrm>
            <a:prstGeom prst="rect">
              <a:avLst/>
            </a:prstGeom>
          </p:spPr>
        </p:pic>
      </p:grpSp>
      <p:sp>
        <p:nvSpPr>
          <p:cNvPr id="8" name="TextBox 7">
            <a:extLst>
              <a:ext uri="{FF2B5EF4-FFF2-40B4-BE49-F238E27FC236}">
                <a16:creationId xmlns:a16="http://schemas.microsoft.com/office/drawing/2014/main" id="{5B9565C5-3E7A-81CD-94B8-482A91FB6CBB}"/>
              </a:ext>
            </a:extLst>
          </p:cNvPr>
          <p:cNvSpPr txBox="1"/>
          <p:nvPr/>
        </p:nvSpPr>
        <p:spPr>
          <a:xfrm>
            <a:off x="4660351" y="5683168"/>
            <a:ext cx="287130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prstClr val="black"/>
                </a:solidFill>
                <a:effectLst/>
                <a:uLnTx/>
                <a:uFillTx/>
                <a:latin typeface="Yaldevi"/>
                <a:ea typeface="+mn-ea"/>
                <a:cs typeface="+mn-cs"/>
              </a:rPr>
              <a:t>Plot suggestion: </a:t>
            </a:r>
            <a:r>
              <a:rPr kumimoji="0" lang="pl-PL" sz="1800" b="0" i="0" u="none" strike="noStrike" kern="1200" cap="none" spc="0" normalizeH="0" baseline="0" noProof="0" dirty="0">
                <a:ln>
                  <a:noFill/>
                </a:ln>
                <a:solidFill>
                  <a:prstClr val="black"/>
                </a:solidFill>
                <a:effectLst/>
                <a:uLnTx/>
                <a:uFillTx/>
                <a:latin typeface="Yaldevi"/>
                <a:ea typeface="+mn-ea"/>
                <a:cs typeface="+mn-cs"/>
              </a:rPr>
              <a:t>Waterfall</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1244835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15E713-91F4-7FBB-98B4-15B10A604BB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033DA31-226B-2770-F648-E488A0DB2B58}"/>
              </a:ext>
            </a:extLst>
          </p:cNvPr>
          <p:cNvGraphicFramePr>
            <a:graphicFrameLocks noGrp="1"/>
          </p:cNvGraphicFramePr>
          <p:nvPr/>
        </p:nvGraphicFramePr>
        <p:xfrm>
          <a:off x="838200" y="2663839"/>
          <a:ext cx="10515600" cy="2194560"/>
        </p:xfrm>
        <a:graphic>
          <a:graphicData uri="http://schemas.openxmlformats.org/drawingml/2006/table">
            <a:tbl>
              <a:tblPr>
                <a:tableStyleId>{BC89EF96-8CEA-46FF-86C4-4CE0E7609802}</a:tableStyleId>
              </a:tblPr>
              <a:tblGrid>
                <a:gridCol w="3131916">
                  <a:extLst>
                    <a:ext uri="{9D8B030D-6E8A-4147-A177-3AD203B41FA5}">
                      <a16:colId xmlns:a16="http://schemas.microsoft.com/office/drawing/2014/main" val="3441965331"/>
                    </a:ext>
                  </a:extLst>
                </a:gridCol>
                <a:gridCol w="2125884">
                  <a:extLst>
                    <a:ext uri="{9D8B030D-6E8A-4147-A177-3AD203B41FA5}">
                      <a16:colId xmlns:a16="http://schemas.microsoft.com/office/drawing/2014/main" val="2893849732"/>
                    </a:ext>
                  </a:extLst>
                </a:gridCol>
                <a:gridCol w="2628900">
                  <a:extLst>
                    <a:ext uri="{9D8B030D-6E8A-4147-A177-3AD203B41FA5}">
                      <a16:colId xmlns:a16="http://schemas.microsoft.com/office/drawing/2014/main" val="762425643"/>
                    </a:ext>
                  </a:extLst>
                </a:gridCol>
                <a:gridCol w="2628900">
                  <a:extLst>
                    <a:ext uri="{9D8B030D-6E8A-4147-A177-3AD203B41FA5}">
                      <a16:colId xmlns:a16="http://schemas.microsoft.com/office/drawing/2014/main" val="243331521"/>
                    </a:ext>
                  </a:extLst>
                </a:gridCol>
              </a:tblGrid>
              <a:tr h="0">
                <a:tc>
                  <a:txBody>
                    <a:bodyPr/>
                    <a:lstStyle/>
                    <a:p>
                      <a:pPr algn="ctr" rtl="0">
                        <a:buNone/>
                      </a:pPr>
                      <a:r>
                        <a:rPr lang="en-US" sz="1600" b="1" dirty="0">
                          <a:solidFill>
                            <a:srgbClr val="1F1F1F"/>
                          </a:solidFill>
                          <a:effectLst/>
                        </a:rPr>
                        <a:t>Inventory Factor</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Change [in Tons]</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Running Total</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Category Type</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1215286557"/>
                  </a:ext>
                </a:extLst>
              </a:tr>
              <a:tr h="0">
                <a:tc>
                  <a:txBody>
                    <a:bodyPr/>
                    <a:lstStyle/>
                    <a:p>
                      <a:pPr algn="ctr" rtl="0">
                        <a:buNone/>
                      </a:pPr>
                      <a:r>
                        <a:rPr lang="en-US" sz="1600" b="1" dirty="0">
                          <a:solidFill>
                            <a:srgbClr val="1F1F1F"/>
                          </a:solidFill>
                          <a:effectLst/>
                        </a:rPr>
                        <a:t>20</a:t>
                      </a:r>
                      <a:r>
                        <a:rPr lang="pl-PL" sz="1600" b="1" dirty="0">
                          <a:solidFill>
                            <a:srgbClr val="1F1F1F"/>
                          </a:solidFill>
                          <a:effectLst/>
                        </a:rPr>
                        <a:t>48</a:t>
                      </a:r>
                      <a:r>
                        <a:rPr lang="en-US" sz="1600" b="1" dirty="0">
                          <a:solidFill>
                            <a:srgbClr val="1F1F1F"/>
                          </a:solidFill>
                          <a:effectLst/>
                        </a:rPr>
                        <a:t> Opening Inventory</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206</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206</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Baseline Bar</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4091080345"/>
                  </a:ext>
                </a:extLst>
              </a:tr>
              <a:tr h="0">
                <a:tc>
                  <a:txBody>
                    <a:bodyPr/>
                    <a:lstStyle/>
                    <a:p>
                      <a:pPr algn="ctr" rtl="0">
                        <a:buNone/>
                      </a:pPr>
                      <a:r>
                        <a:rPr lang="en-US" sz="1600" dirty="0">
                          <a:solidFill>
                            <a:srgbClr val="1F1F1F"/>
                          </a:solidFill>
                          <a:effectLst/>
                        </a:rPr>
                        <a:t>Autumn Harvest Inflow</a:t>
                      </a:r>
                      <a:endParaRPr lang="en-US" sz="1600" dirty="0">
                        <a:solidFill>
                          <a:srgbClr val="1F1F1F"/>
                        </a:solidFill>
                        <a:effectLst/>
                        <a:latin typeface="Yaldevi" pitchFamily="2" charset="-18"/>
                      </a:endParaRPr>
                    </a:p>
                  </a:txBody>
                  <a:tcPr marT="60960" marB="60960" anchor="ctr"/>
                </a:tc>
                <a:tc>
                  <a:txBody>
                    <a:bodyPr/>
                    <a:lstStyle/>
                    <a:p>
                      <a:pPr algn="ctr" rtl="0">
                        <a:buNone/>
                      </a:pPr>
                      <a:r>
                        <a:rPr lang="pl-PL" sz="1600" dirty="0">
                          <a:solidFill>
                            <a:srgbClr val="1F1F1F"/>
                          </a:solidFill>
                          <a:effectLst/>
                          <a:latin typeface="Yaldevi" pitchFamily="2" charset="-18"/>
                        </a:rPr>
                        <a:t>5</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211</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Increase (+)</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2122212815"/>
                  </a:ext>
                </a:extLst>
              </a:tr>
              <a:tr h="0">
                <a:tc>
                  <a:txBody>
                    <a:bodyPr/>
                    <a:lstStyle/>
                    <a:p>
                      <a:pPr algn="ctr" rtl="0">
                        <a:buNone/>
                      </a:pPr>
                      <a:r>
                        <a:rPr lang="en-US" sz="1600" dirty="0">
                          <a:solidFill>
                            <a:srgbClr val="1F1F1F"/>
                          </a:solidFill>
                          <a:effectLst/>
                        </a:rPr>
                        <a:t>Winter Distribution Outflow</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-6</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205</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Decrease (-)</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2113324145"/>
                  </a:ext>
                </a:extLst>
              </a:tr>
              <a:tr h="0">
                <a:tc>
                  <a:txBody>
                    <a:bodyPr/>
                    <a:lstStyle/>
                    <a:p>
                      <a:pPr algn="ctr" rtl="0">
                        <a:buNone/>
                      </a:pPr>
                      <a:r>
                        <a:rPr lang="en-US" sz="1600" dirty="0">
                          <a:solidFill>
                            <a:srgbClr val="1F1F1F"/>
                          </a:solidFill>
                          <a:effectLst/>
                        </a:rPr>
                        <a:t>Supplier Buyback</a:t>
                      </a:r>
                      <a:endParaRPr lang="en-US" sz="1600" dirty="0">
                        <a:solidFill>
                          <a:srgbClr val="1F1F1F"/>
                        </a:solidFill>
                        <a:effectLst/>
                        <a:latin typeface="Yaldevi" pitchFamily="2" charset="-18"/>
                      </a:endParaRPr>
                    </a:p>
                  </a:txBody>
                  <a:tcPr marT="60960" marB="60960" anchor="ctr"/>
                </a:tc>
                <a:tc>
                  <a:txBody>
                    <a:bodyPr/>
                    <a:lstStyle/>
                    <a:p>
                      <a:pPr algn="ctr" rtl="0">
                        <a:buNone/>
                      </a:pPr>
                      <a:r>
                        <a:rPr lang="pl-PL" sz="1600" dirty="0">
                          <a:solidFill>
                            <a:srgbClr val="1F1F1F"/>
                          </a:solidFill>
                          <a:effectLst/>
                        </a:rPr>
                        <a:t>4</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209</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Increase (+)</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991652050"/>
                  </a:ext>
                </a:extLst>
              </a:tr>
              <a:tr h="0">
                <a:tc>
                  <a:txBody>
                    <a:bodyPr/>
                    <a:lstStyle/>
                    <a:p>
                      <a:pPr algn="ctr" rtl="0">
                        <a:buNone/>
                      </a:pPr>
                      <a:r>
                        <a:rPr lang="en-US" sz="1600" b="1" dirty="0">
                          <a:solidFill>
                            <a:srgbClr val="1F1F1F"/>
                          </a:solidFill>
                          <a:effectLst/>
                        </a:rPr>
                        <a:t>20</a:t>
                      </a:r>
                      <a:r>
                        <a:rPr lang="pl-PL" sz="1600" b="1" dirty="0">
                          <a:solidFill>
                            <a:srgbClr val="1F1F1F"/>
                          </a:solidFill>
                          <a:effectLst/>
                        </a:rPr>
                        <a:t>49</a:t>
                      </a:r>
                      <a:r>
                        <a:rPr lang="en-US" sz="1600" b="1" dirty="0">
                          <a:solidFill>
                            <a:srgbClr val="1F1F1F"/>
                          </a:solidFill>
                          <a:effectLst/>
                        </a:rPr>
                        <a:t> Closing Inventory</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209</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dirty="0">
                          <a:solidFill>
                            <a:srgbClr val="1F1F1F"/>
                          </a:solidFill>
                          <a:effectLst/>
                        </a:rPr>
                        <a:t>209</a:t>
                      </a:r>
                      <a:endParaRPr lang="en-US" sz="1600" dirty="0">
                        <a:solidFill>
                          <a:srgbClr val="1F1F1F"/>
                        </a:solidFill>
                        <a:effectLst/>
                        <a:latin typeface="Yaldevi" pitchFamily="2" charset="-18"/>
                      </a:endParaRPr>
                    </a:p>
                  </a:txBody>
                  <a:tcPr marT="60960" marB="60960" anchor="ctr"/>
                </a:tc>
                <a:tc>
                  <a:txBody>
                    <a:bodyPr/>
                    <a:lstStyle/>
                    <a:p>
                      <a:pPr algn="ctr" rtl="0">
                        <a:buNone/>
                      </a:pPr>
                      <a:r>
                        <a:rPr lang="en-US" sz="1600" b="1" dirty="0">
                          <a:solidFill>
                            <a:srgbClr val="1F1F1F"/>
                          </a:solidFill>
                          <a:effectLst/>
                        </a:rPr>
                        <a:t>Total Bar</a:t>
                      </a:r>
                      <a:endParaRPr lang="en-US" sz="1600" dirty="0">
                        <a:solidFill>
                          <a:srgbClr val="1F1F1F"/>
                        </a:solidFill>
                        <a:effectLst/>
                        <a:latin typeface="Yaldevi" pitchFamily="2" charset="-18"/>
                      </a:endParaRPr>
                    </a:p>
                  </a:txBody>
                  <a:tcPr marT="60960" marB="60960" anchor="ctr"/>
                </a:tc>
                <a:extLst>
                  <a:ext uri="{0D108BD9-81ED-4DB2-BD59-A6C34878D82A}">
                    <a16:rowId xmlns:a16="http://schemas.microsoft.com/office/drawing/2014/main" val="971130322"/>
                  </a:ext>
                </a:extLst>
              </a:tr>
            </a:tbl>
          </a:graphicData>
        </a:graphic>
      </p:graphicFrame>
    </p:spTree>
    <p:extLst>
      <p:ext uri="{BB962C8B-B14F-4D97-AF65-F5344CB8AC3E}">
        <p14:creationId xmlns:p14="http://schemas.microsoft.com/office/powerpoint/2010/main" val="2921969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2AA07-C92A-D559-7AA3-617BA4D9F43B}"/>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3AFED65A-3679-AD15-AA43-BB06CCE2B1DE}"/>
              </a:ext>
            </a:extLst>
          </p:cNvPr>
          <p:cNvSpPr/>
          <p:nvPr/>
        </p:nvSpPr>
        <p:spPr>
          <a:xfrm>
            <a:off x="6736838" y="1609306"/>
            <a:ext cx="3749040" cy="175607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8E9F0"/>
              </a:solidFill>
              <a:effectLst/>
              <a:uLnTx/>
              <a:uFillTx/>
              <a:latin typeface="Yaldevi"/>
              <a:ea typeface="+mn-ea"/>
              <a:cs typeface="+mn-cs"/>
            </a:endParaRPr>
          </a:p>
        </p:txBody>
      </p:sp>
      <p:sp>
        <p:nvSpPr>
          <p:cNvPr id="4" name="Rectangle: Rounded Corners 3">
            <a:extLst>
              <a:ext uri="{FF2B5EF4-FFF2-40B4-BE49-F238E27FC236}">
                <a16:creationId xmlns:a16="http://schemas.microsoft.com/office/drawing/2014/main" id="{80E61816-7805-49A7-13C8-0D3693CD3DF8}"/>
              </a:ext>
            </a:extLst>
          </p:cNvPr>
          <p:cNvSpPr/>
          <p:nvPr/>
        </p:nvSpPr>
        <p:spPr>
          <a:xfrm>
            <a:off x="1249679" y="5364452"/>
            <a:ext cx="1041577" cy="64633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5" name="Rectangle: Rounded Corners 4">
            <a:extLst>
              <a:ext uri="{FF2B5EF4-FFF2-40B4-BE49-F238E27FC236}">
                <a16:creationId xmlns:a16="http://schemas.microsoft.com/office/drawing/2014/main" id="{BDF9D72E-1A45-C970-00B6-3DDCDA9FAE3A}"/>
              </a:ext>
            </a:extLst>
          </p:cNvPr>
          <p:cNvSpPr/>
          <p:nvPr/>
        </p:nvSpPr>
        <p:spPr>
          <a:xfrm>
            <a:off x="2414351" y="5364452"/>
            <a:ext cx="1041577" cy="646331"/>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6" name="Rectangle: Rounded Corners 5">
            <a:extLst>
              <a:ext uri="{FF2B5EF4-FFF2-40B4-BE49-F238E27FC236}">
                <a16:creationId xmlns:a16="http://schemas.microsoft.com/office/drawing/2014/main" id="{893E8B6A-7044-AA3C-FB67-ADE5312672BD}"/>
              </a:ext>
            </a:extLst>
          </p:cNvPr>
          <p:cNvSpPr/>
          <p:nvPr/>
        </p:nvSpPr>
        <p:spPr>
          <a:xfrm>
            <a:off x="3579023" y="5364452"/>
            <a:ext cx="1041577" cy="646331"/>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7" name="Rectangle: Rounded Corners 6">
            <a:extLst>
              <a:ext uri="{FF2B5EF4-FFF2-40B4-BE49-F238E27FC236}">
                <a16:creationId xmlns:a16="http://schemas.microsoft.com/office/drawing/2014/main" id="{3A7B3362-C95B-D6FA-E55B-0D0BCAA17A88}"/>
              </a:ext>
            </a:extLst>
          </p:cNvPr>
          <p:cNvSpPr/>
          <p:nvPr/>
        </p:nvSpPr>
        <p:spPr>
          <a:xfrm>
            <a:off x="4743695" y="5364452"/>
            <a:ext cx="1041577" cy="646331"/>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8" name="Rectangle: Rounded Corners 7">
            <a:extLst>
              <a:ext uri="{FF2B5EF4-FFF2-40B4-BE49-F238E27FC236}">
                <a16:creationId xmlns:a16="http://schemas.microsoft.com/office/drawing/2014/main" id="{473C45B2-A1A2-7F6E-989F-82C7AD91AADD}"/>
              </a:ext>
            </a:extLst>
          </p:cNvPr>
          <p:cNvSpPr/>
          <p:nvPr/>
        </p:nvSpPr>
        <p:spPr>
          <a:xfrm>
            <a:off x="5908367" y="5364452"/>
            <a:ext cx="1041577" cy="646331"/>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9" name="Rectangle: Rounded Corners 8">
            <a:extLst>
              <a:ext uri="{FF2B5EF4-FFF2-40B4-BE49-F238E27FC236}">
                <a16:creationId xmlns:a16="http://schemas.microsoft.com/office/drawing/2014/main" id="{6A0E077C-E2C5-C146-2F90-AC5B5A0C6EEE}"/>
              </a:ext>
            </a:extLst>
          </p:cNvPr>
          <p:cNvSpPr/>
          <p:nvPr/>
        </p:nvSpPr>
        <p:spPr>
          <a:xfrm>
            <a:off x="7073041" y="5364452"/>
            <a:ext cx="1041577" cy="646331"/>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10" name="TextBox 9">
            <a:extLst>
              <a:ext uri="{FF2B5EF4-FFF2-40B4-BE49-F238E27FC236}">
                <a16:creationId xmlns:a16="http://schemas.microsoft.com/office/drawing/2014/main" id="{1D0EB235-6B2A-E4F5-763D-2019F4F3D369}"/>
              </a:ext>
            </a:extLst>
          </p:cNvPr>
          <p:cNvSpPr txBox="1"/>
          <p:nvPr/>
        </p:nvSpPr>
        <p:spPr>
          <a:xfrm>
            <a:off x="1181121" y="4627300"/>
            <a:ext cx="311655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Color scheme:</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sp>
        <p:nvSpPr>
          <p:cNvPr id="11" name="TextBox 10">
            <a:extLst>
              <a:ext uri="{FF2B5EF4-FFF2-40B4-BE49-F238E27FC236}">
                <a16:creationId xmlns:a16="http://schemas.microsoft.com/office/drawing/2014/main" id="{2C20DD97-BFE0-FCF7-5793-FFF11A78E3F2}"/>
              </a:ext>
            </a:extLst>
          </p:cNvPr>
          <p:cNvSpPr txBox="1"/>
          <p:nvPr/>
        </p:nvSpPr>
        <p:spPr>
          <a:xfrm>
            <a:off x="1249680" y="2043306"/>
            <a:ext cx="248818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Font usage:</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sp>
        <p:nvSpPr>
          <p:cNvPr id="3" name="TextBox 2">
            <a:extLst>
              <a:ext uri="{FF2B5EF4-FFF2-40B4-BE49-F238E27FC236}">
                <a16:creationId xmlns:a16="http://schemas.microsoft.com/office/drawing/2014/main" id="{B50B6988-089D-7AAB-FAA0-6905367FDE0B}"/>
              </a:ext>
            </a:extLst>
          </p:cNvPr>
          <p:cNvSpPr txBox="1"/>
          <p:nvPr/>
        </p:nvSpPr>
        <p:spPr>
          <a:xfrm>
            <a:off x="1229907" y="2759431"/>
            <a:ext cx="38924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srgbClr val="06105B"/>
                </a:solidFill>
                <a:effectLst/>
                <a:uLnTx/>
                <a:uFillTx/>
                <a:latin typeface="Yaldevi SemiBold"/>
                <a:ea typeface="+mn-ea"/>
                <a:cs typeface="+mn-cs"/>
              </a:rPr>
              <a:t>Yaldevi Semi Bold</a:t>
            </a:r>
            <a:endParaRPr kumimoji="0" lang="en-US" sz="3600" b="0" i="0" u="none" strike="noStrike" kern="1200" cap="none" spc="0" normalizeH="0" baseline="0" noProof="0" dirty="0">
              <a:ln>
                <a:noFill/>
              </a:ln>
              <a:solidFill>
                <a:srgbClr val="06105B"/>
              </a:solidFill>
              <a:effectLst/>
              <a:uLnTx/>
              <a:uFillTx/>
              <a:latin typeface="Yaldevi SemiBold"/>
              <a:ea typeface="+mn-ea"/>
              <a:cs typeface="+mn-cs"/>
            </a:endParaRPr>
          </a:p>
        </p:txBody>
      </p:sp>
      <p:sp>
        <p:nvSpPr>
          <p:cNvPr id="12" name="TextBox 11">
            <a:extLst>
              <a:ext uri="{FF2B5EF4-FFF2-40B4-BE49-F238E27FC236}">
                <a16:creationId xmlns:a16="http://schemas.microsoft.com/office/drawing/2014/main" id="{D4743A85-95A3-2541-38E8-8900D0953597}"/>
              </a:ext>
            </a:extLst>
          </p:cNvPr>
          <p:cNvSpPr txBox="1"/>
          <p:nvPr/>
        </p:nvSpPr>
        <p:spPr>
          <a:xfrm>
            <a:off x="1229907" y="3429000"/>
            <a:ext cx="161133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srgbClr val="06105B"/>
                </a:solidFill>
                <a:effectLst/>
                <a:uLnTx/>
                <a:uFillTx/>
                <a:latin typeface="Yaldevi"/>
                <a:ea typeface="+mn-ea"/>
                <a:cs typeface="+mn-cs"/>
              </a:rPr>
              <a:t>Yaldevi</a:t>
            </a:r>
            <a:endParaRPr kumimoji="0" lang="en-US" sz="3600" b="0" i="0" u="none" strike="noStrike" kern="1200" cap="none" spc="0" normalizeH="0" baseline="0" noProof="0" dirty="0">
              <a:ln>
                <a:noFill/>
              </a:ln>
              <a:solidFill>
                <a:srgbClr val="06105B"/>
              </a:solidFill>
              <a:effectLst/>
              <a:uLnTx/>
              <a:uFillTx/>
              <a:latin typeface="Yaldevi"/>
              <a:ea typeface="+mn-ea"/>
              <a:cs typeface="+mn-cs"/>
            </a:endParaRPr>
          </a:p>
        </p:txBody>
      </p:sp>
      <p:sp>
        <p:nvSpPr>
          <p:cNvPr id="13" name="TextBox 12">
            <a:extLst>
              <a:ext uri="{FF2B5EF4-FFF2-40B4-BE49-F238E27FC236}">
                <a16:creationId xmlns:a16="http://schemas.microsoft.com/office/drawing/2014/main" id="{E6A254D2-4A5C-23E1-41E1-E3E1DCABB48A}"/>
              </a:ext>
            </a:extLst>
          </p:cNvPr>
          <p:cNvSpPr txBox="1"/>
          <p:nvPr/>
        </p:nvSpPr>
        <p:spPr>
          <a:xfrm>
            <a:off x="1249680" y="576778"/>
            <a:ext cx="126348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Logo:</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15" name="Group 14">
            <a:extLst>
              <a:ext uri="{FF2B5EF4-FFF2-40B4-BE49-F238E27FC236}">
                <a16:creationId xmlns:a16="http://schemas.microsoft.com/office/drawing/2014/main" id="{6DA2F4C7-8215-C108-B9C9-85AC174122A7}"/>
              </a:ext>
            </a:extLst>
          </p:cNvPr>
          <p:cNvGrpSpPr/>
          <p:nvPr/>
        </p:nvGrpSpPr>
        <p:grpSpPr>
          <a:xfrm>
            <a:off x="1392952" y="1286310"/>
            <a:ext cx="1482244" cy="302288"/>
            <a:chOff x="4708470" y="611034"/>
            <a:chExt cx="1482244" cy="302288"/>
          </a:xfrm>
        </p:grpSpPr>
        <p:sp>
          <p:nvSpPr>
            <p:cNvPr id="16" name="TextBox 15">
              <a:extLst>
                <a:ext uri="{FF2B5EF4-FFF2-40B4-BE49-F238E27FC236}">
                  <a16:creationId xmlns:a16="http://schemas.microsoft.com/office/drawing/2014/main" id="{390879D7-F98A-C7B9-F963-CDFD934D0CCD}"/>
                </a:ext>
              </a:extLst>
            </p:cNvPr>
            <p:cNvSpPr txBox="1"/>
            <p:nvPr/>
          </p:nvSpPr>
          <p:spPr>
            <a:xfrm>
              <a:off x="5156620" y="634950"/>
              <a:ext cx="1034094" cy="278372"/>
            </a:xfrm>
            <a:custGeom>
              <a:avLst/>
              <a:gdLst/>
              <a:ahLst/>
              <a:cxnLst/>
              <a:rect l="l" t="t" r="r" b="b"/>
              <a:pathLst>
                <a:path w="1034094" h="278372">
                  <a:moveTo>
                    <a:pt x="931561" y="45066"/>
                  </a:moveTo>
                  <a:cubicBezTo>
                    <a:pt x="916561" y="45301"/>
                    <a:pt x="904691" y="50560"/>
                    <a:pt x="895950" y="60844"/>
                  </a:cubicBezTo>
                  <a:cubicBezTo>
                    <a:pt x="887209" y="71127"/>
                    <a:pt x="882743" y="85023"/>
                    <a:pt x="882552" y="102534"/>
                  </a:cubicBezTo>
                  <a:cubicBezTo>
                    <a:pt x="882743" y="119707"/>
                    <a:pt x="887209" y="133398"/>
                    <a:pt x="895950" y="143607"/>
                  </a:cubicBezTo>
                  <a:cubicBezTo>
                    <a:pt x="904691" y="153817"/>
                    <a:pt x="916561" y="159046"/>
                    <a:pt x="931561" y="159296"/>
                  </a:cubicBezTo>
                  <a:cubicBezTo>
                    <a:pt x="946392" y="159046"/>
                    <a:pt x="958159" y="153817"/>
                    <a:pt x="966864" y="143607"/>
                  </a:cubicBezTo>
                  <a:cubicBezTo>
                    <a:pt x="975568" y="133398"/>
                    <a:pt x="980019" y="119707"/>
                    <a:pt x="980217" y="102534"/>
                  </a:cubicBezTo>
                  <a:cubicBezTo>
                    <a:pt x="980019" y="85023"/>
                    <a:pt x="975568" y="71127"/>
                    <a:pt x="966864" y="60844"/>
                  </a:cubicBezTo>
                  <a:cubicBezTo>
                    <a:pt x="958159" y="50560"/>
                    <a:pt x="946392" y="45301"/>
                    <a:pt x="931561" y="45066"/>
                  </a:cubicBezTo>
                  <a:close/>
                  <a:moveTo>
                    <a:pt x="702256" y="45066"/>
                  </a:moveTo>
                  <a:cubicBezTo>
                    <a:pt x="687440" y="45279"/>
                    <a:pt x="675731" y="50054"/>
                    <a:pt x="667130" y="59390"/>
                  </a:cubicBezTo>
                  <a:cubicBezTo>
                    <a:pt x="658528" y="68725"/>
                    <a:pt x="654135" y="81345"/>
                    <a:pt x="653952" y="97247"/>
                  </a:cubicBezTo>
                  <a:cubicBezTo>
                    <a:pt x="654135" y="112812"/>
                    <a:pt x="658528" y="125226"/>
                    <a:pt x="667130" y="134488"/>
                  </a:cubicBezTo>
                  <a:cubicBezTo>
                    <a:pt x="675731" y="143751"/>
                    <a:pt x="687440" y="148496"/>
                    <a:pt x="702256" y="148723"/>
                  </a:cubicBezTo>
                  <a:cubicBezTo>
                    <a:pt x="716903" y="148496"/>
                    <a:pt x="728509" y="143751"/>
                    <a:pt x="737074" y="134488"/>
                  </a:cubicBezTo>
                  <a:cubicBezTo>
                    <a:pt x="745639" y="125226"/>
                    <a:pt x="750017" y="112812"/>
                    <a:pt x="750208" y="97247"/>
                  </a:cubicBezTo>
                  <a:cubicBezTo>
                    <a:pt x="750017" y="81345"/>
                    <a:pt x="745639" y="68725"/>
                    <a:pt x="737074" y="59390"/>
                  </a:cubicBezTo>
                  <a:cubicBezTo>
                    <a:pt x="728509" y="50054"/>
                    <a:pt x="716903" y="45279"/>
                    <a:pt x="702256" y="45066"/>
                  </a:cubicBezTo>
                  <a:close/>
                  <a:moveTo>
                    <a:pt x="302206" y="45066"/>
                  </a:moveTo>
                  <a:cubicBezTo>
                    <a:pt x="287390" y="45301"/>
                    <a:pt x="275681" y="50560"/>
                    <a:pt x="267080" y="60844"/>
                  </a:cubicBezTo>
                  <a:cubicBezTo>
                    <a:pt x="258478" y="71127"/>
                    <a:pt x="254085" y="85023"/>
                    <a:pt x="253902" y="102534"/>
                  </a:cubicBezTo>
                  <a:cubicBezTo>
                    <a:pt x="254085" y="119707"/>
                    <a:pt x="258478" y="133398"/>
                    <a:pt x="267080" y="143607"/>
                  </a:cubicBezTo>
                  <a:cubicBezTo>
                    <a:pt x="275681" y="153817"/>
                    <a:pt x="287390" y="159046"/>
                    <a:pt x="302206" y="159296"/>
                  </a:cubicBezTo>
                  <a:cubicBezTo>
                    <a:pt x="316853" y="159046"/>
                    <a:pt x="328459" y="153817"/>
                    <a:pt x="337024" y="143607"/>
                  </a:cubicBezTo>
                  <a:cubicBezTo>
                    <a:pt x="345589" y="133398"/>
                    <a:pt x="349967" y="119707"/>
                    <a:pt x="350158" y="102534"/>
                  </a:cubicBezTo>
                  <a:cubicBezTo>
                    <a:pt x="349967" y="85023"/>
                    <a:pt x="345589" y="71127"/>
                    <a:pt x="337024" y="60844"/>
                  </a:cubicBezTo>
                  <a:cubicBezTo>
                    <a:pt x="328459" y="50560"/>
                    <a:pt x="316853" y="45301"/>
                    <a:pt x="302206" y="45066"/>
                  </a:cubicBezTo>
                  <a:close/>
                  <a:moveTo>
                    <a:pt x="549462" y="352"/>
                  </a:moveTo>
                  <a:cubicBezTo>
                    <a:pt x="559712" y="389"/>
                    <a:pt x="568816" y="1284"/>
                    <a:pt x="576775" y="3037"/>
                  </a:cubicBezTo>
                  <a:cubicBezTo>
                    <a:pt x="584734" y="4790"/>
                    <a:pt x="592429" y="7181"/>
                    <a:pt x="599859" y="10211"/>
                  </a:cubicBezTo>
                  <a:lnTo>
                    <a:pt x="581181" y="53172"/>
                  </a:lnTo>
                  <a:cubicBezTo>
                    <a:pt x="575762" y="50845"/>
                    <a:pt x="570123" y="48980"/>
                    <a:pt x="564264" y="47577"/>
                  </a:cubicBezTo>
                  <a:cubicBezTo>
                    <a:pt x="558405" y="46175"/>
                    <a:pt x="552062" y="45455"/>
                    <a:pt x="545233" y="45419"/>
                  </a:cubicBezTo>
                  <a:cubicBezTo>
                    <a:pt x="527575" y="45484"/>
                    <a:pt x="513640" y="50375"/>
                    <a:pt x="503427" y="60091"/>
                  </a:cubicBezTo>
                  <a:cubicBezTo>
                    <a:pt x="493214" y="69807"/>
                    <a:pt x="488001" y="83955"/>
                    <a:pt x="487788" y="102534"/>
                  </a:cubicBezTo>
                  <a:lnTo>
                    <a:pt x="487788" y="199076"/>
                  </a:lnTo>
                  <a:lnTo>
                    <a:pt x="435673" y="199076"/>
                  </a:lnTo>
                  <a:lnTo>
                    <a:pt x="435673" y="5286"/>
                  </a:lnTo>
                  <a:lnTo>
                    <a:pt x="487788" y="5286"/>
                  </a:lnTo>
                  <a:lnTo>
                    <a:pt x="487788" y="35560"/>
                  </a:lnTo>
                  <a:cubicBezTo>
                    <a:pt x="493926" y="24697"/>
                    <a:pt x="502091" y="16145"/>
                    <a:pt x="512282" y="9903"/>
                  </a:cubicBezTo>
                  <a:cubicBezTo>
                    <a:pt x="522473" y="3660"/>
                    <a:pt x="534866" y="477"/>
                    <a:pt x="549462" y="352"/>
                  </a:cubicBezTo>
                  <a:close/>
                  <a:moveTo>
                    <a:pt x="931561" y="0"/>
                  </a:moveTo>
                  <a:cubicBezTo>
                    <a:pt x="962821" y="416"/>
                    <a:pt x="987620" y="9794"/>
                    <a:pt x="1005960" y="28132"/>
                  </a:cubicBezTo>
                  <a:cubicBezTo>
                    <a:pt x="1024299" y="46471"/>
                    <a:pt x="1033677" y="71271"/>
                    <a:pt x="1034094" y="102534"/>
                  </a:cubicBezTo>
                  <a:cubicBezTo>
                    <a:pt x="1033677" y="133459"/>
                    <a:pt x="1024299" y="158053"/>
                    <a:pt x="1005960" y="176318"/>
                  </a:cubicBezTo>
                  <a:cubicBezTo>
                    <a:pt x="987620" y="194583"/>
                    <a:pt x="962821" y="203931"/>
                    <a:pt x="931561" y="204362"/>
                  </a:cubicBezTo>
                  <a:cubicBezTo>
                    <a:pt x="900132" y="203931"/>
                    <a:pt x="875230" y="194583"/>
                    <a:pt x="856853" y="176318"/>
                  </a:cubicBezTo>
                  <a:cubicBezTo>
                    <a:pt x="838477" y="158053"/>
                    <a:pt x="829084" y="133459"/>
                    <a:pt x="828675" y="102534"/>
                  </a:cubicBezTo>
                  <a:cubicBezTo>
                    <a:pt x="829084" y="71271"/>
                    <a:pt x="838477" y="46471"/>
                    <a:pt x="856853" y="28132"/>
                  </a:cubicBezTo>
                  <a:cubicBezTo>
                    <a:pt x="875230" y="9794"/>
                    <a:pt x="900132" y="416"/>
                    <a:pt x="931561" y="0"/>
                  </a:cubicBezTo>
                  <a:close/>
                  <a:moveTo>
                    <a:pt x="690268" y="0"/>
                  </a:moveTo>
                  <a:cubicBezTo>
                    <a:pt x="704687" y="132"/>
                    <a:pt x="716837" y="3213"/>
                    <a:pt x="726717" y="9242"/>
                  </a:cubicBezTo>
                  <a:cubicBezTo>
                    <a:pt x="736596" y="15272"/>
                    <a:pt x="744427" y="23458"/>
                    <a:pt x="750208" y="33801"/>
                  </a:cubicBezTo>
                  <a:lnTo>
                    <a:pt x="750208" y="5286"/>
                  </a:lnTo>
                  <a:lnTo>
                    <a:pt x="802323" y="5286"/>
                  </a:lnTo>
                  <a:lnTo>
                    <a:pt x="802323" y="176538"/>
                  </a:lnTo>
                  <a:cubicBezTo>
                    <a:pt x="801796" y="208079"/>
                    <a:pt x="791405" y="232851"/>
                    <a:pt x="771150" y="250853"/>
                  </a:cubicBezTo>
                  <a:cubicBezTo>
                    <a:pt x="750894" y="268856"/>
                    <a:pt x="723934" y="278028"/>
                    <a:pt x="690268" y="278372"/>
                  </a:cubicBezTo>
                  <a:cubicBezTo>
                    <a:pt x="670438" y="278284"/>
                    <a:pt x="653874" y="276875"/>
                    <a:pt x="640576" y="274146"/>
                  </a:cubicBezTo>
                  <a:cubicBezTo>
                    <a:pt x="627278" y="271417"/>
                    <a:pt x="615656" y="267896"/>
                    <a:pt x="605709" y="263582"/>
                  </a:cubicBezTo>
                  <a:lnTo>
                    <a:pt x="626485" y="215316"/>
                  </a:lnTo>
                  <a:cubicBezTo>
                    <a:pt x="634041" y="218749"/>
                    <a:pt x="642965" y="221587"/>
                    <a:pt x="653257" y="223829"/>
                  </a:cubicBezTo>
                  <a:cubicBezTo>
                    <a:pt x="663549" y="226072"/>
                    <a:pt x="675298" y="227233"/>
                    <a:pt x="688505" y="227314"/>
                  </a:cubicBezTo>
                  <a:cubicBezTo>
                    <a:pt x="707119" y="227254"/>
                    <a:pt x="721986" y="222963"/>
                    <a:pt x="733107" y="214438"/>
                  </a:cubicBezTo>
                  <a:cubicBezTo>
                    <a:pt x="744228" y="205914"/>
                    <a:pt x="749929" y="193515"/>
                    <a:pt x="750208" y="177242"/>
                  </a:cubicBezTo>
                  <a:lnTo>
                    <a:pt x="750208" y="160342"/>
                  </a:lnTo>
                  <a:cubicBezTo>
                    <a:pt x="744427" y="170516"/>
                    <a:pt x="736596" y="178599"/>
                    <a:pt x="726717" y="184592"/>
                  </a:cubicBezTo>
                  <a:cubicBezTo>
                    <a:pt x="716837" y="190584"/>
                    <a:pt x="704687" y="193650"/>
                    <a:pt x="690268" y="193790"/>
                  </a:cubicBezTo>
                  <a:cubicBezTo>
                    <a:pt x="673509" y="193668"/>
                    <a:pt x="658352" y="189608"/>
                    <a:pt x="644797" y="181608"/>
                  </a:cubicBezTo>
                  <a:cubicBezTo>
                    <a:pt x="631241" y="173607"/>
                    <a:pt x="620447" y="162395"/>
                    <a:pt x="612414" y="147972"/>
                  </a:cubicBezTo>
                  <a:cubicBezTo>
                    <a:pt x="604381" y="133548"/>
                    <a:pt x="600268" y="116640"/>
                    <a:pt x="600075" y="97247"/>
                  </a:cubicBezTo>
                  <a:cubicBezTo>
                    <a:pt x="600268" y="77624"/>
                    <a:pt x="604381" y="60551"/>
                    <a:pt x="612414" y="46027"/>
                  </a:cubicBezTo>
                  <a:cubicBezTo>
                    <a:pt x="620447" y="31503"/>
                    <a:pt x="631241" y="20230"/>
                    <a:pt x="644797" y="12208"/>
                  </a:cubicBezTo>
                  <a:cubicBezTo>
                    <a:pt x="658352" y="4186"/>
                    <a:pt x="673509" y="117"/>
                    <a:pt x="690268" y="0"/>
                  </a:cubicBezTo>
                  <a:close/>
                  <a:moveTo>
                    <a:pt x="290218" y="0"/>
                  </a:moveTo>
                  <a:cubicBezTo>
                    <a:pt x="304637" y="139"/>
                    <a:pt x="316787" y="3381"/>
                    <a:pt x="326667" y="9726"/>
                  </a:cubicBezTo>
                  <a:cubicBezTo>
                    <a:pt x="336546" y="16071"/>
                    <a:pt x="344377" y="24682"/>
                    <a:pt x="350158" y="35560"/>
                  </a:cubicBezTo>
                  <a:lnTo>
                    <a:pt x="350158" y="5281"/>
                  </a:lnTo>
                  <a:lnTo>
                    <a:pt x="402273" y="5281"/>
                  </a:lnTo>
                  <a:lnTo>
                    <a:pt x="402273" y="199076"/>
                  </a:lnTo>
                  <a:lnTo>
                    <a:pt x="350158" y="199076"/>
                  </a:lnTo>
                  <a:lnTo>
                    <a:pt x="350158" y="168802"/>
                  </a:lnTo>
                  <a:cubicBezTo>
                    <a:pt x="344377" y="179680"/>
                    <a:pt x="336546" y="188291"/>
                    <a:pt x="326667" y="194636"/>
                  </a:cubicBezTo>
                  <a:cubicBezTo>
                    <a:pt x="316787" y="200981"/>
                    <a:pt x="304637" y="204223"/>
                    <a:pt x="290218" y="204362"/>
                  </a:cubicBezTo>
                  <a:cubicBezTo>
                    <a:pt x="273459" y="204235"/>
                    <a:pt x="258302" y="199952"/>
                    <a:pt x="244747" y="191515"/>
                  </a:cubicBezTo>
                  <a:cubicBezTo>
                    <a:pt x="231192" y="183078"/>
                    <a:pt x="220397" y="171253"/>
                    <a:pt x="212364" y="156039"/>
                  </a:cubicBezTo>
                  <a:cubicBezTo>
                    <a:pt x="204331" y="140826"/>
                    <a:pt x="200218" y="122991"/>
                    <a:pt x="200025" y="102534"/>
                  </a:cubicBezTo>
                  <a:cubicBezTo>
                    <a:pt x="200218" y="81846"/>
                    <a:pt x="204331" y="63846"/>
                    <a:pt x="212364" y="48532"/>
                  </a:cubicBezTo>
                  <a:cubicBezTo>
                    <a:pt x="220397" y="33218"/>
                    <a:pt x="231192" y="21332"/>
                    <a:pt x="244747" y="12873"/>
                  </a:cubicBezTo>
                  <a:cubicBezTo>
                    <a:pt x="258302" y="4414"/>
                    <a:pt x="273459" y="123"/>
                    <a:pt x="290218" y="0"/>
                  </a:cubicBezTo>
                  <a:close/>
                  <a:moveTo>
                    <a:pt x="102511" y="0"/>
                  </a:moveTo>
                  <a:cubicBezTo>
                    <a:pt x="119252" y="88"/>
                    <a:pt x="133613" y="1496"/>
                    <a:pt x="145595" y="4225"/>
                  </a:cubicBezTo>
                  <a:cubicBezTo>
                    <a:pt x="157578" y="6954"/>
                    <a:pt x="168239" y="10475"/>
                    <a:pt x="177578" y="14788"/>
                  </a:cubicBezTo>
                  <a:lnTo>
                    <a:pt x="158547" y="58464"/>
                  </a:lnTo>
                  <a:cubicBezTo>
                    <a:pt x="151873" y="54681"/>
                    <a:pt x="143899" y="51582"/>
                    <a:pt x="134626" y="49165"/>
                  </a:cubicBezTo>
                  <a:cubicBezTo>
                    <a:pt x="125353" y="46748"/>
                    <a:pt x="114648" y="45500"/>
                    <a:pt x="102511" y="45419"/>
                  </a:cubicBezTo>
                  <a:cubicBezTo>
                    <a:pt x="86762" y="45661"/>
                    <a:pt x="74736" y="50906"/>
                    <a:pt x="66432" y="61152"/>
                  </a:cubicBezTo>
                  <a:cubicBezTo>
                    <a:pt x="58128" y="71399"/>
                    <a:pt x="53943" y="85193"/>
                    <a:pt x="53877" y="102534"/>
                  </a:cubicBezTo>
                  <a:cubicBezTo>
                    <a:pt x="54141" y="119384"/>
                    <a:pt x="59163" y="132928"/>
                    <a:pt x="68943" y="143167"/>
                  </a:cubicBezTo>
                  <a:cubicBezTo>
                    <a:pt x="78723" y="153406"/>
                    <a:pt x="91674" y="158664"/>
                    <a:pt x="107798" y="158944"/>
                  </a:cubicBezTo>
                  <a:cubicBezTo>
                    <a:pt x="119934" y="158863"/>
                    <a:pt x="130639" y="157614"/>
                    <a:pt x="139912" y="155198"/>
                  </a:cubicBezTo>
                  <a:cubicBezTo>
                    <a:pt x="149186" y="152781"/>
                    <a:pt x="157159" y="149682"/>
                    <a:pt x="163833" y="145899"/>
                  </a:cubicBezTo>
                  <a:lnTo>
                    <a:pt x="182864" y="189575"/>
                  </a:lnTo>
                  <a:cubicBezTo>
                    <a:pt x="173584" y="193888"/>
                    <a:pt x="162805" y="197409"/>
                    <a:pt x="150529" y="200137"/>
                  </a:cubicBezTo>
                  <a:cubicBezTo>
                    <a:pt x="138253" y="202866"/>
                    <a:pt x="123069" y="204274"/>
                    <a:pt x="104978" y="204362"/>
                  </a:cubicBezTo>
                  <a:cubicBezTo>
                    <a:pt x="73471" y="204063"/>
                    <a:pt x="48223" y="194979"/>
                    <a:pt x="29232" y="177111"/>
                  </a:cubicBezTo>
                  <a:cubicBezTo>
                    <a:pt x="10242" y="159242"/>
                    <a:pt x="498" y="134383"/>
                    <a:pt x="0" y="102534"/>
                  </a:cubicBezTo>
                  <a:cubicBezTo>
                    <a:pt x="263" y="70193"/>
                    <a:pt x="9332" y="45085"/>
                    <a:pt x="27207" y="27208"/>
                  </a:cubicBezTo>
                  <a:cubicBezTo>
                    <a:pt x="45082" y="9332"/>
                    <a:pt x="70184" y="262"/>
                    <a:pt x="102511" y="0"/>
                  </a:cubicBezTo>
                  <a:close/>
                </a:path>
              </a:pathLst>
            </a:custGeom>
            <a:solidFill>
              <a:srgbClr val="001E64"/>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001E64"/>
                </a:solidFill>
                <a:effectLst/>
                <a:uLnTx/>
                <a:uFillTx/>
                <a:latin typeface="Yaldevi" pitchFamily="2" charset="-18"/>
                <a:ea typeface="+mn-ea"/>
                <a:cs typeface="+mn-cs"/>
              </a:endParaRPr>
            </a:p>
          </p:txBody>
        </p:sp>
        <p:pic>
          <p:nvPicPr>
            <p:cNvPr id="17" name="Graphic 16">
              <a:extLst>
                <a:ext uri="{FF2B5EF4-FFF2-40B4-BE49-F238E27FC236}">
                  <a16:creationId xmlns:a16="http://schemas.microsoft.com/office/drawing/2014/main" id="{C4E0A1B9-2602-0058-614A-0F1B370FEE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8470" y="611034"/>
              <a:ext cx="344705" cy="246218"/>
            </a:xfrm>
            <a:prstGeom prst="rect">
              <a:avLst/>
            </a:prstGeom>
          </p:spPr>
        </p:pic>
      </p:grpSp>
      <p:sp>
        <p:nvSpPr>
          <p:cNvPr id="22" name="TextBox 21">
            <a:extLst>
              <a:ext uri="{FF2B5EF4-FFF2-40B4-BE49-F238E27FC236}">
                <a16:creationId xmlns:a16="http://schemas.microsoft.com/office/drawing/2014/main" id="{70C5FB3F-C936-9D80-F2C6-2D04692A1F6B}"/>
              </a:ext>
            </a:extLst>
          </p:cNvPr>
          <p:cNvSpPr txBox="1"/>
          <p:nvPr/>
        </p:nvSpPr>
        <p:spPr>
          <a:xfrm>
            <a:off x="6875146" y="1661315"/>
            <a:ext cx="347242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600" b="0" i="0" u="none" strike="noStrike" kern="1200" cap="none" spc="0" normalizeH="0" baseline="0" noProof="0" dirty="0">
                <a:ln>
                  <a:noFill/>
                </a:ln>
                <a:solidFill>
                  <a:prstClr val="black"/>
                </a:solidFill>
                <a:effectLst/>
                <a:uLnTx/>
                <a:uFillTx/>
                <a:latin typeface="Yaldevi"/>
                <a:ea typeface="+mn-ea"/>
                <a:cs typeface="+mn-cs"/>
              </a:rPr>
              <a:t>Axis break icons:</a:t>
            </a:r>
            <a:endParaRPr kumimoji="0" lang="en-US" sz="36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24" name="Group 23">
            <a:extLst>
              <a:ext uri="{FF2B5EF4-FFF2-40B4-BE49-F238E27FC236}">
                <a16:creationId xmlns:a16="http://schemas.microsoft.com/office/drawing/2014/main" id="{01E32173-8556-6851-0C66-D14552642AF8}"/>
              </a:ext>
            </a:extLst>
          </p:cNvPr>
          <p:cNvGrpSpPr/>
          <p:nvPr/>
        </p:nvGrpSpPr>
        <p:grpSpPr>
          <a:xfrm>
            <a:off x="9000391" y="2814945"/>
            <a:ext cx="1219393" cy="356290"/>
            <a:chOff x="6858000" y="-484214"/>
            <a:chExt cx="723900" cy="211514"/>
          </a:xfrm>
        </p:grpSpPr>
        <p:sp>
          <p:nvSpPr>
            <p:cNvPr id="25" name="Parallelogram 24">
              <a:extLst>
                <a:ext uri="{FF2B5EF4-FFF2-40B4-BE49-F238E27FC236}">
                  <a16:creationId xmlns:a16="http://schemas.microsoft.com/office/drawing/2014/main" id="{B58A847C-63AD-4E4A-E4B3-36C3FFE6827B}"/>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26" name="Straight Connector 25">
              <a:extLst>
                <a:ext uri="{FF2B5EF4-FFF2-40B4-BE49-F238E27FC236}">
                  <a16:creationId xmlns:a16="http://schemas.microsoft.com/office/drawing/2014/main" id="{BA7E40A4-6789-ADC0-A093-13ADD4822F07}"/>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0C157B2-7157-C25E-8A99-76012DF9ECF0}"/>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C46A934E-0CA1-E05C-6B43-F242B7002491}"/>
              </a:ext>
            </a:extLst>
          </p:cNvPr>
          <p:cNvGrpSpPr/>
          <p:nvPr/>
        </p:nvGrpSpPr>
        <p:grpSpPr>
          <a:xfrm>
            <a:off x="9516515" y="2476643"/>
            <a:ext cx="310157" cy="169522"/>
            <a:chOff x="6858000" y="-668360"/>
            <a:chExt cx="723903" cy="395660"/>
          </a:xfrm>
        </p:grpSpPr>
        <p:sp>
          <p:nvSpPr>
            <p:cNvPr id="29" name="Parallelogram 28">
              <a:extLst>
                <a:ext uri="{FF2B5EF4-FFF2-40B4-BE49-F238E27FC236}">
                  <a16:creationId xmlns:a16="http://schemas.microsoft.com/office/drawing/2014/main" id="{A423D93A-069E-B672-B694-1F162066A18B}"/>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30" name="Straight Connector 29">
              <a:extLst>
                <a:ext uri="{FF2B5EF4-FFF2-40B4-BE49-F238E27FC236}">
                  <a16:creationId xmlns:a16="http://schemas.microsoft.com/office/drawing/2014/main" id="{1623A6C3-8BC3-4126-A2DB-5BF7016E8D69}"/>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8BB52E1-F211-409B-9FBF-C78E927C281A}"/>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32" name="Freeform: Shape 31">
            <a:extLst>
              <a:ext uri="{FF2B5EF4-FFF2-40B4-BE49-F238E27FC236}">
                <a16:creationId xmlns:a16="http://schemas.microsoft.com/office/drawing/2014/main" id="{C5ABBCAE-C721-B608-730F-050956A80AE4}"/>
              </a:ext>
            </a:extLst>
          </p:cNvPr>
          <p:cNvSpPr/>
          <p:nvPr/>
        </p:nvSpPr>
        <p:spPr>
          <a:xfrm rot="5400000">
            <a:off x="7549668" y="2308583"/>
            <a:ext cx="466938" cy="1215115"/>
          </a:xfrm>
          <a:custGeom>
            <a:avLst/>
            <a:gdLst>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0129 w 3731184"/>
              <a:gd name="csY14" fmla="*/ 406597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1072 w 3731184"/>
              <a:gd name="csY16" fmla="*/ 45814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29792 w 3731184"/>
              <a:gd name="csY16" fmla="*/ 45941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5672 w 3731184"/>
              <a:gd name="csY16" fmla="*/ 471864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26700 w 3731184"/>
              <a:gd name="csY15" fmla="*/ 450020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731184" h="9709680">
                <a:moveTo>
                  <a:pt x="740" y="9525705"/>
                </a:moveTo>
                <a:cubicBezTo>
                  <a:pt x="2615" y="9495769"/>
                  <a:pt x="8033" y="9467121"/>
                  <a:pt x="16754" y="9443572"/>
                </a:cubicBezTo>
                <a:lnTo>
                  <a:pt x="1331338" y="5841405"/>
                </a:lnTo>
                <a:lnTo>
                  <a:pt x="344354" y="5841405"/>
                </a:lnTo>
                <a:cubicBezTo>
                  <a:pt x="330502" y="5841944"/>
                  <a:pt x="316931" y="5831969"/>
                  <a:pt x="305563" y="5812891"/>
                </a:cubicBezTo>
                <a:cubicBezTo>
                  <a:pt x="275653" y="5762696"/>
                  <a:pt x="268295" y="5663585"/>
                  <a:pt x="289129" y="5591522"/>
                </a:cubicBezTo>
                <a:lnTo>
                  <a:pt x="1731715" y="74643"/>
                </a:lnTo>
                <a:cubicBezTo>
                  <a:pt x="1744080" y="28210"/>
                  <a:pt x="1765390" y="94"/>
                  <a:pt x="1788287" y="2"/>
                </a:cubicBezTo>
                <a:lnTo>
                  <a:pt x="3664592" y="2"/>
                </a:lnTo>
                <a:cubicBezTo>
                  <a:pt x="3690753" y="-341"/>
                  <a:pt x="3714528" y="36574"/>
                  <a:pt x="3725205" y="94114"/>
                </a:cubicBezTo>
                <a:cubicBezTo>
                  <a:pt x="3736101" y="151517"/>
                  <a:pt x="3731872" y="219013"/>
                  <a:pt x="3714430" y="266111"/>
                </a:cubicBezTo>
                <a:lnTo>
                  <a:pt x="2390375" y="3894271"/>
                </a:lnTo>
                <a:lnTo>
                  <a:pt x="3265202" y="3894271"/>
                </a:lnTo>
                <a:cubicBezTo>
                  <a:pt x="3283446" y="3893119"/>
                  <a:pt x="3354721" y="3907379"/>
                  <a:pt x="3377632" y="3933033"/>
                </a:cubicBezTo>
                <a:cubicBezTo>
                  <a:pt x="3400543" y="3958687"/>
                  <a:pt x="3402048" y="3975337"/>
                  <a:pt x="3402669" y="4048195"/>
                </a:cubicBezTo>
                <a:lnTo>
                  <a:pt x="3326700" y="4500200"/>
                </a:lnTo>
                <a:cubicBezTo>
                  <a:pt x="3326571" y="4490887"/>
                  <a:pt x="3288341" y="4738113"/>
                  <a:pt x="3288212" y="4728800"/>
                </a:cubicBezTo>
                <a:lnTo>
                  <a:pt x="1999469" y="9635038"/>
                </a:lnTo>
                <a:cubicBezTo>
                  <a:pt x="1987104" y="9681470"/>
                  <a:pt x="1965794" y="9709586"/>
                  <a:pt x="1942897" y="9709678"/>
                </a:cubicBezTo>
                <a:lnTo>
                  <a:pt x="66592" y="9709678"/>
                </a:lnTo>
                <a:cubicBezTo>
                  <a:pt x="40431" y="9710021"/>
                  <a:pt x="16656" y="9673107"/>
                  <a:pt x="5979" y="9615567"/>
                </a:cubicBezTo>
                <a:cubicBezTo>
                  <a:pt x="531" y="9586865"/>
                  <a:pt x="-1136" y="9555641"/>
                  <a:pt x="740" y="9525705"/>
                </a:cubicBezTo>
                <a:close/>
              </a:path>
            </a:pathLst>
          </a:custGeom>
          <a:solidFill>
            <a:schemeClr val="bg1"/>
          </a:solidFill>
          <a:ln w="134673"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aldevi"/>
              <a:ea typeface="+mn-ea"/>
              <a:cs typeface="+mn-cs"/>
            </a:endParaRPr>
          </a:p>
        </p:txBody>
      </p:sp>
      <p:grpSp>
        <p:nvGrpSpPr>
          <p:cNvPr id="36" name="Group 35">
            <a:extLst>
              <a:ext uri="{FF2B5EF4-FFF2-40B4-BE49-F238E27FC236}">
                <a16:creationId xmlns:a16="http://schemas.microsoft.com/office/drawing/2014/main" id="{FC482309-4021-1ED1-649A-C9BFDDB3A6E8}"/>
              </a:ext>
            </a:extLst>
          </p:cNvPr>
          <p:cNvGrpSpPr/>
          <p:nvPr/>
        </p:nvGrpSpPr>
        <p:grpSpPr>
          <a:xfrm>
            <a:off x="7599807" y="2476138"/>
            <a:ext cx="450503" cy="174420"/>
            <a:chOff x="7670927" y="4381656"/>
            <a:chExt cx="450503" cy="174420"/>
          </a:xfrm>
        </p:grpSpPr>
        <p:sp>
          <p:nvSpPr>
            <p:cNvPr id="33" name="Freeform: Shape 32">
              <a:extLst>
                <a:ext uri="{FF2B5EF4-FFF2-40B4-BE49-F238E27FC236}">
                  <a16:creationId xmlns:a16="http://schemas.microsoft.com/office/drawing/2014/main" id="{6A08A91F-D21F-89ED-6D44-D6346CC3F264}"/>
                </a:ext>
              </a:extLst>
            </p:cNvPr>
            <p:cNvSpPr/>
            <p:nvPr/>
          </p:nvSpPr>
          <p:spPr>
            <a:xfrm rot="5400000">
              <a:off x="7810375" y="4245020"/>
              <a:ext cx="172698" cy="449413"/>
            </a:xfrm>
            <a:custGeom>
              <a:avLst/>
              <a:gdLst>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0129 w 3731184"/>
                <a:gd name="csY14" fmla="*/ 406597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1072 w 3731184"/>
                <a:gd name="csY16" fmla="*/ 45814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29792 w 3731184"/>
                <a:gd name="csY16" fmla="*/ 45941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5672 w 3731184"/>
                <a:gd name="csY16" fmla="*/ 471864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26700 w 3731184"/>
                <a:gd name="csY15" fmla="*/ 450020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731184" h="9709680">
                  <a:moveTo>
                    <a:pt x="740" y="9525705"/>
                  </a:moveTo>
                  <a:cubicBezTo>
                    <a:pt x="2615" y="9495769"/>
                    <a:pt x="8033" y="9467121"/>
                    <a:pt x="16754" y="9443572"/>
                  </a:cubicBezTo>
                  <a:lnTo>
                    <a:pt x="1331338" y="5841405"/>
                  </a:lnTo>
                  <a:lnTo>
                    <a:pt x="344354" y="5841405"/>
                  </a:lnTo>
                  <a:cubicBezTo>
                    <a:pt x="330502" y="5841944"/>
                    <a:pt x="316931" y="5831969"/>
                    <a:pt x="305563" y="5812891"/>
                  </a:cubicBezTo>
                  <a:cubicBezTo>
                    <a:pt x="275653" y="5762696"/>
                    <a:pt x="268295" y="5663585"/>
                    <a:pt x="289129" y="5591522"/>
                  </a:cubicBezTo>
                  <a:lnTo>
                    <a:pt x="1731715" y="74643"/>
                  </a:lnTo>
                  <a:cubicBezTo>
                    <a:pt x="1744080" y="28210"/>
                    <a:pt x="1765390" y="94"/>
                    <a:pt x="1788287" y="2"/>
                  </a:cubicBezTo>
                  <a:lnTo>
                    <a:pt x="3664592" y="2"/>
                  </a:lnTo>
                  <a:cubicBezTo>
                    <a:pt x="3690753" y="-341"/>
                    <a:pt x="3714528" y="36574"/>
                    <a:pt x="3725205" y="94114"/>
                  </a:cubicBezTo>
                  <a:cubicBezTo>
                    <a:pt x="3736101" y="151517"/>
                    <a:pt x="3731872" y="219013"/>
                    <a:pt x="3714430" y="266111"/>
                  </a:cubicBezTo>
                  <a:lnTo>
                    <a:pt x="2390375" y="3894271"/>
                  </a:lnTo>
                  <a:lnTo>
                    <a:pt x="3265202" y="3894271"/>
                  </a:lnTo>
                  <a:cubicBezTo>
                    <a:pt x="3283446" y="3893119"/>
                    <a:pt x="3354721" y="3907379"/>
                    <a:pt x="3377632" y="3933033"/>
                  </a:cubicBezTo>
                  <a:cubicBezTo>
                    <a:pt x="3400543" y="3958687"/>
                    <a:pt x="3402048" y="3975337"/>
                    <a:pt x="3402669" y="4048195"/>
                  </a:cubicBezTo>
                  <a:lnTo>
                    <a:pt x="3326700" y="4500200"/>
                  </a:lnTo>
                  <a:cubicBezTo>
                    <a:pt x="3326571" y="4490887"/>
                    <a:pt x="3288341" y="4738113"/>
                    <a:pt x="3288212" y="4728800"/>
                  </a:cubicBezTo>
                  <a:lnTo>
                    <a:pt x="1999469" y="9635038"/>
                  </a:lnTo>
                  <a:cubicBezTo>
                    <a:pt x="1987104" y="9681470"/>
                    <a:pt x="1965794" y="9709586"/>
                    <a:pt x="1942897" y="9709678"/>
                  </a:cubicBezTo>
                  <a:lnTo>
                    <a:pt x="66592" y="9709678"/>
                  </a:lnTo>
                  <a:cubicBezTo>
                    <a:pt x="40431" y="9710021"/>
                    <a:pt x="16656" y="9673107"/>
                    <a:pt x="5979" y="9615567"/>
                  </a:cubicBezTo>
                  <a:cubicBezTo>
                    <a:pt x="531" y="9586865"/>
                    <a:pt x="-1136" y="9555641"/>
                    <a:pt x="740" y="9525705"/>
                  </a:cubicBezTo>
                  <a:close/>
                </a:path>
              </a:pathLst>
            </a:custGeom>
            <a:solidFill>
              <a:schemeClr val="bg1"/>
            </a:solidFill>
            <a:ln w="134673"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aldevi"/>
                <a:ea typeface="+mn-ea"/>
                <a:cs typeface="+mn-cs"/>
              </a:endParaRPr>
            </a:p>
          </p:txBody>
        </p:sp>
        <p:sp>
          <p:nvSpPr>
            <p:cNvPr id="34" name="Freeform: Shape 33">
              <a:extLst>
                <a:ext uri="{FF2B5EF4-FFF2-40B4-BE49-F238E27FC236}">
                  <a16:creationId xmlns:a16="http://schemas.microsoft.com/office/drawing/2014/main" id="{CA60CBD1-67D9-70B6-E440-7985791DC2DE}"/>
                </a:ext>
              </a:extLst>
            </p:cNvPr>
            <p:cNvSpPr/>
            <p:nvPr/>
          </p:nvSpPr>
          <p:spPr>
            <a:xfrm>
              <a:off x="7673342" y="4477088"/>
              <a:ext cx="441960" cy="74295"/>
            </a:xfrm>
            <a:custGeom>
              <a:avLst/>
              <a:gdLst>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53365 w 466383"/>
                <a:gd name="csY1" fmla="*/ 66675 h 86481"/>
                <a:gd name="csX2" fmla="*/ 268605 w 466383"/>
                <a:gd name="csY2" fmla="*/ 22860 h 86481"/>
                <a:gd name="csX3" fmla="*/ 449580 w 466383"/>
                <a:gd name="csY3" fmla="*/ 81915 h 86481"/>
                <a:gd name="csX4" fmla="*/ 447675 w 466383"/>
                <a:gd name="csY4" fmla="*/ 78105 h 86481"/>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20 h 98001"/>
                <a:gd name="csX1" fmla="*/ 25336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97806"/>
                <a:gd name="csY0" fmla="*/ 0 h 87096"/>
                <a:gd name="csX1" fmla="*/ 260985 w 497806"/>
                <a:gd name="csY1" fmla="*/ 66675 h 87096"/>
                <a:gd name="csX2" fmla="*/ 270510 w 497806"/>
                <a:gd name="csY2" fmla="*/ 17145 h 87096"/>
                <a:gd name="csX3" fmla="*/ 449580 w 497806"/>
                <a:gd name="csY3" fmla="*/ 81915 h 87096"/>
                <a:gd name="csX4" fmla="*/ 493395 w 497806"/>
                <a:gd name="csY4" fmla="*/ 80010 h 87096"/>
                <a:gd name="csX0" fmla="*/ 0 w 449580"/>
                <a:gd name="csY0" fmla="*/ 0 h 81915"/>
                <a:gd name="csX1" fmla="*/ 260985 w 449580"/>
                <a:gd name="csY1" fmla="*/ 66675 h 81915"/>
                <a:gd name="csX2" fmla="*/ 270510 w 449580"/>
                <a:gd name="csY2" fmla="*/ 17145 h 81915"/>
                <a:gd name="csX3" fmla="*/ 449580 w 449580"/>
                <a:gd name="csY3" fmla="*/ 81915 h 81915"/>
                <a:gd name="csX0" fmla="*/ 0 w 449580"/>
                <a:gd name="csY0" fmla="*/ 0 h 76200"/>
                <a:gd name="csX1" fmla="*/ 260985 w 449580"/>
                <a:gd name="csY1" fmla="*/ 66675 h 76200"/>
                <a:gd name="csX2" fmla="*/ 270510 w 449580"/>
                <a:gd name="csY2" fmla="*/ 17145 h 76200"/>
                <a:gd name="csX3" fmla="*/ 449580 w 449580"/>
                <a:gd name="csY3" fmla="*/ 76200 h 76200"/>
                <a:gd name="csX0" fmla="*/ 0 w 441960"/>
                <a:gd name="csY0" fmla="*/ 0 h 74295"/>
                <a:gd name="csX1" fmla="*/ 260985 w 441960"/>
                <a:gd name="csY1" fmla="*/ 66675 h 74295"/>
                <a:gd name="csX2" fmla="*/ 270510 w 441960"/>
                <a:gd name="csY2" fmla="*/ 17145 h 74295"/>
                <a:gd name="csX3" fmla="*/ 441960 w 441960"/>
                <a:gd name="csY3" fmla="*/ 74295 h 74295"/>
              </a:gdLst>
              <a:ahLst/>
              <a:cxnLst>
                <a:cxn ang="0">
                  <a:pos x="csX0" y="csY0"/>
                </a:cxn>
                <a:cxn ang="0">
                  <a:pos x="csX1" y="csY1"/>
                </a:cxn>
                <a:cxn ang="0">
                  <a:pos x="csX2" y="csY2"/>
                </a:cxn>
                <a:cxn ang="0">
                  <a:pos x="csX3" y="csY3"/>
                </a:cxn>
              </a:cxnLst>
              <a:rect l="l" t="t" r="r" b="b"/>
              <a:pathLst>
                <a:path w="441960" h="74295">
                  <a:moveTo>
                    <a:pt x="0" y="0"/>
                  </a:moveTo>
                  <a:cubicBezTo>
                    <a:pt x="113824" y="33337"/>
                    <a:pt x="208598" y="53340"/>
                    <a:pt x="260985" y="66675"/>
                  </a:cubicBezTo>
                  <a:cubicBezTo>
                    <a:pt x="267017" y="38100"/>
                    <a:pt x="264477" y="37465"/>
                    <a:pt x="270510" y="17145"/>
                  </a:cubicBezTo>
                  <a:cubicBezTo>
                    <a:pt x="352743" y="42545"/>
                    <a:pt x="441960" y="74295"/>
                    <a:pt x="441960" y="74295"/>
                  </a:cubicBezTo>
                </a:path>
              </a:pathLst>
            </a:custGeom>
            <a:noFill/>
            <a:ln w="9525" cap="rn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35" name="Freeform: Shape 34">
              <a:extLst>
                <a:ext uri="{FF2B5EF4-FFF2-40B4-BE49-F238E27FC236}">
                  <a16:creationId xmlns:a16="http://schemas.microsoft.com/office/drawing/2014/main" id="{8DC48232-9B9D-94EE-AF80-5ED570413D13}"/>
                </a:ext>
              </a:extLst>
            </p:cNvPr>
            <p:cNvSpPr/>
            <p:nvPr/>
          </p:nvSpPr>
          <p:spPr>
            <a:xfrm>
              <a:off x="7670927" y="4381656"/>
              <a:ext cx="445770" cy="83820"/>
            </a:xfrm>
            <a:custGeom>
              <a:avLst/>
              <a:gdLst>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53365 w 466383"/>
                <a:gd name="csY1" fmla="*/ 66675 h 86481"/>
                <a:gd name="csX2" fmla="*/ 268605 w 466383"/>
                <a:gd name="csY2" fmla="*/ 22860 h 86481"/>
                <a:gd name="csX3" fmla="*/ 449580 w 466383"/>
                <a:gd name="csY3" fmla="*/ 81915 h 86481"/>
                <a:gd name="csX4" fmla="*/ 447675 w 466383"/>
                <a:gd name="csY4" fmla="*/ 78105 h 86481"/>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20 h 98001"/>
                <a:gd name="csX1" fmla="*/ 25336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97806"/>
                <a:gd name="csY0" fmla="*/ 0 h 87096"/>
                <a:gd name="csX1" fmla="*/ 260985 w 497806"/>
                <a:gd name="csY1" fmla="*/ 66675 h 87096"/>
                <a:gd name="csX2" fmla="*/ 270510 w 497806"/>
                <a:gd name="csY2" fmla="*/ 17145 h 87096"/>
                <a:gd name="csX3" fmla="*/ 449580 w 497806"/>
                <a:gd name="csY3" fmla="*/ 81915 h 87096"/>
                <a:gd name="csX4" fmla="*/ 493395 w 497806"/>
                <a:gd name="csY4" fmla="*/ 80010 h 87096"/>
                <a:gd name="csX0" fmla="*/ 0 w 449580"/>
                <a:gd name="csY0" fmla="*/ 0 h 81915"/>
                <a:gd name="csX1" fmla="*/ 260985 w 449580"/>
                <a:gd name="csY1" fmla="*/ 66675 h 81915"/>
                <a:gd name="csX2" fmla="*/ 270510 w 449580"/>
                <a:gd name="csY2" fmla="*/ 17145 h 81915"/>
                <a:gd name="csX3" fmla="*/ 449580 w 449580"/>
                <a:gd name="csY3" fmla="*/ 81915 h 81915"/>
                <a:gd name="csX0" fmla="*/ 0 w 449580"/>
                <a:gd name="csY0" fmla="*/ 0 h 76200"/>
                <a:gd name="csX1" fmla="*/ 260985 w 449580"/>
                <a:gd name="csY1" fmla="*/ 66675 h 76200"/>
                <a:gd name="csX2" fmla="*/ 270510 w 449580"/>
                <a:gd name="csY2" fmla="*/ 17145 h 76200"/>
                <a:gd name="csX3" fmla="*/ 449580 w 449580"/>
                <a:gd name="csY3" fmla="*/ 76200 h 76200"/>
                <a:gd name="csX0" fmla="*/ 0 w 441960"/>
                <a:gd name="csY0" fmla="*/ 0 h 74295"/>
                <a:gd name="csX1" fmla="*/ 260985 w 441960"/>
                <a:gd name="csY1" fmla="*/ 66675 h 74295"/>
                <a:gd name="csX2" fmla="*/ 270510 w 441960"/>
                <a:gd name="csY2" fmla="*/ 17145 h 74295"/>
                <a:gd name="csX3" fmla="*/ 441960 w 441960"/>
                <a:gd name="csY3" fmla="*/ 74295 h 74295"/>
                <a:gd name="csX0" fmla="*/ 0 w 441960"/>
                <a:gd name="csY0" fmla="*/ 0 h 74295"/>
                <a:gd name="csX1" fmla="*/ 179070 w 441960"/>
                <a:gd name="csY1" fmla="*/ 59055 h 74295"/>
                <a:gd name="csX2" fmla="*/ 270510 w 441960"/>
                <a:gd name="csY2" fmla="*/ 17145 h 74295"/>
                <a:gd name="csX3" fmla="*/ 441960 w 441960"/>
                <a:gd name="csY3" fmla="*/ 74295 h 74295"/>
                <a:gd name="csX0" fmla="*/ 0 w 441960"/>
                <a:gd name="csY0" fmla="*/ 0 h 74295"/>
                <a:gd name="csX1" fmla="*/ 179070 w 441960"/>
                <a:gd name="csY1" fmla="*/ 59055 h 74295"/>
                <a:gd name="csX2" fmla="*/ 180975 w 441960"/>
                <a:gd name="csY2" fmla="*/ 11430 h 74295"/>
                <a:gd name="csX3" fmla="*/ 441960 w 441960"/>
                <a:gd name="csY3" fmla="*/ 74295 h 74295"/>
                <a:gd name="csX0" fmla="*/ 0 w 445770"/>
                <a:gd name="csY0" fmla="*/ 0 h 83820"/>
                <a:gd name="csX1" fmla="*/ 179070 w 445770"/>
                <a:gd name="csY1" fmla="*/ 59055 h 83820"/>
                <a:gd name="csX2" fmla="*/ 180975 w 445770"/>
                <a:gd name="csY2" fmla="*/ 11430 h 83820"/>
                <a:gd name="csX3" fmla="*/ 445770 w 445770"/>
                <a:gd name="csY3" fmla="*/ 83820 h 83820"/>
                <a:gd name="csX0" fmla="*/ 0 w 445770"/>
                <a:gd name="csY0" fmla="*/ 0 h 83820"/>
                <a:gd name="csX1" fmla="*/ 179070 w 445770"/>
                <a:gd name="csY1" fmla="*/ 59055 h 83820"/>
                <a:gd name="csX2" fmla="*/ 180975 w 445770"/>
                <a:gd name="csY2" fmla="*/ 7620 h 83820"/>
                <a:gd name="csX3" fmla="*/ 445770 w 445770"/>
                <a:gd name="csY3" fmla="*/ 83820 h 83820"/>
                <a:gd name="csX0" fmla="*/ 0 w 445770"/>
                <a:gd name="csY0" fmla="*/ 0 h 83820"/>
                <a:gd name="csX1" fmla="*/ 179070 w 445770"/>
                <a:gd name="csY1" fmla="*/ 59055 h 83820"/>
                <a:gd name="csX2" fmla="*/ 186690 w 445770"/>
                <a:gd name="csY2" fmla="*/ 9525 h 83820"/>
                <a:gd name="csX3" fmla="*/ 445770 w 445770"/>
                <a:gd name="csY3" fmla="*/ 83820 h 83820"/>
                <a:gd name="csX0" fmla="*/ 0 w 445770"/>
                <a:gd name="csY0" fmla="*/ 0 h 83820"/>
                <a:gd name="csX1" fmla="*/ 179070 w 445770"/>
                <a:gd name="csY1" fmla="*/ 59055 h 83820"/>
                <a:gd name="csX2" fmla="*/ 186690 w 445770"/>
                <a:gd name="csY2" fmla="*/ 9525 h 83820"/>
                <a:gd name="csX3" fmla="*/ 445770 w 445770"/>
                <a:gd name="csY3" fmla="*/ 83820 h 83820"/>
              </a:gdLst>
              <a:ahLst/>
              <a:cxnLst>
                <a:cxn ang="0">
                  <a:pos x="csX0" y="csY0"/>
                </a:cxn>
                <a:cxn ang="0">
                  <a:pos x="csX1" y="csY1"/>
                </a:cxn>
                <a:cxn ang="0">
                  <a:pos x="csX2" y="csY2"/>
                </a:cxn>
                <a:cxn ang="0">
                  <a:pos x="csX3" y="csY3"/>
                </a:cxn>
              </a:cxnLst>
              <a:rect l="l" t="t" r="r" b="b"/>
              <a:pathLst>
                <a:path w="445770" h="83820">
                  <a:moveTo>
                    <a:pt x="0" y="0"/>
                  </a:moveTo>
                  <a:cubicBezTo>
                    <a:pt x="113824" y="33337"/>
                    <a:pt x="126683" y="45720"/>
                    <a:pt x="179070" y="59055"/>
                  </a:cubicBezTo>
                  <a:cubicBezTo>
                    <a:pt x="188912" y="11430"/>
                    <a:pt x="180657" y="29845"/>
                    <a:pt x="186690" y="9525"/>
                  </a:cubicBezTo>
                  <a:cubicBezTo>
                    <a:pt x="268923" y="34925"/>
                    <a:pt x="445770" y="83820"/>
                    <a:pt x="445770" y="83820"/>
                  </a:cubicBezTo>
                </a:path>
              </a:pathLst>
            </a:custGeom>
            <a:noFill/>
            <a:ln w="9525" cap="rn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grpSp>
    </p:spTree>
    <p:extLst>
      <p:ext uri="{BB962C8B-B14F-4D97-AF65-F5344CB8AC3E}">
        <p14:creationId xmlns:p14="http://schemas.microsoft.com/office/powerpoint/2010/main" val="45562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07C9C-9FDB-1C99-B33F-9C7824F3A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80914E-671F-24F1-F495-F61DF843DA52}"/>
              </a:ext>
            </a:extLst>
          </p:cNvPr>
          <p:cNvSpPr>
            <a:spLocks noGrp="1"/>
          </p:cNvSpPr>
          <p:nvPr>
            <p:ph type="title"/>
          </p:nvPr>
        </p:nvSpPr>
        <p:spPr/>
        <p:txBody>
          <a:bodyPr/>
          <a:lstStyle/>
          <a:p>
            <a:r>
              <a:rPr lang="en-US" dirty="0"/>
              <a:t>The 2049 closing inventory shows a net 3-ton gain over the previous fiscal year</a:t>
            </a:r>
          </a:p>
        </p:txBody>
      </p:sp>
      <mc:AlternateContent xmlns:mc="http://schemas.openxmlformats.org/markup-compatibility/2006" xmlns:cx4="http://schemas.microsoft.com/office/drawing/2016/5/10/chartex">
        <mc:Choice Requires="cx4">
          <p:graphicFrame>
            <p:nvGraphicFramePr>
              <p:cNvPr id="20" name="Chart Placeholder 19">
                <a:extLst>
                  <a:ext uri="{FF2B5EF4-FFF2-40B4-BE49-F238E27FC236}">
                    <a16:creationId xmlns:a16="http://schemas.microsoft.com/office/drawing/2014/main" id="{3EDCED79-1DFE-2C9F-D377-CA55CFC08705}"/>
                  </a:ext>
                </a:extLst>
              </p:cNvPr>
              <p:cNvGraphicFramePr>
                <a:graphicFrameLocks noGrp="1"/>
              </p:cNvGraphicFramePr>
              <p:nvPr>
                <p:ph type="chart" sz="quarter" idx="13"/>
              </p:nvPr>
            </p:nvGraphicFramePr>
            <p:xfrm>
              <a:off x="1746250" y="1627982"/>
              <a:ext cx="8699500" cy="40624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20" name="Chart Placeholder 19">
                <a:extLst>
                  <a:ext uri="{FF2B5EF4-FFF2-40B4-BE49-F238E27FC236}">
                    <a16:creationId xmlns:a16="http://schemas.microsoft.com/office/drawing/2014/main" id="{3EDCED79-1DFE-2C9F-D377-CA55CFC08705}"/>
                  </a:ext>
                </a:extLst>
              </p:cNvPr>
              <p:cNvPicPr>
                <a:picLocks noGrp="1" noRot="1" noChangeAspect="1" noMove="1" noResize="1" noEditPoints="1" noAdjustHandles="1" noChangeArrowheads="1" noChangeShapeType="1"/>
              </p:cNvPicPr>
              <p:nvPr/>
            </p:nvPicPr>
            <p:blipFill>
              <a:blip r:embed="rId3"/>
              <a:stretch>
                <a:fillRect/>
              </a:stretch>
            </p:blipFill>
            <p:spPr>
              <a:xfrm>
                <a:off x="1746250" y="1627982"/>
                <a:ext cx="8699500" cy="4062412"/>
              </a:xfrm>
              <a:prstGeom prst="rect">
                <a:avLst/>
              </a:prstGeom>
            </p:spPr>
          </p:pic>
        </mc:Fallback>
      </mc:AlternateContent>
      <p:sp>
        <p:nvSpPr>
          <p:cNvPr id="21" name="TextBox 20">
            <a:extLst>
              <a:ext uri="{FF2B5EF4-FFF2-40B4-BE49-F238E27FC236}">
                <a16:creationId xmlns:a16="http://schemas.microsoft.com/office/drawing/2014/main" id="{3B7448A9-B044-8ABA-5555-3D2DF623B87D}"/>
              </a:ext>
            </a:extLst>
          </p:cNvPr>
          <p:cNvSpPr txBox="1"/>
          <p:nvPr/>
        </p:nvSpPr>
        <p:spPr>
          <a:xfrm>
            <a:off x="-1" y="-2370935"/>
            <a:ext cx="26837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2" name="TextBox 21">
            <a:extLst>
              <a:ext uri="{FF2B5EF4-FFF2-40B4-BE49-F238E27FC236}">
                <a16:creationId xmlns:a16="http://schemas.microsoft.com/office/drawing/2014/main" id="{1B61CF0E-B7C0-4A15-63F1-FEC508A498AC}"/>
              </a:ext>
            </a:extLst>
          </p:cNvPr>
          <p:cNvSpPr txBox="1"/>
          <p:nvPr/>
        </p:nvSpPr>
        <p:spPr>
          <a:xfrm>
            <a:off x="-1" y="-1897357"/>
            <a:ext cx="27799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3. Insert a chart (waterfall)</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3" name="TextBox 22">
            <a:extLst>
              <a:ext uri="{FF2B5EF4-FFF2-40B4-BE49-F238E27FC236}">
                <a16:creationId xmlns:a16="http://schemas.microsoft.com/office/drawing/2014/main" id="{40E4B657-CF90-555D-17CF-E55B92F4F3CB}"/>
              </a:ext>
            </a:extLst>
          </p:cNvPr>
          <p:cNvSpPr txBox="1"/>
          <p:nvPr/>
        </p:nvSpPr>
        <p:spPr>
          <a:xfrm>
            <a:off x="-1" y="-2844513"/>
            <a:ext cx="5371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0"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4" name="TextBox 23">
            <a:extLst>
              <a:ext uri="{FF2B5EF4-FFF2-40B4-BE49-F238E27FC236}">
                <a16:creationId xmlns:a16="http://schemas.microsoft.com/office/drawing/2014/main" id="{B7276CF6-964D-88CC-1B6C-FC688748A57E}"/>
              </a:ext>
            </a:extLst>
          </p:cNvPr>
          <p:cNvSpPr txBox="1"/>
          <p:nvPr/>
        </p:nvSpPr>
        <p:spPr>
          <a:xfrm>
            <a:off x="-1" y="-1423779"/>
            <a:ext cx="711284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4. Use Axis Breaks to make the plot easy to read (Adjust axis, add icon)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6" name="TextBox 25">
            <a:extLst>
              <a:ext uri="{FF2B5EF4-FFF2-40B4-BE49-F238E27FC236}">
                <a16:creationId xmlns:a16="http://schemas.microsoft.com/office/drawing/2014/main" id="{002E0531-6EAE-4FB1-AA82-A27FE7C210C9}"/>
              </a:ext>
            </a:extLst>
          </p:cNvPr>
          <p:cNvSpPr txBox="1"/>
          <p:nvPr/>
        </p:nvSpPr>
        <p:spPr>
          <a:xfrm>
            <a:off x="-1" y="-950201"/>
            <a:ext cx="21451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5. Adjust the design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7" name="TextBox 26">
            <a:extLst>
              <a:ext uri="{FF2B5EF4-FFF2-40B4-BE49-F238E27FC236}">
                <a16:creationId xmlns:a16="http://schemas.microsoft.com/office/drawing/2014/main" id="{68CD1BE4-E75A-E56E-2222-7D89FF082D4C}"/>
              </a:ext>
            </a:extLst>
          </p:cNvPr>
          <p:cNvSpPr txBox="1"/>
          <p:nvPr/>
        </p:nvSpPr>
        <p:spPr>
          <a:xfrm>
            <a:off x="-1" y="-476621"/>
            <a:ext cx="15520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6. Build a title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41" name="Group 40">
            <a:extLst>
              <a:ext uri="{FF2B5EF4-FFF2-40B4-BE49-F238E27FC236}">
                <a16:creationId xmlns:a16="http://schemas.microsoft.com/office/drawing/2014/main" id="{BACE91B9-DCA5-A8E8-A891-8080AEEF78AF}"/>
              </a:ext>
            </a:extLst>
          </p:cNvPr>
          <p:cNvGrpSpPr/>
          <p:nvPr/>
        </p:nvGrpSpPr>
        <p:grpSpPr>
          <a:xfrm>
            <a:off x="7112844" y="-1295628"/>
            <a:ext cx="1219393" cy="356290"/>
            <a:chOff x="6858000" y="-484214"/>
            <a:chExt cx="723900" cy="211514"/>
          </a:xfrm>
        </p:grpSpPr>
        <p:sp>
          <p:nvSpPr>
            <p:cNvPr id="42" name="Parallelogram 41">
              <a:extLst>
                <a:ext uri="{FF2B5EF4-FFF2-40B4-BE49-F238E27FC236}">
                  <a16:creationId xmlns:a16="http://schemas.microsoft.com/office/drawing/2014/main" id="{8F8B1817-5431-047B-974C-5B3ECFA51F9A}"/>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43" name="Straight Connector 42">
              <a:extLst>
                <a:ext uri="{FF2B5EF4-FFF2-40B4-BE49-F238E27FC236}">
                  <a16:creationId xmlns:a16="http://schemas.microsoft.com/office/drawing/2014/main" id="{62B81CC1-74A1-56B5-F3D0-86594383FB82}"/>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BF26CF8-692A-0C67-ECA7-92866C8087C0}"/>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68F6BD63-18DA-3AD7-1CCF-068B6F9243AC}"/>
              </a:ext>
            </a:extLst>
          </p:cNvPr>
          <p:cNvSpPr txBox="1"/>
          <p:nvPr/>
        </p:nvSpPr>
        <p:spPr>
          <a:xfrm>
            <a:off x="2865120" y="5802018"/>
            <a:ext cx="646176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05B"/>
                </a:solidFill>
                <a:effectLst/>
                <a:uLnTx/>
                <a:uFillTx/>
                <a:latin typeface="Yaldevi"/>
                <a:ea typeface="+mn-ea"/>
                <a:cs typeface="+mn-cs"/>
              </a:rPr>
              <a:t>Inventory Cycle Factors [20</a:t>
            </a:r>
            <a:r>
              <a:rPr kumimoji="0" lang="pl-PL" sz="1400" b="1" i="0" u="none" strike="noStrike" kern="1200" cap="none" spc="0" normalizeH="0" baseline="0" noProof="0" dirty="0">
                <a:ln>
                  <a:noFill/>
                </a:ln>
                <a:solidFill>
                  <a:srgbClr val="06105B"/>
                </a:solidFill>
                <a:effectLst/>
                <a:uLnTx/>
                <a:uFillTx/>
                <a:latin typeface="Yaldevi"/>
                <a:ea typeface="+mn-ea"/>
                <a:cs typeface="+mn-cs"/>
              </a:rPr>
              <a:t>48 - </a:t>
            </a:r>
            <a:r>
              <a:rPr kumimoji="0" lang="en-US" sz="1400" b="1" i="0" u="none" strike="noStrike" kern="1200" cap="none" spc="0" normalizeH="0" baseline="0" noProof="0" dirty="0">
                <a:ln>
                  <a:noFill/>
                </a:ln>
                <a:solidFill>
                  <a:srgbClr val="06105B"/>
                </a:solidFill>
                <a:effectLst/>
                <a:uLnTx/>
                <a:uFillTx/>
                <a:latin typeface="Yaldevi"/>
                <a:ea typeface="+mn-ea"/>
                <a:cs typeface="+mn-cs"/>
              </a:rPr>
              <a:t>20</a:t>
            </a:r>
            <a:r>
              <a:rPr kumimoji="0" lang="pl-PL" sz="1400" b="1" i="0" u="none" strike="noStrike" kern="1200" cap="none" spc="0" normalizeH="0" baseline="0" noProof="0" dirty="0">
                <a:ln>
                  <a:noFill/>
                </a:ln>
                <a:solidFill>
                  <a:srgbClr val="06105B"/>
                </a:solidFill>
                <a:effectLst/>
                <a:uLnTx/>
                <a:uFillTx/>
                <a:latin typeface="Yaldevi"/>
                <a:ea typeface="+mn-ea"/>
                <a:cs typeface="+mn-cs"/>
              </a:rPr>
              <a:t>49</a:t>
            </a:r>
            <a:r>
              <a:rPr kumimoji="0" lang="en-US" sz="1400" b="1" i="0" u="none" strike="noStrike" kern="1200" cap="none" spc="0" normalizeH="0" baseline="0" noProof="0" dirty="0">
                <a:ln>
                  <a:noFill/>
                </a:ln>
                <a:solidFill>
                  <a:srgbClr val="06105B"/>
                </a:solidFill>
                <a:effectLst/>
                <a:uLnTx/>
                <a:uFillTx/>
                <a:latin typeface="Yaldevi"/>
                <a:ea typeface="+mn-ea"/>
                <a:cs typeface="+mn-cs"/>
              </a:rPr>
              <a:t>]</a:t>
            </a:r>
          </a:p>
        </p:txBody>
      </p:sp>
      <p:grpSp>
        <p:nvGrpSpPr>
          <p:cNvPr id="87" name="Group 86">
            <a:extLst>
              <a:ext uri="{FF2B5EF4-FFF2-40B4-BE49-F238E27FC236}">
                <a16:creationId xmlns:a16="http://schemas.microsoft.com/office/drawing/2014/main" id="{3FBB86C2-A141-2694-FBB2-28B4ACB0044E}"/>
              </a:ext>
            </a:extLst>
          </p:cNvPr>
          <p:cNvGrpSpPr/>
          <p:nvPr/>
        </p:nvGrpSpPr>
        <p:grpSpPr>
          <a:xfrm>
            <a:off x="1845160" y="4790260"/>
            <a:ext cx="8570327" cy="545354"/>
            <a:chOff x="1845160" y="4790260"/>
            <a:chExt cx="8570327" cy="545354"/>
          </a:xfrm>
        </p:grpSpPr>
        <p:grpSp>
          <p:nvGrpSpPr>
            <p:cNvPr id="37" name="Group 36">
              <a:extLst>
                <a:ext uri="{FF2B5EF4-FFF2-40B4-BE49-F238E27FC236}">
                  <a16:creationId xmlns:a16="http://schemas.microsoft.com/office/drawing/2014/main" id="{067EB318-3D71-A1BA-1D83-18F5125CBDE9}"/>
                </a:ext>
              </a:extLst>
            </p:cNvPr>
            <p:cNvGrpSpPr/>
            <p:nvPr/>
          </p:nvGrpSpPr>
          <p:grpSpPr>
            <a:xfrm>
              <a:off x="2106745" y="4790260"/>
              <a:ext cx="1219393" cy="356290"/>
              <a:chOff x="6858000" y="-484214"/>
              <a:chExt cx="723900" cy="211514"/>
            </a:xfrm>
          </p:grpSpPr>
          <p:sp>
            <p:nvSpPr>
              <p:cNvPr id="38" name="Parallelogram 37">
                <a:extLst>
                  <a:ext uri="{FF2B5EF4-FFF2-40B4-BE49-F238E27FC236}">
                    <a16:creationId xmlns:a16="http://schemas.microsoft.com/office/drawing/2014/main" id="{62EE3C63-2DEC-9F63-684C-2F611C9337DA}"/>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39" name="Straight Connector 38">
                <a:extLst>
                  <a:ext uri="{FF2B5EF4-FFF2-40B4-BE49-F238E27FC236}">
                    <a16:creationId xmlns:a16="http://schemas.microsoft.com/office/drawing/2014/main" id="{1010CA71-1FA7-5753-F548-9640D8A546A1}"/>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108A0536-42BA-B763-E960-49BFC929B19C}"/>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49" name="Group 48">
              <a:extLst>
                <a:ext uri="{FF2B5EF4-FFF2-40B4-BE49-F238E27FC236}">
                  <a16:creationId xmlns:a16="http://schemas.microsoft.com/office/drawing/2014/main" id="{9960ADF1-C88F-2E4F-8645-7E5C39635CD2}"/>
                </a:ext>
              </a:extLst>
            </p:cNvPr>
            <p:cNvGrpSpPr/>
            <p:nvPr/>
          </p:nvGrpSpPr>
          <p:grpSpPr>
            <a:xfrm>
              <a:off x="8898119" y="4790260"/>
              <a:ext cx="1219393" cy="356290"/>
              <a:chOff x="6858000" y="-484214"/>
              <a:chExt cx="723900" cy="211514"/>
            </a:xfrm>
          </p:grpSpPr>
          <p:sp>
            <p:nvSpPr>
              <p:cNvPr id="50" name="Parallelogram 49">
                <a:extLst>
                  <a:ext uri="{FF2B5EF4-FFF2-40B4-BE49-F238E27FC236}">
                    <a16:creationId xmlns:a16="http://schemas.microsoft.com/office/drawing/2014/main" id="{B26C3BCE-225B-5693-1A31-9A9DF634903C}"/>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51" name="Straight Connector 50">
                <a:extLst>
                  <a:ext uri="{FF2B5EF4-FFF2-40B4-BE49-F238E27FC236}">
                    <a16:creationId xmlns:a16="http://schemas.microsoft.com/office/drawing/2014/main" id="{6C37E3E5-B5F3-FF58-5A17-04A384F0057D}"/>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50CC31B3-0654-81DE-3A7A-DEAF63633EB4}"/>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cxnSp>
          <p:nvCxnSpPr>
            <p:cNvPr id="74" name="Straight Connector 73">
              <a:extLst>
                <a:ext uri="{FF2B5EF4-FFF2-40B4-BE49-F238E27FC236}">
                  <a16:creationId xmlns:a16="http://schemas.microsoft.com/office/drawing/2014/main" id="{5AE866E9-B731-7AE8-6D2E-9918F8E1A6C2}"/>
                </a:ext>
              </a:extLst>
            </p:cNvPr>
            <p:cNvCxnSpPr>
              <a:cxnSpLocks/>
            </p:cNvCxnSpPr>
            <p:nvPr/>
          </p:nvCxnSpPr>
          <p:spPr>
            <a:xfrm flipH="1">
              <a:off x="1845160" y="5335614"/>
              <a:ext cx="8570327" cy="0"/>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8ECCA1CF-5C87-0677-14E0-671493834802}"/>
              </a:ext>
            </a:extLst>
          </p:cNvPr>
          <p:cNvGrpSpPr/>
          <p:nvPr/>
        </p:nvGrpSpPr>
        <p:grpSpPr>
          <a:xfrm>
            <a:off x="966211" y="1548588"/>
            <a:ext cx="1041186" cy="3987540"/>
            <a:chOff x="966211" y="1548588"/>
            <a:chExt cx="1041186" cy="3987540"/>
          </a:xfrm>
        </p:grpSpPr>
        <p:sp>
          <p:nvSpPr>
            <p:cNvPr id="56" name="TextBox 55">
              <a:extLst>
                <a:ext uri="{FF2B5EF4-FFF2-40B4-BE49-F238E27FC236}">
                  <a16:creationId xmlns:a16="http://schemas.microsoft.com/office/drawing/2014/main" id="{5B3805FA-BF7F-E654-73F4-AD9F14736418}"/>
                </a:ext>
              </a:extLst>
            </p:cNvPr>
            <p:cNvSpPr txBox="1"/>
            <p:nvPr/>
          </p:nvSpPr>
          <p:spPr>
            <a:xfrm rot="16200000">
              <a:off x="-34456" y="3290500"/>
              <a:ext cx="227833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105B"/>
                  </a:solidFill>
                  <a:effectLst/>
                  <a:uLnTx/>
                  <a:uFillTx/>
                  <a:latin typeface="Yaldevi"/>
                  <a:ea typeface="+mn-ea"/>
                  <a:cs typeface="+mn-cs"/>
                </a:rPr>
                <a:t>Total Stock Volume</a:t>
              </a:r>
              <a:r>
                <a:rPr kumimoji="0" lang="pl-PL" sz="1200" b="0" i="0" u="none" strike="noStrike" kern="1200" cap="none" spc="0" normalizeH="0" baseline="0" noProof="0" dirty="0">
                  <a:ln>
                    <a:noFill/>
                  </a:ln>
                  <a:solidFill>
                    <a:srgbClr val="06105B"/>
                  </a:solidFill>
                  <a:effectLst/>
                  <a:uLnTx/>
                  <a:uFillTx/>
                  <a:latin typeface="Yaldevi"/>
                  <a:ea typeface="+mn-ea"/>
                  <a:cs typeface="+mn-cs"/>
                </a:rPr>
                <a:t> [in Tons]</a:t>
              </a:r>
              <a:endParaRPr kumimoji="0" lang="en-US" sz="1200" b="0" i="0" u="none" strike="noStrike" kern="1200" cap="none" spc="0" normalizeH="0" baseline="0" noProof="0" dirty="0">
                <a:ln>
                  <a:noFill/>
                </a:ln>
                <a:solidFill>
                  <a:srgbClr val="06105B"/>
                </a:solidFill>
                <a:effectLst/>
                <a:uLnTx/>
                <a:uFillTx/>
                <a:latin typeface="Yaldevi"/>
                <a:ea typeface="+mn-ea"/>
                <a:cs typeface="+mn-cs"/>
              </a:endParaRPr>
            </a:p>
          </p:txBody>
        </p:sp>
        <p:sp>
          <p:nvSpPr>
            <p:cNvPr id="57" name="TextBox 56">
              <a:extLst>
                <a:ext uri="{FF2B5EF4-FFF2-40B4-BE49-F238E27FC236}">
                  <a16:creationId xmlns:a16="http://schemas.microsoft.com/office/drawing/2014/main" id="{27AB88B2-CD96-1896-9144-291E8F8FF9AA}"/>
                </a:ext>
              </a:extLst>
            </p:cNvPr>
            <p:cNvSpPr txBox="1"/>
            <p:nvPr/>
          </p:nvSpPr>
          <p:spPr>
            <a:xfrm>
              <a:off x="1548432" y="5166796"/>
              <a:ext cx="31931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o</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58" name="TextBox 57">
              <a:extLst>
                <a:ext uri="{FF2B5EF4-FFF2-40B4-BE49-F238E27FC236}">
                  <a16:creationId xmlns:a16="http://schemas.microsoft.com/office/drawing/2014/main" id="{6F01EFE5-99D7-EC80-F190-D1BB03D1CC33}"/>
                </a:ext>
              </a:extLst>
            </p:cNvPr>
            <p:cNvSpPr txBox="1"/>
            <p:nvPr/>
          </p:nvSpPr>
          <p:spPr>
            <a:xfrm>
              <a:off x="1351262" y="4443156"/>
              <a:ext cx="51648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195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59" name="TextBox 58">
              <a:extLst>
                <a:ext uri="{FF2B5EF4-FFF2-40B4-BE49-F238E27FC236}">
                  <a16:creationId xmlns:a16="http://schemas.microsoft.com/office/drawing/2014/main" id="{283237DD-BF46-6A5C-F699-DCD011A3A079}"/>
                </a:ext>
              </a:extLst>
            </p:cNvPr>
            <p:cNvSpPr txBox="1"/>
            <p:nvPr/>
          </p:nvSpPr>
          <p:spPr>
            <a:xfrm>
              <a:off x="1325614" y="2995872"/>
              <a:ext cx="542136"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205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0" name="TextBox 59">
              <a:extLst>
                <a:ext uri="{FF2B5EF4-FFF2-40B4-BE49-F238E27FC236}">
                  <a16:creationId xmlns:a16="http://schemas.microsoft.com/office/drawing/2014/main" id="{77AD395B-7172-DF6B-92F9-F955F5218CAF}"/>
                </a:ext>
              </a:extLst>
            </p:cNvPr>
            <p:cNvSpPr txBox="1"/>
            <p:nvPr/>
          </p:nvSpPr>
          <p:spPr>
            <a:xfrm>
              <a:off x="1306378" y="3719514"/>
              <a:ext cx="561372"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200</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1" name="TextBox 60">
              <a:extLst>
                <a:ext uri="{FF2B5EF4-FFF2-40B4-BE49-F238E27FC236}">
                  <a16:creationId xmlns:a16="http://schemas.microsoft.com/office/drawing/2014/main" id="{AAC34FD2-91B0-76A3-F233-28A1CD357E10}"/>
                </a:ext>
              </a:extLst>
            </p:cNvPr>
            <p:cNvSpPr txBox="1"/>
            <p:nvPr/>
          </p:nvSpPr>
          <p:spPr>
            <a:xfrm>
              <a:off x="1346452" y="2272230"/>
              <a:ext cx="52129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210</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3" name="TextBox 62">
              <a:extLst>
                <a:ext uri="{FF2B5EF4-FFF2-40B4-BE49-F238E27FC236}">
                  <a16:creationId xmlns:a16="http://schemas.microsoft.com/office/drawing/2014/main" id="{F6D2BE75-E3FD-35ED-2880-B7A694AD163B}"/>
                </a:ext>
              </a:extLst>
            </p:cNvPr>
            <p:cNvSpPr txBox="1"/>
            <p:nvPr/>
          </p:nvSpPr>
          <p:spPr>
            <a:xfrm>
              <a:off x="1365688" y="1548588"/>
              <a:ext cx="502062"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215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cxnSp>
          <p:nvCxnSpPr>
            <p:cNvPr id="69" name="Straight Connector 68">
              <a:extLst>
                <a:ext uri="{FF2B5EF4-FFF2-40B4-BE49-F238E27FC236}">
                  <a16:creationId xmlns:a16="http://schemas.microsoft.com/office/drawing/2014/main" id="{6ADBE2F5-43C9-A746-8B5D-2525C95ED0B7}"/>
                </a:ext>
              </a:extLst>
            </p:cNvPr>
            <p:cNvCxnSpPr>
              <a:cxnSpLocks/>
            </p:cNvCxnSpPr>
            <p:nvPr/>
          </p:nvCxnSpPr>
          <p:spPr>
            <a:xfrm>
              <a:off x="1853465" y="1582130"/>
              <a:ext cx="0" cy="3761422"/>
            </a:xfrm>
            <a:prstGeom prst="line">
              <a:avLst/>
            </a:prstGeom>
          </p:spPr>
          <p:style>
            <a:lnRef idx="2">
              <a:schemeClr val="accent1"/>
            </a:lnRef>
            <a:fillRef idx="0">
              <a:schemeClr val="accent1"/>
            </a:fillRef>
            <a:effectRef idx="1">
              <a:schemeClr val="accent1"/>
            </a:effectRef>
            <a:fontRef idx="minor">
              <a:schemeClr val="tx1"/>
            </a:fontRef>
          </p:style>
        </p:cxnSp>
        <p:grpSp>
          <p:nvGrpSpPr>
            <p:cNvPr id="70" name="Group 69">
              <a:extLst>
                <a:ext uri="{FF2B5EF4-FFF2-40B4-BE49-F238E27FC236}">
                  <a16:creationId xmlns:a16="http://schemas.microsoft.com/office/drawing/2014/main" id="{54EE840B-D66C-8592-C545-99CEE07C2ECF}"/>
                </a:ext>
              </a:extLst>
            </p:cNvPr>
            <p:cNvGrpSpPr/>
            <p:nvPr/>
          </p:nvGrpSpPr>
          <p:grpSpPr>
            <a:xfrm>
              <a:off x="1697240" y="4886831"/>
              <a:ext cx="310157" cy="169522"/>
              <a:chOff x="6858000" y="-668360"/>
              <a:chExt cx="723903" cy="395660"/>
            </a:xfrm>
          </p:grpSpPr>
          <p:sp>
            <p:nvSpPr>
              <p:cNvPr id="71" name="Parallelogram 70">
                <a:extLst>
                  <a:ext uri="{FF2B5EF4-FFF2-40B4-BE49-F238E27FC236}">
                    <a16:creationId xmlns:a16="http://schemas.microsoft.com/office/drawing/2014/main" id="{5E2EAA80-3E58-F005-EF37-020D84E85A95}"/>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72" name="Straight Connector 71">
                <a:extLst>
                  <a:ext uri="{FF2B5EF4-FFF2-40B4-BE49-F238E27FC236}">
                    <a16:creationId xmlns:a16="http://schemas.microsoft.com/office/drawing/2014/main" id="{7EE48A50-17F4-C807-8617-F9B5945AA321}"/>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777F4C2A-1233-94AD-1358-F692B49B9289}"/>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grpSp>
        <p:nvGrpSpPr>
          <p:cNvPr id="81" name="Group 80">
            <a:extLst>
              <a:ext uri="{FF2B5EF4-FFF2-40B4-BE49-F238E27FC236}">
                <a16:creationId xmlns:a16="http://schemas.microsoft.com/office/drawing/2014/main" id="{71170EE4-BBBB-716D-325E-7FF50661A6E9}"/>
              </a:ext>
            </a:extLst>
          </p:cNvPr>
          <p:cNvGrpSpPr/>
          <p:nvPr/>
        </p:nvGrpSpPr>
        <p:grpSpPr>
          <a:xfrm>
            <a:off x="8562951" y="-1275523"/>
            <a:ext cx="310157" cy="169522"/>
            <a:chOff x="6858000" y="-668360"/>
            <a:chExt cx="723903" cy="395660"/>
          </a:xfrm>
        </p:grpSpPr>
        <p:sp>
          <p:nvSpPr>
            <p:cNvPr id="82" name="Parallelogram 81">
              <a:extLst>
                <a:ext uri="{FF2B5EF4-FFF2-40B4-BE49-F238E27FC236}">
                  <a16:creationId xmlns:a16="http://schemas.microsoft.com/office/drawing/2014/main" id="{D7BAAFAF-10C3-A7E1-3357-4032EDF3A022}"/>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83" name="Straight Connector 82">
              <a:extLst>
                <a:ext uri="{FF2B5EF4-FFF2-40B4-BE49-F238E27FC236}">
                  <a16:creationId xmlns:a16="http://schemas.microsoft.com/office/drawing/2014/main" id="{6DA9A691-BEBA-1D8C-7639-952FC5B21727}"/>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CBBD3DE4-5751-D6C2-1369-7150BC005795}"/>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03703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1419F-2735-77DA-F940-115572233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C5672-05E2-0958-3144-E72C031C7CF1}"/>
              </a:ext>
            </a:extLst>
          </p:cNvPr>
          <p:cNvSpPr>
            <a:spLocks noGrp="1"/>
          </p:cNvSpPr>
          <p:nvPr>
            <p:ph type="title"/>
          </p:nvPr>
        </p:nvSpPr>
        <p:spPr/>
        <p:txBody>
          <a:bodyPr/>
          <a:lstStyle/>
          <a:p>
            <a:r>
              <a:rPr lang="en-US" dirty="0"/>
              <a:t>The 2049 closing inventory shows a net 3-ton gain over the previous fiscal year</a:t>
            </a:r>
          </a:p>
        </p:txBody>
      </p:sp>
      <mc:AlternateContent xmlns:mc="http://schemas.openxmlformats.org/markup-compatibility/2006" xmlns:cx4="http://schemas.microsoft.com/office/drawing/2016/5/10/chartex">
        <mc:Choice Requires="cx4">
          <p:graphicFrame>
            <p:nvGraphicFramePr>
              <p:cNvPr id="20" name="Chart Placeholder 19">
                <a:extLst>
                  <a:ext uri="{FF2B5EF4-FFF2-40B4-BE49-F238E27FC236}">
                    <a16:creationId xmlns:a16="http://schemas.microsoft.com/office/drawing/2014/main" id="{0D4CF018-19C4-730F-794E-F9E810492024}"/>
                  </a:ext>
                </a:extLst>
              </p:cNvPr>
              <p:cNvGraphicFramePr>
                <a:graphicFrameLocks noGrp="1"/>
              </p:cNvGraphicFramePr>
              <p:nvPr>
                <p:ph type="chart" sz="quarter" idx="13"/>
              </p:nvPr>
            </p:nvGraphicFramePr>
            <p:xfrm>
              <a:off x="1746250" y="1627982"/>
              <a:ext cx="8699500" cy="40624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20" name="Chart Placeholder 19">
                <a:extLst>
                  <a:ext uri="{FF2B5EF4-FFF2-40B4-BE49-F238E27FC236}">
                    <a16:creationId xmlns:a16="http://schemas.microsoft.com/office/drawing/2014/main" id="{0D4CF018-19C4-730F-794E-F9E810492024}"/>
                  </a:ext>
                </a:extLst>
              </p:cNvPr>
              <p:cNvPicPr>
                <a:picLocks noGrp="1" noRot="1" noChangeAspect="1" noMove="1" noResize="1" noEditPoints="1" noAdjustHandles="1" noChangeArrowheads="1" noChangeShapeType="1"/>
              </p:cNvPicPr>
              <p:nvPr/>
            </p:nvPicPr>
            <p:blipFill>
              <a:blip r:embed="rId3"/>
              <a:stretch>
                <a:fillRect/>
              </a:stretch>
            </p:blipFill>
            <p:spPr>
              <a:xfrm>
                <a:off x="1746250" y="1627982"/>
                <a:ext cx="8699500" cy="4062412"/>
              </a:xfrm>
              <a:prstGeom prst="rect">
                <a:avLst/>
              </a:prstGeom>
            </p:spPr>
          </p:pic>
        </mc:Fallback>
      </mc:AlternateContent>
      <p:sp>
        <p:nvSpPr>
          <p:cNvPr id="21" name="TextBox 20">
            <a:extLst>
              <a:ext uri="{FF2B5EF4-FFF2-40B4-BE49-F238E27FC236}">
                <a16:creationId xmlns:a16="http://schemas.microsoft.com/office/drawing/2014/main" id="{66CE2F4E-D2AF-78E4-41B8-DD0DFCFD4188}"/>
              </a:ext>
            </a:extLst>
          </p:cNvPr>
          <p:cNvSpPr txBox="1"/>
          <p:nvPr/>
        </p:nvSpPr>
        <p:spPr>
          <a:xfrm>
            <a:off x="-1" y="-2370935"/>
            <a:ext cx="26837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2" name="TextBox 21">
            <a:extLst>
              <a:ext uri="{FF2B5EF4-FFF2-40B4-BE49-F238E27FC236}">
                <a16:creationId xmlns:a16="http://schemas.microsoft.com/office/drawing/2014/main" id="{1B333A74-B087-BEA9-86D3-1348A6549628}"/>
              </a:ext>
            </a:extLst>
          </p:cNvPr>
          <p:cNvSpPr txBox="1"/>
          <p:nvPr/>
        </p:nvSpPr>
        <p:spPr>
          <a:xfrm>
            <a:off x="-1" y="-1897357"/>
            <a:ext cx="27799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3. Insert a chart (waterfall)</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3" name="TextBox 22">
            <a:extLst>
              <a:ext uri="{FF2B5EF4-FFF2-40B4-BE49-F238E27FC236}">
                <a16:creationId xmlns:a16="http://schemas.microsoft.com/office/drawing/2014/main" id="{0B4F32D8-164D-9968-EB0B-37256BF1BA9F}"/>
              </a:ext>
            </a:extLst>
          </p:cNvPr>
          <p:cNvSpPr txBox="1"/>
          <p:nvPr/>
        </p:nvSpPr>
        <p:spPr>
          <a:xfrm>
            <a:off x="-1" y="-2844513"/>
            <a:ext cx="5371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0"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4" name="TextBox 23">
            <a:extLst>
              <a:ext uri="{FF2B5EF4-FFF2-40B4-BE49-F238E27FC236}">
                <a16:creationId xmlns:a16="http://schemas.microsoft.com/office/drawing/2014/main" id="{7BBA2FBA-B2EC-6761-BB80-EEF3902A3A5D}"/>
              </a:ext>
            </a:extLst>
          </p:cNvPr>
          <p:cNvSpPr txBox="1"/>
          <p:nvPr/>
        </p:nvSpPr>
        <p:spPr>
          <a:xfrm>
            <a:off x="-1" y="-1423779"/>
            <a:ext cx="711284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4. Use Axis Breaks to make the plot easy to read (Adjust axis, add icon)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6" name="TextBox 25">
            <a:extLst>
              <a:ext uri="{FF2B5EF4-FFF2-40B4-BE49-F238E27FC236}">
                <a16:creationId xmlns:a16="http://schemas.microsoft.com/office/drawing/2014/main" id="{830C324E-73CE-FF2C-4C0F-FAE7E88133C5}"/>
              </a:ext>
            </a:extLst>
          </p:cNvPr>
          <p:cNvSpPr txBox="1"/>
          <p:nvPr/>
        </p:nvSpPr>
        <p:spPr>
          <a:xfrm>
            <a:off x="-1" y="-950201"/>
            <a:ext cx="21451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5. Adjust the design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7" name="TextBox 26">
            <a:extLst>
              <a:ext uri="{FF2B5EF4-FFF2-40B4-BE49-F238E27FC236}">
                <a16:creationId xmlns:a16="http://schemas.microsoft.com/office/drawing/2014/main" id="{62E444DA-392E-887B-90B6-1842C809E15B}"/>
              </a:ext>
            </a:extLst>
          </p:cNvPr>
          <p:cNvSpPr txBox="1"/>
          <p:nvPr/>
        </p:nvSpPr>
        <p:spPr>
          <a:xfrm>
            <a:off x="-1" y="-476621"/>
            <a:ext cx="15520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6. Build a title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41" name="Group 40">
            <a:extLst>
              <a:ext uri="{FF2B5EF4-FFF2-40B4-BE49-F238E27FC236}">
                <a16:creationId xmlns:a16="http://schemas.microsoft.com/office/drawing/2014/main" id="{7A9A131D-988B-33B9-F6A9-F93568726168}"/>
              </a:ext>
            </a:extLst>
          </p:cNvPr>
          <p:cNvGrpSpPr/>
          <p:nvPr/>
        </p:nvGrpSpPr>
        <p:grpSpPr>
          <a:xfrm>
            <a:off x="7112844" y="-1295628"/>
            <a:ext cx="1219393" cy="356290"/>
            <a:chOff x="6858000" y="-484214"/>
            <a:chExt cx="723900" cy="211514"/>
          </a:xfrm>
        </p:grpSpPr>
        <p:sp>
          <p:nvSpPr>
            <p:cNvPr id="42" name="Parallelogram 41">
              <a:extLst>
                <a:ext uri="{FF2B5EF4-FFF2-40B4-BE49-F238E27FC236}">
                  <a16:creationId xmlns:a16="http://schemas.microsoft.com/office/drawing/2014/main" id="{E096EA75-97D0-0F46-5F9D-D03309D08860}"/>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43" name="Straight Connector 42">
              <a:extLst>
                <a:ext uri="{FF2B5EF4-FFF2-40B4-BE49-F238E27FC236}">
                  <a16:creationId xmlns:a16="http://schemas.microsoft.com/office/drawing/2014/main" id="{D774AFC6-3912-0BB7-6500-A2C50BD012B9}"/>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9D6FB25-6C4E-5079-82D3-0A0DF1876D57}"/>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FA33FC5B-6C24-9E5B-1634-063B198D6CDA}"/>
              </a:ext>
            </a:extLst>
          </p:cNvPr>
          <p:cNvSpPr txBox="1"/>
          <p:nvPr/>
        </p:nvSpPr>
        <p:spPr>
          <a:xfrm>
            <a:off x="2865120" y="5802018"/>
            <a:ext cx="6461760"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6105B"/>
                </a:solidFill>
                <a:effectLst/>
                <a:uLnTx/>
                <a:uFillTx/>
                <a:latin typeface="Yaldevi"/>
                <a:ea typeface="+mn-ea"/>
                <a:cs typeface="+mn-cs"/>
              </a:rPr>
              <a:t>Inventory Cycle Factors [20</a:t>
            </a:r>
            <a:r>
              <a:rPr kumimoji="0" lang="pl-PL" sz="1400" b="1" i="0" u="none" strike="noStrike" kern="1200" cap="none" spc="0" normalizeH="0" baseline="0" noProof="0" dirty="0">
                <a:ln>
                  <a:noFill/>
                </a:ln>
                <a:solidFill>
                  <a:srgbClr val="06105B"/>
                </a:solidFill>
                <a:effectLst/>
                <a:uLnTx/>
                <a:uFillTx/>
                <a:latin typeface="Yaldevi"/>
                <a:ea typeface="+mn-ea"/>
                <a:cs typeface="+mn-cs"/>
              </a:rPr>
              <a:t>48 - </a:t>
            </a:r>
            <a:r>
              <a:rPr kumimoji="0" lang="en-US" sz="1400" b="1" i="0" u="none" strike="noStrike" kern="1200" cap="none" spc="0" normalizeH="0" baseline="0" noProof="0" dirty="0">
                <a:ln>
                  <a:noFill/>
                </a:ln>
                <a:solidFill>
                  <a:srgbClr val="06105B"/>
                </a:solidFill>
                <a:effectLst/>
                <a:uLnTx/>
                <a:uFillTx/>
                <a:latin typeface="Yaldevi"/>
                <a:ea typeface="+mn-ea"/>
                <a:cs typeface="+mn-cs"/>
              </a:rPr>
              <a:t>20</a:t>
            </a:r>
            <a:r>
              <a:rPr kumimoji="0" lang="pl-PL" sz="1400" b="1" i="0" u="none" strike="noStrike" kern="1200" cap="none" spc="0" normalizeH="0" baseline="0" noProof="0" dirty="0">
                <a:ln>
                  <a:noFill/>
                </a:ln>
                <a:solidFill>
                  <a:srgbClr val="06105B"/>
                </a:solidFill>
                <a:effectLst/>
                <a:uLnTx/>
                <a:uFillTx/>
                <a:latin typeface="Yaldevi"/>
                <a:ea typeface="+mn-ea"/>
                <a:cs typeface="+mn-cs"/>
              </a:rPr>
              <a:t>49</a:t>
            </a:r>
            <a:r>
              <a:rPr kumimoji="0" lang="en-US" sz="1400" b="1" i="0" u="none" strike="noStrike" kern="1200" cap="none" spc="0" normalizeH="0" baseline="0" noProof="0" dirty="0">
                <a:ln>
                  <a:noFill/>
                </a:ln>
                <a:solidFill>
                  <a:srgbClr val="06105B"/>
                </a:solidFill>
                <a:effectLst/>
                <a:uLnTx/>
                <a:uFillTx/>
                <a:latin typeface="Yaldevi"/>
                <a:ea typeface="+mn-ea"/>
                <a:cs typeface="+mn-cs"/>
              </a:rPr>
              <a:t>]</a:t>
            </a:r>
          </a:p>
        </p:txBody>
      </p:sp>
      <p:cxnSp>
        <p:nvCxnSpPr>
          <p:cNvPr id="74" name="Straight Connector 73">
            <a:extLst>
              <a:ext uri="{FF2B5EF4-FFF2-40B4-BE49-F238E27FC236}">
                <a16:creationId xmlns:a16="http://schemas.microsoft.com/office/drawing/2014/main" id="{17D5E7C6-7733-40FA-0070-91244B022082}"/>
              </a:ext>
            </a:extLst>
          </p:cNvPr>
          <p:cNvCxnSpPr>
            <a:cxnSpLocks/>
          </p:cNvCxnSpPr>
          <p:nvPr/>
        </p:nvCxnSpPr>
        <p:spPr>
          <a:xfrm flipH="1">
            <a:off x="1845160" y="5335614"/>
            <a:ext cx="8570327" cy="0"/>
          </a:xfrm>
          <a:prstGeom prst="line">
            <a:avLst/>
          </a:prstGeom>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64CC6960-E85A-64AE-4004-77764CA02213}"/>
              </a:ext>
            </a:extLst>
          </p:cNvPr>
          <p:cNvSpPr txBox="1"/>
          <p:nvPr/>
        </p:nvSpPr>
        <p:spPr>
          <a:xfrm rot="16200000">
            <a:off x="-34456" y="3290500"/>
            <a:ext cx="227833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105B"/>
                </a:solidFill>
                <a:effectLst/>
                <a:uLnTx/>
                <a:uFillTx/>
                <a:latin typeface="Yaldevi"/>
                <a:ea typeface="+mn-ea"/>
                <a:cs typeface="+mn-cs"/>
              </a:rPr>
              <a:t>Total Stock Volume</a:t>
            </a:r>
            <a:r>
              <a:rPr kumimoji="0" lang="pl-PL" sz="1200" b="0" i="0" u="none" strike="noStrike" kern="1200" cap="none" spc="0" normalizeH="0" baseline="0" noProof="0" dirty="0">
                <a:ln>
                  <a:noFill/>
                </a:ln>
                <a:solidFill>
                  <a:srgbClr val="06105B"/>
                </a:solidFill>
                <a:effectLst/>
                <a:uLnTx/>
                <a:uFillTx/>
                <a:latin typeface="Yaldevi"/>
                <a:ea typeface="+mn-ea"/>
                <a:cs typeface="+mn-cs"/>
              </a:rPr>
              <a:t> [in Tons]</a:t>
            </a:r>
            <a:endParaRPr kumimoji="0" lang="en-US" sz="1200" b="0" i="0" u="none" strike="noStrike" kern="1200" cap="none" spc="0" normalizeH="0" baseline="0" noProof="0" dirty="0">
              <a:ln>
                <a:noFill/>
              </a:ln>
              <a:solidFill>
                <a:srgbClr val="06105B"/>
              </a:solidFill>
              <a:effectLst/>
              <a:uLnTx/>
              <a:uFillTx/>
              <a:latin typeface="Yaldevi"/>
              <a:ea typeface="+mn-ea"/>
              <a:cs typeface="+mn-cs"/>
            </a:endParaRPr>
          </a:p>
        </p:txBody>
      </p:sp>
      <p:sp>
        <p:nvSpPr>
          <p:cNvPr id="57" name="TextBox 56">
            <a:extLst>
              <a:ext uri="{FF2B5EF4-FFF2-40B4-BE49-F238E27FC236}">
                <a16:creationId xmlns:a16="http://schemas.microsoft.com/office/drawing/2014/main" id="{DDC94943-BBC7-3E03-FB8C-E9E44B098496}"/>
              </a:ext>
            </a:extLst>
          </p:cNvPr>
          <p:cNvSpPr txBox="1"/>
          <p:nvPr/>
        </p:nvSpPr>
        <p:spPr>
          <a:xfrm>
            <a:off x="1548432" y="5166796"/>
            <a:ext cx="31931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o</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58" name="TextBox 57">
            <a:extLst>
              <a:ext uri="{FF2B5EF4-FFF2-40B4-BE49-F238E27FC236}">
                <a16:creationId xmlns:a16="http://schemas.microsoft.com/office/drawing/2014/main" id="{EAC22260-0AE5-2F75-9E11-9D30A75BF75C}"/>
              </a:ext>
            </a:extLst>
          </p:cNvPr>
          <p:cNvSpPr txBox="1"/>
          <p:nvPr/>
        </p:nvSpPr>
        <p:spPr>
          <a:xfrm>
            <a:off x="1351262" y="4443156"/>
            <a:ext cx="51648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195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59" name="TextBox 58">
            <a:extLst>
              <a:ext uri="{FF2B5EF4-FFF2-40B4-BE49-F238E27FC236}">
                <a16:creationId xmlns:a16="http://schemas.microsoft.com/office/drawing/2014/main" id="{ADE6B99D-AB5D-BF48-5C8D-57FC6945ACB5}"/>
              </a:ext>
            </a:extLst>
          </p:cNvPr>
          <p:cNvSpPr txBox="1"/>
          <p:nvPr/>
        </p:nvSpPr>
        <p:spPr>
          <a:xfrm>
            <a:off x="1325614" y="2995872"/>
            <a:ext cx="542136"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205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0" name="TextBox 59">
            <a:extLst>
              <a:ext uri="{FF2B5EF4-FFF2-40B4-BE49-F238E27FC236}">
                <a16:creationId xmlns:a16="http://schemas.microsoft.com/office/drawing/2014/main" id="{92457FA5-B57B-06D7-6443-F4BFE606E37C}"/>
              </a:ext>
            </a:extLst>
          </p:cNvPr>
          <p:cNvSpPr txBox="1"/>
          <p:nvPr/>
        </p:nvSpPr>
        <p:spPr>
          <a:xfrm>
            <a:off x="1306378" y="3719514"/>
            <a:ext cx="561372"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200</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1" name="TextBox 60">
            <a:extLst>
              <a:ext uri="{FF2B5EF4-FFF2-40B4-BE49-F238E27FC236}">
                <a16:creationId xmlns:a16="http://schemas.microsoft.com/office/drawing/2014/main" id="{8D6664D8-D3ED-AE66-D4B2-1C243DF02973}"/>
              </a:ext>
            </a:extLst>
          </p:cNvPr>
          <p:cNvSpPr txBox="1"/>
          <p:nvPr/>
        </p:nvSpPr>
        <p:spPr>
          <a:xfrm>
            <a:off x="1346452" y="2272230"/>
            <a:ext cx="521298"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210</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sp>
        <p:nvSpPr>
          <p:cNvPr id="63" name="TextBox 62">
            <a:extLst>
              <a:ext uri="{FF2B5EF4-FFF2-40B4-BE49-F238E27FC236}">
                <a16:creationId xmlns:a16="http://schemas.microsoft.com/office/drawing/2014/main" id="{80DB9599-B46B-89A4-EA6A-B58020B71563}"/>
              </a:ext>
            </a:extLst>
          </p:cNvPr>
          <p:cNvSpPr txBox="1"/>
          <p:nvPr/>
        </p:nvSpPr>
        <p:spPr>
          <a:xfrm>
            <a:off x="1365688" y="1548588"/>
            <a:ext cx="502062"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06105B"/>
                </a:solidFill>
                <a:effectLst/>
                <a:uLnTx/>
                <a:uFillTx/>
                <a:latin typeface="Yaldevi"/>
                <a:ea typeface="+mn-ea"/>
                <a:cs typeface="+mn-cs"/>
              </a:rPr>
              <a:t>215</a:t>
            </a:r>
            <a:endParaRPr kumimoji="0" lang="en-US" sz="1800" b="1" i="0" u="none" strike="noStrike" kern="1200" cap="none" spc="0" normalizeH="0" baseline="0" noProof="0" dirty="0">
              <a:ln>
                <a:noFill/>
              </a:ln>
              <a:solidFill>
                <a:srgbClr val="06105B"/>
              </a:solidFill>
              <a:effectLst/>
              <a:uLnTx/>
              <a:uFillTx/>
              <a:latin typeface="Yaldevi"/>
              <a:ea typeface="+mn-ea"/>
              <a:cs typeface="+mn-cs"/>
            </a:endParaRPr>
          </a:p>
        </p:txBody>
      </p:sp>
      <p:cxnSp>
        <p:nvCxnSpPr>
          <p:cNvPr id="69" name="Straight Connector 68">
            <a:extLst>
              <a:ext uri="{FF2B5EF4-FFF2-40B4-BE49-F238E27FC236}">
                <a16:creationId xmlns:a16="http://schemas.microsoft.com/office/drawing/2014/main" id="{5B127F13-6B64-CF02-3856-F2FE5FC300E6}"/>
              </a:ext>
            </a:extLst>
          </p:cNvPr>
          <p:cNvCxnSpPr>
            <a:cxnSpLocks/>
          </p:cNvCxnSpPr>
          <p:nvPr/>
        </p:nvCxnSpPr>
        <p:spPr>
          <a:xfrm>
            <a:off x="1853465" y="1582130"/>
            <a:ext cx="0" cy="3761422"/>
          </a:xfrm>
          <a:prstGeom prst="line">
            <a:avLst/>
          </a:prstGeom>
        </p:spPr>
        <p:style>
          <a:lnRef idx="2">
            <a:schemeClr val="accent1"/>
          </a:lnRef>
          <a:fillRef idx="0">
            <a:schemeClr val="accent1"/>
          </a:fillRef>
          <a:effectRef idx="1">
            <a:schemeClr val="accent1"/>
          </a:effectRef>
          <a:fontRef idx="minor">
            <a:schemeClr val="tx1"/>
          </a:fontRef>
        </p:style>
      </p:cxnSp>
      <p:grpSp>
        <p:nvGrpSpPr>
          <p:cNvPr id="81" name="Group 80">
            <a:extLst>
              <a:ext uri="{FF2B5EF4-FFF2-40B4-BE49-F238E27FC236}">
                <a16:creationId xmlns:a16="http://schemas.microsoft.com/office/drawing/2014/main" id="{501EA7DD-B435-65BF-D20E-AB90E209FDFF}"/>
              </a:ext>
            </a:extLst>
          </p:cNvPr>
          <p:cNvGrpSpPr/>
          <p:nvPr/>
        </p:nvGrpSpPr>
        <p:grpSpPr>
          <a:xfrm>
            <a:off x="8562951" y="-1275523"/>
            <a:ext cx="310157" cy="169522"/>
            <a:chOff x="6858000" y="-668360"/>
            <a:chExt cx="723903" cy="395660"/>
          </a:xfrm>
        </p:grpSpPr>
        <p:sp>
          <p:nvSpPr>
            <p:cNvPr id="82" name="Parallelogram 81">
              <a:extLst>
                <a:ext uri="{FF2B5EF4-FFF2-40B4-BE49-F238E27FC236}">
                  <a16:creationId xmlns:a16="http://schemas.microsoft.com/office/drawing/2014/main" id="{7C6816A0-4CAC-B51C-EFA3-8F402A05BB52}"/>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83" name="Straight Connector 82">
              <a:extLst>
                <a:ext uri="{FF2B5EF4-FFF2-40B4-BE49-F238E27FC236}">
                  <a16:creationId xmlns:a16="http://schemas.microsoft.com/office/drawing/2014/main" id="{07C6878B-6DB6-73B0-09E3-8A524CB929AB}"/>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91A2A90D-5DA7-743C-F267-F1A4E502B4F3}"/>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3" name="Freeform: Shape 2">
            <a:extLst>
              <a:ext uri="{FF2B5EF4-FFF2-40B4-BE49-F238E27FC236}">
                <a16:creationId xmlns:a16="http://schemas.microsoft.com/office/drawing/2014/main" id="{D18740E1-CA89-BDAB-E724-C9171D13E2A6}"/>
              </a:ext>
            </a:extLst>
          </p:cNvPr>
          <p:cNvSpPr/>
          <p:nvPr/>
        </p:nvSpPr>
        <p:spPr>
          <a:xfrm rot="5400000">
            <a:off x="9246106" y="4368395"/>
            <a:ext cx="466938" cy="1215115"/>
          </a:xfrm>
          <a:custGeom>
            <a:avLst/>
            <a:gdLst>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0129 w 3731184"/>
              <a:gd name="csY14" fmla="*/ 406597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1072 w 3731184"/>
              <a:gd name="csY16" fmla="*/ 45814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29792 w 3731184"/>
              <a:gd name="csY16" fmla="*/ 45941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5672 w 3731184"/>
              <a:gd name="csY16" fmla="*/ 471864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26700 w 3731184"/>
              <a:gd name="csY15" fmla="*/ 450020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731184" h="9709680">
                <a:moveTo>
                  <a:pt x="740" y="9525705"/>
                </a:moveTo>
                <a:cubicBezTo>
                  <a:pt x="2615" y="9495769"/>
                  <a:pt x="8033" y="9467121"/>
                  <a:pt x="16754" y="9443572"/>
                </a:cubicBezTo>
                <a:lnTo>
                  <a:pt x="1331338" y="5841405"/>
                </a:lnTo>
                <a:lnTo>
                  <a:pt x="344354" y="5841405"/>
                </a:lnTo>
                <a:cubicBezTo>
                  <a:pt x="330502" y="5841944"/>
                  <a:pt x="316931" y="5831969"/>
                  <a:pt x="305563" y="5812891"/>
                </a:cubicBezTo>
                <a:cubicBezTo>
                  <a:pt x="275653" y="5762696"/>
                  <a:pt x="268295" y="5663585"/>
                  <a:pt x="289129" y="5591522"/>
                </a:cubicBezTo>
                <a:lnTo>
                  <a:pt x="1731715" y="74643"/>
                </a:lnTo>
                <a:cubicBezTo>
                  <a:pt x="1744080" y="28210"/>
                  <a:pt x="1765390" y="94"/>
                  <a:pt x="1788287" y="2"/>
                </a:cubicBezTo>
                <a:lnTo>
                  <a:pt x="3664592" y="2"/>
                </a:lnTo>
                <a:cubicBezTo>
                  <a:pt x="3690753" y="-341"/>
                  <a:pt x="3714528" y="36574"/>
                  <a:pt x="3725205" y="94114"/>
                </a:cubicBezTo>
                <a:cubicBezTo>
                  <a:pt x="3736101" y="151517"/>
                  <a:pt x="3731872" y="219013"/>
                  <a:pt x="3714430" y="266111"/>
                </a:cubicBezTo>
                <a:lnTo>
                  <a:pt x="2390375" y="3894271"/>
                </a:lnTo>
                <a:lnTo>
                  <a:pt x="3265202" y="3894271"/>
                </a:lnTo>
                <a:cubicBezTo>
                  <a:pt x="3283446" y="3893119"/>
                  <a:pt x="3354721" y="3907379"/>
                  <a:pt x="3377632" y="3933033"/>
                </a:cubicBezTo>
                <a:cubicBezTo>
                  <a:pt x="3400543" y="3958687"/>
                  <a:pt x="3402048" y="3975337"/>
                  <a:pt x="3402669" y="4048195"/>
                </a:cubicBezTo>
                <a:lnTo>
                  <a:pt x="3326700" y="4500200"/>
                </a:lnTo>
                <a:cubicBezTo>
                  <a:pt x="3326571" y="4490887"/>
                  <a:pt x="3288341" y="4738113"/>
                  <a:pt x="3288212" y="4728800"/>
                </a:cubicBezTo>
                <a:lnTo>
                  <a:pt x="1999469" y="9635038"/>
                </a:lnTo>
                <a:cubicBezTo>
                  <a:pt x="1987104" y="9681470"/>
                  <a:pt x="1965794" y="9709586"/>
                  <a:pt x="1942897" y="9709678"/>
                </a:cubicBezTo>
                <a:lnTo>
                  <a:pt x="66592" y="9709678"/>
                </a:lnTo>
                <a:cubicBezTo>
                  <a:pt x="40431" y="9710021"/>
                  <a:pt x="16656" y="9673107"/>
                  <a:pt x="5979" y="9615567"/>
                </a:cubicBezTo>
                <a:cubicBezTo>
                  <a:pt x="531" y="9586865"/>
                  <a:pt x="-1136" y="9555641"/>
                  <a:pt x="740" y="9525705"/>
                </a:cubicBezTo>
                <a:close/>
              </a:path>
            </a:pathLst>
          </a:custGeom>
          <a:solidFill>
            <a:schemeClr val="bg1"/>
          </a:solidFill>
          <a:ln w="134673"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aldevi"/>
              <a:ea typeface="+mn-ea"/>
              <a:cs typeface="+mn-cs"/>
            </a:endParaRPr>
          </a:p>
        </p:txBody>
      </p:sp>
      <p:grpSp>
        <p:nvGrpSpPr>
          <p:cNvPr id="4" name="Group 3">
            <a:extLst>
              <a:ext uri="{FF2B5EF4-FFF2-40B4-BE49-F238E27FC236}">
                <a16:creationId xmlns:a16="http://schemas.microsoft.com/office/drawing/2014/main" id="{C762A86A-4970-6A5A-451B-2499D23906EB}"/>
              </a:ext>
            </a:extLst>
          </p:cNvPr>
          <p:cNvGrpSpPr/>
          <p:nvPr/>
        </p:nvGrpSpPr>
        <p:grpSpPr>
          <a:xfrm>
            <a:off x="1615148" y="4831824"/>
            <a:ext cx="450503" cy="174420"/>
            <a:chOff x="7670927" y="4381656"/>
            <a:chExt cx="450503" cy="174420"/>
          </a:xfrm>
        </p:grpSpPr>
        <p:sp>
          <p:nvSpPr>
            <p:cNvPr id="5" name="Freeform: Shape 4">
              <a:extLst>
                <a:ext uri="{FF2B5EF4-FFF2-40B4-BE49-F238E27FC236}">
                  <a16:creationId xmlns:a16="http://schemas.microsoft.com/office/drawing/2014/main" id="{2667FEDE-E10A-AC54-7F61-C21BA39B706B}"/>
                </a:ext>
              </a:extLst>
            </p:cNvPr>
            <p:cNvSpPr/>
            <p:nvPr/>
          </p:nvSpPr>
          <p:spPr>
            <a:xfrm rot="5400000">
              <a:off x="7810375" y="4245020"/>
              <a:ext cx="172698" cy="449413"/>
            </a:xfrm>
            <a:custGeom>
              <a:avLst/>
              <a:gdLst>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0129 w 3731184"/>
                <a:gd name="csY14" fmla="*/ 406597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1072 w 3731184"/>
                <a:gd name="csY16" fmla="*/ 45814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29792 w 3731184"/>
                <a:gd name="csY16" fmla="*/ 45941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5672 w 3731184"/>
                <a:gd name="csY16" fmla="*/ 471864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26700 w 3731184"/>
                <a:gd name="csY15" fmla="*/ 450020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731184" h="9709680">
                  <a:moveTo>
                    <a:pt x="740" y="9525705"/>
                  </a:moveTo>
                  <a:cubicBezTo>
                    <a:pt x="2615" y="9495769"/>
                    <a:pt x="8033" y="9467121"/>
                    <a:pt x="16754" y="9443572"/>
                  </a:cubicBezTo>
                  <a:lnTo>
                    <a:pt x="1331338" y="5841405"/>
                  </a:lnTo>
                  <a:lnTo>
                    <a:pt x="344354" y="5841405"/>
                  </a:lnTo>
                  <a:cubicBezTo>
                    <a:pt x="330502" y="5841944"/>
                    <a:pt x="316931" y="5831969"/>
                    <a:pt x="305563" y="5812891"/>
                  </a:cubicBezTo>
                  <a:cubicBezTo>
                    <a:pt x="275653" y="5762696"/>
                    <a:pt x="268295" y="5663585"/>
                    <a:pt x="289129" y="5591522"/>
                  </a:cubicBezTo>
                  <a:lnTo>
                    <a:pt x="1731715" y="74643"/>
                  </a:lnTo>
                  <a:cubicBezTo>
                    <a:pt x="1744080" y="28210"/>
                    <a:pt x="1765390" y="94"/>
                    <a:pt x="1788287" y="2"/>
                  </a:cubicBezTo>
                  <a:lnTo>
                    <a:pt x="3664592" y="2"/>
                  </a:lnTo>
                  <a:cubicBezTo>
                    <a:pt x="3690753" y="-341"/>
                    <a:pt x="3714528" y="36574"/>
                    <a:pt x="3725205" y="94114"/>
                  </a:cubicBezTo>
                  <a:cubicBezTo>
                    <a:pt x="3736101" y="151517"/>
                    <a:pt x="3731872" y="219013"/>
                    <a:pt x="3714430" y="266111"/>
                  </a:cubicBezTo>
                  <a:lnTo>
                    <a:pt x="2390375" y="3894271"/>
                  </a:lnTo>
                  <a:lnTo>
                    <a:pt x="3265202" y="3894271"/>
                  </a:lnTo>
                  <a:cubicBezTo>
                    <a:pt x="3283446" y="3893119"/>
                    <a:pt x="3354721" y="3907379"/>
                    <a:pt x="3377632" y="3933033"/>
                  </a:cubicBezTo>
                  <a:cubicBezTo>
                    <a:pt x="3400543" y="3958687"/>
                    <a:pt x="3402048" y="3975337"/>
                    <a:pt x="3402669" y="4048195"/>
                  </a:cubicBezTo>
                  <a:lnTo>
                    <a:pt x="3326700" y="4500200"/>
                  </a:lnTo>
                  <a:cubicBezTo>
                    <a:pt x="3326571" y="4490887"/>
                    <a:pt x="3288341" y="4738113"/>
                    <a:pt x="3288212" y="4728800"/>
                  </a:cubicBezTo>
                  <a:lnTo>
                    <a:pt x="1999469" y="9635038"/>
                  </a:lnTo>
                  <a:cubicBezTo>
                    <a:pt x="1987104" y="9681470"/>
                    <a:pt x="1965794" y="9709586"/>
                    <a:pt x="1942897" y="9709678"/>
                  </a:cubicBezTo>
                  <a:lnTo>
                    <a:pt x="66592" y="9709678"/>
                  </a:lnTo>
                  <a:cubicBezTo>
                    <a:pt x="40431" y="9710021"/>
                    <a:pt x="16656" y="9673107"/>
                    <a:pt x="5979" y="9615567"/>
                  </a:cubicBezTo>
                  <a:cubicBezTo>
                    <a:pt x="531" y="9586865"/>
                    <a:pt x="-1136" y="9555641"/>
                    <a:pt x="740" y="9525705"/>
                  </a:cubicBezTo>
                  <a:close/>
                </a:path>
              </a:pathLst>
            </a:custGeom>
            <a:solidFill>
              <a:schemeClr val="bg1"/>
            </a:solidFill>
            <a:ln w="134673"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aldevi"/>
                <a:ea typeface="+mn-ea"/>
                <a:cs typeface="+mn-cs"/>
              </a:endParaRPr>
            </a:p>
          </p:txBody>
        </p:sp>
        <p:sp>
          <p:nvSpPr>
            <p:cNvPr id="6" name="Freeform: Shape 5">
              <a:extLst>
                <a:ext uri="{FF2B5EF4-FFF2-40B4-BE49-F238E27FC236}">
                  <a16:creationId xmlns:a16="http://schemas.microsoft.com/office/drawing/2014/main" id="{96755FE4-8B6A-5545-87DA-2E2B88347571}"/>
                </a:ext>
              </a:extLst>
            </p:cNvPr>
            <p:cNvSpPr/>
            <p:nvPr/>
          </p:nvSpPr>
          <p:spPr>
            <a:xfrm>
              <a:off x="7673342" y="4477088"/>
              <a:ext cx="441960" cy="74295"/>
            </a:xfrm>
            <a:custGeom>
              <a:avLst/>
              <a:gdLst>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53365 w 466383"/>
                <a:gd name="csY1" fmla="*/ 66675 h 86481"/>
                <a:gd name="csX2" fmla="*/ 268605 w 466383"/>
                <a:gd name="csY2" fmla="*/ 22860 h 86481"/>
                <a:gd name="csX3" fmla="*/ 449580 w 466383"/>
                <a:gd name="csY3" fmla="*/ 81915 h 86481"/>
                <a:gd name="csX4" fmla="*/ 447675 w 466383"/>
                <a:gd name="csY4" fmla="*/ 78105 h 86481"/>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20 h 98001"/>
                <a:gd name="csX1" fmla="*/ 25336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97806"/>
                <a:gd name="csY0" fmla="*/ 0 h 87096"/>
                <a:gd name="csX1" fmla="*/ 260985 w 497806"/>
                <a:gd name="csY1" fmla="*/ 66675 h 87096"/>
                <a:gd name="csX2" fmla="*/ 270510 w 497806"/>
                <a:gd name="csY2" fmla="*/ 17145 h 87096"/>
                <a:gd name="csX3" fmla="*/ 449580 w 497806"/>
                <a:gd name="csY3" fmla="*/ 81915 h 87096"/>
                <a:gd name="csX4" fmla="*/ 493395 w 497806"/>
                <a:gd name="csY4" fmla="*/ 80010 h 87096"/>
                <a:gd name="csX0" fmla="*/ 0 w 449580"/>
                <a:gd name="csY0" fmla="*/ 0 h 81915"/>
                <a:gd name="csX1" fmla="*/ 260985 w 449580"/>
                <a:gd name="csY1" fmla="*/ 66675 h 81915"/>
                <a:gd name="csX2" fmla="*/ 270510 w 449580"/>
                <a:gd name="csY2" fmla="*/ 17145 h 81915"/>
                <a:gd name="csX3" fmla="*/ 449580 w 449580"/>
                <a:gd name="csY3" fmla="*/ 81915 h 81915"/>
                <a:gd name="csX0" fmla="*/ 0 w 449580"/>
                <a:gd name="csY0" fmla="*/ 0 h 76200"/>
                <a:gd name="csX1" fmla="*/ 260985 w 449580"/>
                <a:gd name="csY1" fmla="*/ 66675 h 76200"/>
                <a:gd name="csX2" fmla="*/ 270510 w 449580"/>
                <a:gd name="csY2" fmla="*/ 17145 h 76200"/>
                <a:gd name="csX3" fmla="*/ 449580 w 449580"/>
                <a:gd name="csY3" fmla="*/ 76200 h 76200"/>
                <a:gd name="csX0" fmla="*/ 0 w 441960"/>
                <a:gd name="csY0" fmla="*/ 0 h 74295"/>
                <a:gd name="csX1" fmla="*/ 260985 w 441960"/>
                <a:gd name="csY1" fmla="*/ 66675 h 74295"/>
                <a:gd name="csX2" fmla="*/ 270510 w 441960"/>
                <a:gd name="csY2" fmla="*/ 17145 h 74295"/>
                <a:gd name="csX3" fmla="*/ 441960 w 441960"/>
                <a:gd name="csY3" fmla="*/ 74295 h 74295"/>
              </a:gdLst>
              <a:ahLst/>
              <a:cxnLst>
                <a:cxn ang="0">
                  <a:pos x="csX0" y="csY0"/>
                </a:cxn>
                <a:cxn ang="0">
                  <a:pos x="csX1" y="csY1"/>
                </a:cxn>
                <a:cxn ang="0">
                  <a:pos x="csX2" y="csY2"/>
                </a:cxn>
                <a:cxn ang="0">
                  <a:pos x="csX3" y="csY3"/>
                </a:cxn>
              </a:cxnLst>
              <a:rect l="l" t="t" r="r" b="b"/>
              <a:pathLst>
                <a:path w="441960" h="74295">
                  <a:moveTo>
                    <a:pt x="0" y="0"/>
                  </a:moveTo>
                  <a:cubicBezTo>
                    <a:pt x="113824" y="33337"/>
                    <a:pt x="208598" y="53340"/>
                    <a:pt x="260985" y="66675"/>
                  </a:cubicBezTo>
                  <a:cubicBezTo>
                    <a:pt x="267017" y="38100"/>
                    <a:pt x="264477" y="37465"/>
                    <a:pt x="270510" y="17145"/>
                  </a:cubicBezTo>
                  <a:cubicBezTo>
                    <a:pt x="352743" y="42545"/>
                    <a:pt x="441960" y="74295"/>
                    <a:pt x="441960" y="74295"/>
                  </a:cubicBezTo>
                </a:path>
              </a:pathLst>
            </a:custGeom>
            <a:noFill/>
            <a:ln w="9525" cap="rn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7" name="Freeform: Shape 6">
              <a:extLst>
                <a:ext uri="{FF2B5EF4-FFF2-40B4-BE49-F238E27FC236}">
                  <a16:creationId xmlns:a16="http://schemas.microsoft.com/office/drawing/2014/main" id="{88EE1F2A-7AB5-A144-F3F1-2214CDBCD6BF}"/>
                </a:ext>
              </a:extLst>
            </p:cNvPr>
            <p:cNvSpPr/>
            <p:nvPr/>
          </p:nvSpPr>
          <p:spPr>
            <a:xfrm>
              <a:off x="7670927" y="4381656"/>
              <a:ext cx="445770" cy="83820"/>
            </a:xfrm>
            <a:custGeom>
              <a:avLst/>
              <a:gdLst>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72415 w 466383"/>
                <a:gd name="csY1" fmla="*/ 70485 h 86481"/>
                <a:gd name="csX2" fmla="*/ 268605 w 466383"/>
                <a:gd name="csY2" fmla="*/ 22860 h 86481"/>
                <a:gd name="csX3" fmla="*/ 449580 w 466383"/>
                <a:gd name="csY3" fmla="*/ 81915 h 86481"/>
                <a:gd name="csX4" fmla="*/ 447675 w 466383"/>
                <a:gd name="csY4" fmla="*/ 78105 h 86481"/>
                <a:gd name="csX0" fmla="*/ 0 w 466383"/>
                <a:gd name="csY0" fmla="*/ 0 h 86481"/>
                <a:gd name="csX1" fmla="*/ 253365 w 466383"/>
                <a:gd name="csY1" fmla="*/ 66675 h 86481"/>
                <a:gd name="csX2" fmla="*/ 268605 w 466383"/>
                <a:gd name="csY2" fmla="*/ 22860 h 86481"/>
                <a:gd name="csX3" fmla="*/ 449580 w 466383"/>
                <a:gd name="csY3" fmla="*/ 81915 h 86481"/>
                <a:gd name="csX4" fmla="*/ 447675 w 466383"/>
                <a:gd name="csY4" fmla="*/ 78105 h 86481"/>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74 h 98055"/>
                <a:gd name="csX1" fmla="*/ 253365 w 466383"/>
                <a:gd name="csY1" fmla="*/ 78249 h 98055"/>
                <a:gd name="csX2" fmla="*/ 270510 w 466383"/>
                <a:gd name="csY2" fmla="*/ 144 h 98055"/>
                <a:gd name="csX3" fmla="*/ 449580 w 466383"/>
                <a:gd name="csY3" fmla="*/ 93489 h 98055"/>
                <a:gd name="csX4" fmla="*/ 447675 w 466383"/>
                <a:gd name="csY4" fmla="*/ 89679 h 98055"/>
                <a:gd name="csX0" fmla="*/ 0 w 466383"/>
                <a:gd name="csY0" fmla="*/ 11520 h 98001"/>
                <a:gd name="csX1" fmla="*/ 25336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11520 h 98001"/>
                <a:gd name="csX1" fmla="*/ 260985 w 466383"/>
                <a:gd name="csY1" fmla="*/ 78195 h 98001"/>
                <a:gd name="csX2" fmla="*/ 270510 w 466383"/>
                <a:gd name="csY2" fmla="*/ 90 h 98001"/>
                <a:gd name="csX3" fmla="*/ 449580 w 466383"/>
                <a:gd name="csY3" fmla="*/ 93435 h 98001"/>
                <a:gd name="csX4" fmla="*/ 447675 w 466383"/>
                <a:gd name="csY4" fmla="*/ 89625 h 9800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66383"/>
                <a:gd name="csY0" fmla="*/ 0 h 86481"/>
                <a:gd name="csX1" fmla="*/ 260985 w 466383"/>
                <a:gd name="csY1" fmla="*/ 66675 h 86481"/>
                <a:gd name="csX2" fmla="*/ 270510 w 466383"/>
                <a:gd name="csY2" fmla="*/ 17145 h 86481"/>
                <a:gd name="csX3" fmla="*/ 449580 w 466383"/>
                <a:gd name="csY3" fmla="*/ 81915 h 86481"/>
                <a:gd name="csX4" fmla="*/ 447675 w 466383"/>
                <a:gd name="csY4" fmla="*/ 78105 h 86481"/>
                <a:gd name="csX0" fmla="*/ 0 w 497806"/>
                <a:gd name="csY0" fmla="*/ 0 h 87096"/>
                <a:gd name="csX1" fmla="*/ 260985 w 497806"/>
                <a:gd name="csY1" fmla="*/ 66675 h 87096"/>
                <a:gd name="csX2" fmla="*/ 270510 w 497806"/>
                <a:gd name="csY2" fmla="*/ 17145 h 87096"/>
                <a:gd name="csX3" fmla="*/ 449580 w 497806"/>
                <a:gd name="csY3" fmla="*/ 81915 h 87096"/>
                <a:gd name="csX4" fmla="*/ 493395 w 497806"/>
                <a:gd name="csY4" fmla="*/ 80010 h 87096"/>
                <a:gd name="csX0" fmla="*/ 0 w 449580"/>
                <a:gd name="csY0" fmla="*/ 0 h 81915"/>
                <a:gd name="csX1" fmla="*/ 260985 w 449580"/>
                <a:gd name="csY1" fmla="*/ 66675 h 81915"/>
                <a:gd name="csX2" fmla="*/ 270510 w 449580"/>
                <a:gd name="csY2" fmla="*/ 17145 h 81915"/>
                <a:gd name="csX3" fmla="*/ 449580 w 449580"/>
                <a:gd name="csY3" fmla="*/ 81915 h 81915"/>
                <a:gd name="csX0" fmla="*/ 0 w 449580"/>
                <a:gd name="csY0" fmla="*/ 0 h 76200"/>
                <a:gd name="csX1" fmla="*/ 260985 w 449580"/>
                <a:gd name="csY1" fmla="*/ 66675 h 76200"/>
                <a:gd name="csX2" fmla="*/ 270510 w 449580"/>
                <a:gd name="csY2" fmla="*/ 17145 h 76200"/>
                <a:gd name="csX3" fmla="*/ 449580 w 449580"/>
                <a:gd name="csY3" fmla="*/ 76200 h 76200"/>
                <a:gd name="csX0" fmla="*/ 0 w 441960"/>
                <a:gd name="csY0" fmla="*/ 0 h 74295"/>
                <a:gd name="csX1" fmla="*/ 260985 w 441960"/>
                <a:gd name="csY1" fmla="*/ 66675 h 74295"/>
                <a:gd name="csX2" fmla="*/ 270510 w 441960"/>
                <a:gd name="csY2" fmla="*/ 17145 h 74295"/>
                <a:gd name="csX3" fmla="*/ 441960 w 441960"/>
                <a:gd name="csY3" fmla="*/ 74295 h 74295"/>
                <a:gd name="csX0" fmla="*/ 0 w 441960"/>
                <a:gd name="csY0" fmla="*/ 0 h 74295"/>
                <a:gd name="csX1" fmla="*/ 179070 w 441960"/>
                <a:gd name="csY1" fmla="*/ 59055 h 74295"/>
                <a:gd name="csX2" fmla="*/ 270510 w 441960"/>
                <a:gd name="csY2" fmla="*/ 17145 h 74295"/>
                <a:gd name="csX3" fmla="*/ 441960 w 441960"/>
                <a:gd name="csY3" fmla="*/ 74295 h 74295"/>
                <a:gd name="csX0" fmla="*/ 0 w 441960"/>
                <a:gd name="csY0" fmla="*/ 0 h 74295"/>
                <a:gd name="csX1" fmla="*/ 179070 w 441960"/>
                <a:gd name="csY1" fmla="*/ 59055 h 74295"/>
                <a:gd name="csX2" fmla="*/ 180975 w 441960"/>
                <a:gd name="csY2" fmla="*/ 11430 h 74295"/>
                <a:gd name="csX3" fmla="*/ 441960 w 441960"/>
                <a:gd name="csY3" fmla="*/ 74295 h 74295"/>
                <a:gd name="csX0" fmla="*/ 0 w 445770"/>
                <a:gd name="csY0" fmla="*/ 0 h 83820"/>
                <a:gd name="csX1" fmla="*/ 179070 w 445770"/>
                <a:gd name="csY1" fmla="*/ 59055 h 83820"/>
                <a:gd name="csX2" fmla="*/ 180975 w 445770"/>
                <a:gd name="csY2" fmla="*/ 11430 h 83820"/>
                <a:gd name="csX3" fmla="*/ 445770 w 445770"/>
                <a:gd name="csY3" fmla="*/ 83820 h 83820"/>
                <a:gd name="csX0" fmla="*/ 0 w 445770"/>
                <a:gd name="csY0" fmla="*/ 0 h 83820"/>
                <a:gd name="csX1" fmla="*/ 179070 w 445770"/>
                <a:gd name="csY1" fmla="*/ 59055 h 83820"/>
                <a:gd name="csX2" fmla="*/ 180975 w 445770"/>
                <a:gd name="csY2" fmla="*/ 7620 h 83820"/>
                <a:gd name="csX3" fmla="*/ 445770 w 445770"/>
                <a:gd name="csY3" fmla="*/ 83820 h 83820"/>
                <a:gd name="csX0" fmla="*/ 0 w 445770"/>
                <a:gd name="csY0" fmla="*/ 0 h 83820"/>
                <a:gd name="csX1" fmla="*/ 179070 w 445770"/>
                <a:gd name="csY1" fmla="*/ 59055 h 83820"/>
                <a:gd name="csX2" fmla="*/ 186690 w 445770"/>
                <a:gd name="csY2" fmla="*/ 9525 h 83820"/>
                <a:gd name="csX3" fmla="*/ 445770 w 445770"/>
                <a:gd name="csY3" fmla="*/ 83820 h 83820"/>
                <a:gd name="csX0" fmla="*/ 0 w 445770"/>
                <a:gd name="csY0" fmla="*/ 0 h 83820"/>
                <a:gd name="csX1" fmla="*/ 179070 w 445770"/>
                <a:gd name="csY1" fmla="*/ 59055 h 83820"/>
                <a:gd name="csX2" fmla="*/ 186690 w 445770"/>
                <a:gd name="csY2" fmla="*/ 9525 h 83820"/>
                <a:gd name="csX3" fmla="*/ 445770 w 445770"/>
                <a:gd name="csY3" fmla="*/ 83820 h 83820"/>
              </a:gdLst>
              <a:ahLst/>
              <a:cxnLst>
                <a:cxn ang="0">
                  <a:pos x="csX0" y="csY0"/>
                </a:cxn>
                <a:cxn ang="0">
                  <a:pos x="csX1" y="csY1"/>
                </a:cxn>
                <a:cxn ang="0">
                  <a:pos x="csX2" y="csY2"/>
                </a:cxn>
                <a:cxn ang="0">
                  <a:pos x="csX3" y="csY3"/>
                </a:cxn>
              </a:cxnLst>
              <a:rect l="l" t="t" r="r" b="b"/>
              <a:pathLst>
                <a:path w="445770" h="83820">
                  <a:moveTo>
                    <a:pt x="0" y="0"/>
                  </a:moveTo>
                  <a:cubicBezTo>
                    <a:pt x="113824" y="33337"/>
                    <a:pt x="126683" y="45720"/>
                    <a:pt x="179070" y="59055"/>
                  </a:cubicBezTo>
                  <a:cubicBezTo>
                    <a:pt x="188912" y="11430"/>
                    <a:pt x="180657" y="29845"/>
                    <a:pt x="186690" y="9525"/>
                  </a:cubicBezTo>
                  <a:cubicBezTo>
                    <a:pt x="268923" y="34925"/>
                    <a:pt x="445770" y="83820"/>
                    <a:pt x="445770" y="83820"/>
                  </a:cubicBezTo>
                </a:path>
              </a:pathLst>
            </a:custGeom>
            <a:noFill/>
            <a:ln w="9525" cap="rn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grpSp>
      <p:sp>
        <p:nvSpPr>
          <p:cNvPr id="8" name="Freeform: Shape 7">
            <a:extLst>
              <a:ext uri="{FF2B5EF4-FFF2-40B4-BE49-F238E27FC236}">
                <a16:creationId xmlns:a16="http://schemas.microsoft.com/office/drawing/2014/main" id="{9BEB8B23-D3EA-FC86-435F-873E4779ADCA}"/>
              </a:ext>
            </a:extLst>
          </p:cNvPr>
          <p:cNvSpPr/>
          <p:nvPr/>
        </p:nvSpPr>
        <p:spPr>
          <a:xfrm rot="5400000">
            <a:off x="2465977" y="4395248"/>
            <a:ext cx="466938" cy="1215115"/>
          </a:xfrm>
          <a:custGeom>
            <a:avLst/>
            <a:gdLst>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12829 w 3731184"/>
              <a:gd name="csY14" fmla="*/ 401771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0129 w 3731184"/>
              <a:gd name="csY14" fmla="*/ 406597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9822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3612 w 3731184"/>
              <a:gd name="csY16" fmla="*/ 460942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311072 w 3731184"/>
              <a:gd name="csY16" fmla="*/ 45814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29792 w 3731184"/>
              <a:gd name="csY16" fmla="*/ 459418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5672 w 3731184"/>
              <a:gd name="csY16" fmla="*/ 471864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11460 w 3731184"/>
              <a:gd name="csY15" fmla="*/ 460942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 name="csX0" fmla="*/ 740 w 3731184"/>
              <a:gd name="csY0" fmla="*/ 9525705 h 9709680"/>
              <a:gd name="csX1" fmla="*/ 16754 w 3731184"/>
              <a:gd name="csY1" fmla="*/ 9443572 h 9709680"/>
              <a:gd name="csX2" fmla="*/ 1331338 w 3731184"/>
              <a:gd name="csY2" fmla="*/ 5841405 h 9709680"/>
              <a:gd name="csX3" fmla="*/ 344354 w 3731184"/>
              <a:gd name="csY3" fmla="*/ 5841405 h 9709680"/>
              <a:gd name="csX4" fmla="*/ 305563 w 3731184"/>
              <a:gd name="csY4" fmla="*/ 5812891 h 9709680"/>
              <a:gd name="csX5" fmla="*/ 289129 w 3731184"/>
              <a:gd name="csY5" fmla="*/ 5591522 h 9709680"/>
              <a:gd name="csX6" fmla="*/ 1731715 w 3731184"/>
              <a:gd name="csY6" fmla="*/ 74643 h 9709680"/>
              <a:gd name="csX7" fmla="*/ 1788287 w 3731184"/>
              <a:gd name="csY7" fmla="*/ 2 h 9709680"/>
              <a:gd name="csX8" fmla="*/ 3664592 w 3731184"/>
              <a:gd name="csY8" fmla="*/ 2 h 9709680"/>
              <a:gd name="csX9" fmla="*/ 3725205 w 3731184"/>
              <a:gd name="csY9" fmla="*/ 94114 h 9709680"/>
              <a:gd name="csX10" fmla="*/ 3714430 w 3731184"/>
              <a:gd name="csY10" fmla="*/ 266111 h 9709680"/>
              <a:gd name="csX11" fmla="*/ 2390375 w 3731184"/>
              <a:gd name="csY11" fmla="*/ 3894271 h 9709680"/>
              <a:gd name="csX12" fmla="*/ 3265202 w 3731184"/>
              <a:gd name="csY12" fmla="*/ 3894271 h 9709680"/>
              <a:gd name="csX13" fmla="*/ 3377632 w 3731184"/>
              <a:gd name="csY13" fmla="*/ 3933033 h 9709680"/>
              <a:gd name="csX14" fmla="*/ 3402669 w 3731184"/>
              <a:gd name="csY14" fmla="*/ 4048195 h 9709680"/>
              <a:gd name="csX15" fmla="*/ 3326700 w 3731184"/>
              <a:gd name="csY15" fmla="*/ 4500200 h 9709680"/>
              <a:gd name="csX16" fmla="*/ 3288212 w 3731184"/>
              <a:gd name="csY16" fmla="*/ 4728800 h 9709680"/>
              <a:gd name="csX17" fmla="*/ 1999469 w 3731184"/>
              <a:gd name="csY17" fmla="*/ 9635038 h 9709680"/>
              <a:gd name="csX18" fmla="*/ 1942897 w 3731184"/>
              <a:gd name="csY18" fmla="*/ 9709678 h 9709680"/>
              <a:gd name="csX19" fmla="*/ 66592 w 3731184"/>
              <a:gd name="csY19" fmla="*/ 9709678 h 9709680"/>
              <a:gd name="csX20" fmla="*/ 5979 w 3731184"/>
              <a:gd name="csY20" fmla="*/ 9615567 h 9709680"/>
              <a:gd name="csX21" fmla="*/ 740 w 3731184"/>
              <a:gd name="csY21" fmla="*/ 9525705 h 97096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731184" h="9709680">
                <a:moveTo>
                  <a:pt x="740" y="9525705"/>
                </a:moveTo>
                <a:cubicBezTo>
                  <a:pt x="2615" y="9495769"/>
                  <a:pt x="8033" y="9467121"/>
                  <a:pt x="16754" y="9443572"/>
                </a:cubicBezTo>
                <a:lnTo>
                  <a:pt x="1331338" y="5841405"/>
                </a:lnTo>
                <a:lnTo>
                  <a:pt x="344354" y="5841405"/>
                </a:lnTo>
                <a:cubicBezTo>
                  <a:pt x="330502" y="5841944"/>
                  <a:pt x="316931" y="5831969"/>
                  <a:pt x="305563" y="5812891"/>
                </a:cubicBezTo>
                <a:cubicBezTo>
                  <a:pt x="275653" y="5762696"/>
                  <a:pt x="268295" y="5663585"/>
                  <a:pt x="289129" y="5591522"/>
                </a:cubicBezTo>
                <a:lnTo>
                  <a:pt x="1731715" y="74643"/>
                </a:lnTo>
                <a:cubicBezTo>
                  <a:pt x="1744080" y="28210"/>
                  <a:pt x="1765390" y="94"/>
                  <a:pt x="1788287" y="2"/>
                </a:cubicBezTo>
                <a:lnTo>
                  <a:pt x="3664592" y="2"/>
                </a:lnTo>
                <a:cubicBezTo>
                  <a:pt x="3690753" y="-341"/>
                  <a:pt x="3714528" y="36574"/>
                  <a:pt x="3725205" y="94114"/>
                </a:cubicBezTo>
                <a:cubicBezTo>
                  <a:pt x="3736101" y="151517"/>
                  <a:pt x="3731872" y="219013"/>
                  <a:pt x="3714430" y="266111"/>
                </a:cubicBezTo>
                <a:lnTo>
                  <a:pt x="2390375" y="3894271"/>
                </a:lnTo>
                <a:lnTo>
                  <a:pt x="3265202" y="3894271"/>
                </a:lnTo>
                <a:cubicBezTo>
                  <a:pt x="3283446" y="3893119"/>
                  <a:pt x="3354721" y="3907379"/>
                  <a:pt x="3377632" y="3933033"/>
                </a:cubicBezTo>
                <a:cubicBezTo>
                  <a:pt x="3400543" y="3958687"/>
                  <a:pt x="3402048" y="3975337"/>
                  <a:pt x="3402669" y="4048195"/>
                </a:cubicBezTo>
                <a:lnTo>
                  <a:pt x="3326700" y="4500200"/>
                </a:lnTo>
                <a:cubicBezTo>
                  <a:pt x="3326571" y="4490887"/>
                  <a:pt x="3288341" y="4738113"/>
                  <a:pt x="3288212" y="4728800"/>
                </a:cubicBezTo>
                <a:lnTo>
                  <a:pt x="1999469" y="9635038"/>
                </a:lnTo>
                <a:cubicBezTo>
                  <a:pt x="1987104" y="9681470"/>
                  <a:pt x="1965794" y="9709586"/>
                  <a:pt x="1942897" y="9709678"/>
                </a:cubicBezTo>
                <a:lnTo>
                  <a:pt x="66592" y="9709678"/>
                </a:lnTo>
                <a:cubicBezTo>
                  <a:pt x="40431" y="9710021"/>
                  <a:pt x="16656" y="9673107"/>
                  <a:pt x="5979" y="9615567"/>
                </a:cubicBezTo>
                <a:cubicBezTo>
                  <a:pt x="531" y="9586865"/>
                  <a:pt x="-1136" y="9555641"/>
                  <a:pt x="740" y="9525705"/>
                </a:cubicBezTo>
                <a:close/>
              </a:path>
            </a:pathLst>
          </a:custGeom>
          <a:solidFill>
            <a:schemeClr val="bg1"/>
          </a:solidFill>
          <a:ln w="134673"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Yaldevi"/>
              <a:ea typeface="+mn-ea"/>
              <a:cs typeface="+mn-cs"/>
            </a:endParaRPr>
          </a:p>
        </p:txBody>
      </p:sp>
    </p:spTree>
    <p:extLst>
      <p:ext uri="{BB962C8B-B14F-4D97-AF65-F5344CB8AC3E}">
        <p14:creationId xmlns:p14="http://schemas.microsoft.com/office/powerpoint/2010/main" val="72698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74C70-DC94-39C8-F01C-EB681ADD7BC9}"/>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4A39F1E5-322A-9D42-C0D0-EBDCC82A9350}"/>
              </a:ext>
            </a:extLst>
          </p:cNvPr>
          <p:cNvSpPr txBox="1"/>
          <p:nvPr/>
        </p:nvSpPr>
        <p:spPr>
          <a:xfrm>
            <a:off x="-1" y="-2370935"/>
            <a:ext cx="26981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2" name="TextBox 21">
            <a:extLst>
              <a:ext uri="{FF2B5EF4-FFF2-40B4-BE49-F238E27FC236}">
                <a16:creationId xmlns:a16="http://schemas.microsoft.com/office/drawing/2014/main" id="{DB59A067-6605-1E1C-03DD-74BF51F898D1}"/>
              </a:ext>
            </a:extLst>
          </p:cNvPr>
          <p:cNvSpPr txBox="1"/>
          <p:nvPr/>
        </p:nvSpPr>
        <p:spPr>
          <a:xfrm>
            <a:off x="-1" y="-1897357"/>
            <a:ext cx="2778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3. Insert a chart (waterfall)</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3" name="TextBox 22">
            <a:extLst>
              <a:ext uri="{FF2B5EF4-FFF2-40B4-BE49-F238E27FC236}">
                <a16:creationId xmlns:a16="http://schemas.microsoft.com/office/drawing/2014/main" id="{433ED4B8-2631-A5B1-942D-34D263EB4D5C}"/>
              </a:ext>
            </a:extLst>
          </p:cNvPr>
          <p:cNvSpPr txBox="1"/>
          <p:nvPr/>
        </p:nvSpPr>
        <p:spPr>
          <a:xfrm>
            <a:off x="-1" y="-2844513"/>
            <a:ext cx="5371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0"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4" name="TextBox 23">
            <a:extLst>
              <a:ext uri="{FF2B5EF4-FFF2-40B4-BE49-F238E27FC236}">
                <a16:creationId xmlns:a16="http://schemas.microsoft.com/office/drawing/2014/main" id="{BE696479-EA5F-C1EB-AD43-381F9A9A2995}"/>
              </a:ext>
            </a:extLst>
          </p:cNvPr>
          <p:cNvSpPr txBox="1"/>
          <p:nvPr/>
        </p:nvSpPr>
        <p:spPr>
          <a:xfrm>
            <a:off x="-1" y="-1423779"/>
            <a:ext cx="71144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4. Use Axis Breaks to make the plot easy to read (Adjust axis, add icon)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6" name="TextBox 25">
            <a:extLst>
              <a:ext uri="{FF2B5EF4-FFF2-40B4-BE49-F238E27FC236}">
                <a16:creationId xmlns:a16="http://schemas.microsoft.com/office/drawing/2014/main" id="{19FB21B8-BBF8-BD91-3B0F-F03B9277A7C3}"/>
              </a:ext>
            </a:extLst>
          </p:cNvPr>
          <p:cNvSpPr txBox="1"/>
          <p:nvPr/>
        </p:nvSpPr>
        <p:spPr>
          <a:xfrm>
            <a:off x="-1" y="-950201"/>
            <a:ext cx="21323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5. Adjust the design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7" name="TextBox 26">
            <a:extLst>
              <a:ext uri="{FF2B5EF4-FFF2-40B4-BE49-F238E27FC236}">
                <a16:creationId xmlns:a16="http://schemas.microsoft.com/office/drawing/2014/main" id="{4425E7E7-5C5D-65F8-5585-1DB2728E9821}"/>
              </a:ext>
            </a:extLst>
          </p:cNvPr>
          <p:cNvSpPr txBox="1"/>
          <p:nvPr/>
        </p:nvSpPr>
        <p:spPr>
          <a:xfrm>
            <a:off x="-1" y="-476621"/>
            <a:ext cx="15520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6. Build a title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41" name="Group 40">
            <a:extLst>
              <a:ext uri="{FF2B5EF4-FFF2-40B4-BE49-F238E27FC236}">
                <a16:creationId xmlns:a16="http://schemas.microsoft.com/office/drawing/2014/main" id="{DC4F2A0D-79AE-6FBF-E34A-B5A5821FB91F}"/>
              </a:ext>
            </a:extLst>
          </p:cNvPr>
          <p:cNvGrpSpPr/>
          <p:nvPr/>
        </p:nvGrpSpPr>
        <p:grpSpPr>
          <a:xfrm>
            <a:off x="7112844" y="-1295628"/>
            <a:ext cx="1219393" cy="356290"/>
            <a:chOff x="6858000" y="-484214"/>
            <a:chExt cx="723900" cy="211514"/>
          </a:xfrm>
        </p:grpSpPr>
        <p:sp>
          <p:nvSpPr>
            <p:cNvPr id="42" name="Parallelogram 41">
              <a:extLst>
                <a:ext uri="{FF2B5EF4-FFF2-40B4-BE49-F238E27FC236}">
                  <a16:creationId xmlns:a16="http://schemas.microsoft.com/office/drawing/2014/main" id="{99366995-A531-1142-40A6-2E35B9A531E8}"/>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43" name="Straight Connector 42">
              <a:extLst>
                <a:ext uri="{FF2B5EF4-FFF2-40B4-BE49-F238E27FC236}">
                  <a16:creationId xmlns:a16="http://schemas.microsoft.com/office/drawing/2014/main" id="{5A0F0831-5327-54D8-9517-7830636AD44A}"/>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33057C1D-EB7C-2139-ACE3-4568A7D20265}"/>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A73CFAC6-CCEE-2964-71FD-D2880BCFA7BD}"/>
              </a:ext>
            </a:extLst>
          </p:cNvPr>
          <p:cNvGrpSpPr/>
          <p:nvPr/>
        </p:nvGrpSpPr>
        <p:grpSpPr>
          <a:xfrm>
            <a:off x="8562951" y="-1275523"/>
            <a:ext cx="310157" cy="169522"/>
            <a:chOff x="6858000" y="-668360"/>
            <a:chExt cx="723903" cy="395660"/>
          </a:xfrm>
        </p:grpSpPr>
        <p:sp>
          <p:nvSpPr>
            <p:cNvPr id="82" name="Parallelogram 81">
              <a:extLst>
                <a:ext uri="{FF2B5EF4-FFF2-40B4-BE49-F238E27FC236}">
                  <a16:creationId xmlns:a16="http://schemas.microsoft.com/office/drawing/2014/main" id="{30E8171A-3561-4C6B-79DF-A764C25AFDB9}"/>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83" name="Straight Connector 82">
              <a:extLst>
                <a:ext uri="{FF2B5EF4-FFF2-40B4-BE49-F238E27FC236}">
                  <a16:creationId xmlns:a16="http://schemas.microsoft.com/office/drawing/2014/main" id="{7FDB6B62-567C-7C54-FEDD-E63DF824A9B8}"/>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AF00AEA-BC92-5A31-2479-93E475136CDF}"/>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6" name="Title 5">
            <a:extLst>
              <a:ext uri="{FF2B5EF4-FFF2-40B4-BE49-F238E27FC236}">
                <a16:creationId xmlns:a16="http://schemas.microsoft.com/office/drawing/2014/main" id="{67001DD8-5E69-6AAD-0094-F7652D688F9E}"/>
              </a:ext>
            </a:extLst>
          </p:cNvPr>
          <p:cNvSpPr>
            <a:spLocks noGrp="1"/>
          </p:cNvSpPr>
          <p:nvPr>
            <p:ph type="title"/>
          </p:nvPr>
        </p:nvSpPr>
        <p:spPr/>
        <p:txBody>
          <a:bodyPr>
            <a:normAutofit fontScale="90000"/>
          </a:bodyPr>
          <a:lstStyle/>
          <a:p>
            <a:r>
              <a:rPr lang="pl-PL" dirty="0"/>
              <a:t>We reached the goal of 209 tonnes closing inventory in 2049, which is a net 3-ton gain over the previous fiscal year</a:t>
            </a:r>
            <a:endParaRPr lang="en-US" dirty="0"/>
          </a:p>
        </p:txBody>
      </p:sp>
      <mc:AlternateContent xmlns:mc="http://schemas.openxmlformats.org/markup-compatibility/2006" xmlns:cx1="http://schemas.microsoft.com/office/drawing/2015/9/8/chartex">
        <mc:Choice Requires="cx1">
          <p:graphicFrame>
            <p:nvGraphicFramePr>
              <p:cNvPr id="9" name="Chart Placeholder 8">
                <a:extLst>
                  <a:ext uri="{FF2B5EF4-FFF2-40B4-BE49-F238E27FC236}">
                    <a16:creationId xmlns:a16="http://schemas.microsoft.com/office/drawing/2014/main" id="{E999FB78-2C7F-22B2-5383-16F837CB9CE5}"/>
                  </a:ext>
                </a:extLst>
              </p:cNvPr>
              <p:cNvGraphicFramePr>
                <a:graphicFrameLocks noGrp="1"/>
              </p:cNvGraphicFramePr>
              <p:nvPr>
                <p:ph type="chart" sz="quarter" idx="13"/>
              </p:nvPr>
            </p:nvGraphicFramePr>
            <p:xfrm>
              <a:off x="1746250" y="1620838"/>
              <a:ext cx="8699500" cy="406241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9" name="Chart Placeholder 8">
                <a:extLst>
                  <a:ext uri="{FF2B5EF4-FFF2-40B4-BE49-F238E27FC236}">
                    <a16:creationId xmlns:a16="http://schemas.microsoft.com/office/drawing/2014/main" id="{E999FB78-2C7F-22B2-5383-16F837CB9CE5}"/>
                  </a:ext>
                </a:extLst>
              </p:cNvPr>
              <p:cNvPicPr>
                <a:picLocks noGrp="1" noRot="1" noChangeAspect="1" noMove="1" noResize="1" noEditPoints="1" noAdjustHandles="1" noChangeArrowheads="1" noChangeShapeType="1"/>
              </p:cNvPicPr>
              <p:nvPr/>
            </p:nvPicPr>
            <p:blipFill>
              <a:blip r:embed="rId3"/>
              <a:stretch>
                <a:fillRect/>
              </a:stretch>
            </p:blipFill>
            <p:spPr>
              <a:xfrm>
                <a:off x="1746250" y="1620838"/>
                <a:ext cx="8699500" cy="4062412"/>
              </a:xfrm>
              <a:prstGeom prst="rect">
                <a:avLst/>
              </a:prstGeom>
            </p:spPr>
          </p:pic>
        </mc:Fallback>
      </mc:AlternateContent>
      <p:sp>
        <p:nvSpPr>
          <p:cNvPr id="10" name="Rectangle 9">
            <a:extLst>
              <a:ext uri="{FF2B5EF4-FFF2-40B4-BE49-F238E27FC236}">
                <a16:creationId xmlns:a16="http://schemas.microsoft.com/office/drawing/2014/main" id="{FE348A91-4E27-8810-8371-60156F5F202B}"/>
              </a:ext>
            </a:extLst>
          </p:cNvPr>
          <p:cNvSpPr/>
          <p:nvPr/>
        </p:nvSpPr>
        <p:spPr>
          <a:xfrm>
            <a:off x="1703578" y="5237162"/>
            <a:ext cx="398888" cy="3203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sp>
        <p:nvSpPr>
          <p:cNvPr id="11" name="TextBox 10">
            <a:extLst>
              <a:ext uri="{FF2B5EF4-FFF2-40B4-BE49-F238E27FC236}">
                <a16:creationId xmlns:a16="http://schemas.microsoft.com/office/drawing/2014/main" id="{A0E4C2BA-C7C9-856E-8A48-791CB3A94003}"/>
              </a:ext>
            </a:extLst>
          </p:cNvPr>
          <p:cNvSpPr txBox="1"/>
          <p:nvPr/>
        </p:nvSpPr>
        <p:spPr>
          <a:xfrm>
            <a:off x="1869487" y="5185298"/>
            <a:ext cx="28725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1" i="0" u="none" strike="noStrike" kern="1200" cap="none" spc="0" normalizeH="0" baseline="0" noProof="0" dirty="0">
                <a:ln>
                  <a:noFill/>
                </a:ln>
                <a:solidFill>
                  <a:srgbClr val="06105B"/>
                </a:solidFill>
                <a:effectLst/>
                <a:uLnTx/>
                <a:uFillTx/>
                <a:latin typeface="Yaldevi"/>
                <a:ea typeface="+mn-ea"/>
                <a:cs typeface="+mn-cs"/>
              </a:rPr>
              <a:t>0</a:t>
            </a:r>
            <a:endParaRPr kumimoji="0" lang="en-US" sz="1400" b="1" i="0" u="none" strike="noStrike" kern="1200" cap="none" spc="0" normalizeH="0" baseline="0" noProof="0" dirty="0">
              <a:ln>
                <a:noFill/>
              </a:ln>
              <a:solidFill>
                <a:srgbClr val="06105B"/>
              </a:solidFill>
              <a:effectLst/>
              <a:uLnTx/>
              <a:uFillTx/>
              <a:latin typeface="Yaldevi"/>
              <a:ea typeface="+mn-ea"/>
              <a:cs typeface="+mn-cs"/>
            </a:endParaRPr>
          </a:p>
        </p:txBody>
      </p:sp>
      <p:grpSp>
        <p:nvGrpSpPr>
          <p:cNvPr id="12" name="Group 11">
            <a:extLst>
              <a:ext uri="{FF2B5EF4-FFF2-40B4-BE49-F238E27FC236}">
                <a16:creationId xmlns:a16="http://schemas.microsoft.com/office/drawing/2014/main" id="{8B65568B-8E16-9B50-B75E-BDDA75AC772E}"/>
              </a:ext>
            </a:extLst>
          </p:cNvPr>
          <p:cNvGrpSpPr/>
          <p:nvPr/>
        </p:nvGrpSpPr>
        <p:grpSpPr>
          <a:xfrm>
            <a:off x="8957191" y="4829008"/>
            <a:ext cx="1219393" cy="356290"/>
            <a:chOff x="6858000" y="-484214"/>
            <a:chExt cx="723900" cy="211514"/>
          </a:xfrm>
        </p:grpSpPr>
        <p:sp>
          <p:nvSpPr>
            <p:cNvPr id="13" name="Parallelogram 12">
              <a:extLst>
                <a:ext uri="{FF2B5EF4-FFF2-40B4-BE49-F238E27FC236}">
                  <a16:creationId xmlns:a16="http://schemas.microsoft.com/office/drawing/2014/main" id="{4A138D64-01E8-F00A-AD40-15BA6B3BDAB8}"/>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14" name="Straight Connector 13">
              <a:extLst>
                <a:ext uri="{FF2B5EF4-FFF2-40B4-BE49-F238E27FC236}">
                  <a16:creationId xmlns:a16="http://schemas.microsoft.com/office/drawing/2014/main" id="{9001DE40-1A2D-7930-96D9-12E793FD53EB}"/>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A7E77AC-6697-3A5B-81BB-7BE5AB08B7EC}"/>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F04D7100-C203-12BD-0EEE-E676FC9CD618}"/>
              </a:ext>
            </a:extLst>
          </p:cNvPr>
          <p:cNvGrpSpPr/>
          <p:nvPr/>
        </p:nvGrpSpPr>
        <p:grpSpPr>
          <a:xfrm>
            <a:off x="2036036" y="4994888"/>
            <a:ext cx="310157" cy="169522"/>
            <a:chOff x="6858000" y="-668360"/>
            <a:chExt cx="723903" cy="395660"/>
          </a:xfrm>
        </p:grpSpPr>
        <p:sp>
          <p:nvSpPr>
            <p:cNvPr id="17" name="Parallelogram 16">
              <a:extLst>
                <a:ext uri="{FF2B5EF4-FFF2-40B4-BE49-F238E27FC236}">
                  <a16:creationId xmlns:a16="http://schemas.microsoft.com/office/drawing/2014/main" id="{FBEA85BD-84E3-4887-B802-B1782115F057}"/>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18" name="Straight Connector 17">
              <a:extLst>
                <a:ext uri="{FF2B5EF4-FFF2-40B4-BE49-F238E27FC236}">
                  <a16:creationId xmlns:a16="http://schemas.microsoft.com/office/drawing/2014/main" id="{114E1BEC-ECB6-58D3-E5DC-C5BFE45F7807}"/>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6C4CE86-A3E7-993A-8E09-C002E567F828}"/>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D2DB63EE-2F29-9D28-2833-F5E7493B9D7F}"/>
              </a:ext>
            </a:extLst>
          </p:cNvPr>
          <p:cNvGrpSpPr/>
          <p:nvPr/>
        </p:nvGrpSpPr>
        <p:grpSpPr>
          <a:xfrm>
            <a:off x="2446653" y="4778410"/>
            <a:ext cx="1219393" cy="356290"/>
            <a:chOff x="6858000" y="-484214"/>
            <a:chExt cx="723900" cy="211514"/>
          </a:xfrm>
        </p:grpSpPr>
        <p:sp>
          <p:nvSpPr>
            <p:cNvPr id="28" name="Parallelogram 27">
              <a:extLst>
                <a:ext uri="{FF2B5EF4-FFF2-40B4-BE49-F238E27FC236}">
                  <a16:creationId xmlns:a16="http://schemas.microsoft.com/office/drawing/2014/main" id="{EDFF7711-DEB5-EC62-230B-6D1C02A758FD}"/>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29" name="Straight Connector 28">
              <a:extLst>
                <a:ext uri="{FF2B5EF4-FFF2-40B4-BE49-F238E27FC236}">
                  <a16:creationId xmlns:a16="http://schemas.microsoft.com/office/drawing/2014/main" id="{1FECCD92-2291-123E-04D5-34767229E103}"/>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0209BF6-4DCA-9E41-093C-EB1AC90806E8}"/>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43047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D7B2-3CC8-AD8E-BD20-3B6BFCAEF370}"/>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334B1C6-8D26-F900-E767-3DF7DD57679D}"/>
              </a:ext>
            </a:extLst>
          </p:cNvPr>
          <p:cNvSpPr txBox="1"/>
          <p:nvPr/>
        </p:nvSpPr>
        <p:spPr>
          <a:xfrm>
            <a:off x="-1" y="-2370935"/>
            <a:ext cx="26981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2. Select appropriate data</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2" name="TextBox 21">
            <a:extLst>
              <a:ext uri="{FF2B5EF4-FFF2-40B4-BE49-F238E27FC236}">
                <a16:creationId xmlns:a16="http://schemas.microsoft.com/office/drawing/2014/main" id="{A685F3EB-1892-271E-EB70-D449012DCAAE}"/>
              </a:ext>
            </a:extLst>
          </p:cNvPr>
          <p:cNvSpPr txBox="1"/>
          <p:nvPr/>
        </p:nvSpPr>
        <p:spPr>
          <a:xfrm>
            <a:off x="-1" y="-1897357"/>
            <a:ext cx="2778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3. Insert a chart (waterfall)</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3" name="TextBox 22">
            <a:extLst>
              <a:ext uri="{FF2B5EF4-FFF2-40B4-BE49-F238E27FC236}">
                <a16:creationId xmlns:a16="http://schemas.microsoft.com/office/drawing/2014/main" id="{A03316BD-7D47-355F-47B9-8ED37234DE38}"/>
              </a:ext>
            </a:extLst>
          </p:cNvPr>
          <p:cNvSpPr txBox="1"/>
          <p:nvPr/>
        </p:nvSpPr>
        <p:spPr>
          <a:xfrm>
            <a:off x="-1" y="-2844513"/>
            <a:ext cx="5371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1. Analyze the table </a:t>
            </a:r>
            <a:r>
              <a:rPr kumimoji="0" lang="pl-PL" sz="1800" b="0" i="0" u="none" strike="noStrike" kern="1200" cap="none" spc="0" normalizeH="0" baseline="0" noProof="0" dirty="0">
                <a:ln>
                  <a:noFill/>
                </a:ln>
                <a:solidFill>
                  <a:prstClr val="black"/>
                </a:solidFill>
                <a:effectLst/>
                <a:uLnTx/>
                <a:uFillTx/>
                <a:latin typeface="Yaldevi"/>
                <a:ea typeface="+mn-ea"/>
                <a:cs typeface="+mn-cs"/>
                <a:sym typeface="Wingdings" panose="05000000000000000000" pitchFamily="2" charset="2"/>
              </a:rPr>
              <a:t> Decide on an initial chart type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4" name="TextBox 23">
            <a:extLst>
              <a:ext uri="{FF2B5EF4-FFF2-40B4-BE49-F238E27FC236}">
                <a16:creationId xmlns:a16="http://schemas.microsoft.com/office/drawing/2014/main" id="{0535BE12-06BF-BF3A-AD4D-1007B5A7E6D8}"/>
              </a:ext>
            </a:extLst>
          </p:cNvPr>
          <p:cNvSpPr txBox="1"/>
          <p:nvPr/>
        </p:nvSpPr>
        <p:spPr>
          <a:xfrm>
            <a:off x="-1" y="-1423779"/>
            <a:ext cx="71144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4. Use Axis Breaks to make the plot easy to read (Adjust axis, add icon)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6" name="TextBox 25">
            <a:extLst>
              <a:ext uri="{FF2B5EF4-FFF2-40B4-BE49-F238E27FC236}">
                <a16:creationId xmlns:a16="http://schemas.microsoft.com/office/drawing/2014/main" id="{879AB28B-7F95-CE12-AB0A-DA54B853075B}"/>
              </a:ext>
            </a:extLst>
          </p:cNvPr>
          <p:cNvSpPr txBox="1"/>
          <p:nvPr/>
        </p:nvSpPr>
        <p:spPr>
          <a:xfrm>
            <a:off x="-1" y="-950201"/>
            <a:ext cx="21323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5. Adjust the design</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sp>
        <p:nvSpPr>
          <p:cNvPr id="27" name="TextBox 26">
            <a:extLst>
              <a:ext uri="{FF2B5EF4-FFF2-40B4-BE49-F238E27FC236}">
                <a16:creationId xmlns:a16="http://schemas.microsoft.com/office/drawing/2014/main" id="{61C7A3F5-9376-3ADB-B3C1-4C9CF79248C4}"/>
              </a:ext>
            </a:extLst>
          </p:cNvPr>
          <p:cNvSpPr txBox="1"/>
          <p:nvPr/>
        </p:nvSpPr>
        <p:spPr>
          <a:xfrm>
            <a:off x="-1" y="-476621"/>
            <a:ext cx="15520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0" i="0" u="none" strike="noStrike" kern="1200" cap="none" spc="0" normalizeH="0" baseline="0" noProof="0" dirty="0">
                <a:ln>
                  <a:noFill/>
                </a:ln>
                <a:solidFill>
                  <a:prstClr val="black"/>
                </a:solidFill>
                <a:effectLst/>
                <a:uLnTx/>
                <a:uFillTx/>
                <a:latin typeface="Yaldevi"/>
                <a:ea typeface="+mn-ea"/>
                <a:cs typeface="+mn-cs"/>
              </a:rPr>
              <a:t>6. Build a title</a:t>
            </a:r>
            <a:endParaRPr kumimoji="0" lang="en-US" sz="1800" b="0" i="0" u="none" strike="noStrike" kern="1200" cap="none" spc="0" normalizeH="0" baseline="0" noProof="0" dirty="0">
              <a:ln>
                <a:noFill/>
              </a:ln>
              <a:solidFill>
                <a:prstClr val="black"/>
              </a:solidFill>
              <a:effectLst/>
              <a:uLnTx/>
              <a:uFillTx/>
              <a:latin typeface="Yaldevi"/>
              <a:ea typeface="+mn-ea"/>
              <a:cs typeface="+mn-cs"/>
            </a:endParaRPr>
          </a:p>
        </p:txBody>
      </p:sp>
      <p:grpSp>
        <p:nvGrpSpPr>
          <p:cNvPr id="41" name="Group 40">
            <a:extLst>
              <a:ext uri="{FF2B5EF4-FFF2-40B4-BE49-F238E27FC236}">
                <a16:creationId xmlns:a16="http://schemas.microsoft.com/office/drawing/2014/main" id="{1E0F7547-4FBC-2E04-CABE-2A632FF90BAD}"/>
              </a:ext>
            </a:extLst>
          </p:cNvPr>
          <p:cNvGrpSpPr/>
          <p:nvPr/>
        </p:nvGrpSpPr>
        <p:grpSpPr>
          <a:xfrm>
            <a:off x="7112844" y="-1295628"/>
            <a:ext cx="1219393" cy="356290"/>
            <a:chOff x="6858000" y="-484214"/>
            <a:chExt cx="723900" cy="211514"/>
          </a:xfrm>
        </p:grpSpPr>
        <p:sp>
          <p:nvSpPr>
            <p:cNvPr id="42" name="Parallelogram 41">
              <a:extLst>
                <a:ext uri="{FF2B5EF4-FFF2-40B4-BE49-F238E27FC236}">
                  <a16:creationId xmlns:a16="http://schemas.microsoft.com/office/drawing/2014/main" id="{975B0478-53DF-8D1A-7A1B-79ED7298A202}"/>
                </a:ext>
              </a:extLst>
            </p:cNvPr>
            <p:cNvSpPr/>
            <p:nvPr/>
          </p:nvSpPr>
          <p:spPr>
            <a:xfrm rot="16200000" flipV="1">
              <a:off x="7119622" y="-739137"/>
              <a:ext cx="203195" cy="721360"/>
            </a:xfrm>
            <a:prstGeom prst="parallelogram">
              <a:avLst>
                <a:gd name="adj" fmla="val 736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8E9F0"/>
                </a:solidFill>
                <a:effectLst/>
                <a:uLnTx/>
                <a:uFillTx/>
                <a:latin typeface="Yaldevi"/>
                <a:ea typeface="+mn-ea"/>
                <a:cs typeface="+mn-cs"/>
              </a:endParaRPr>
            </a:p>
          </p:txBody>
        </p:sp>
        <p:cxnSp>
          <p:nvCxnSpPr>
            <p:cNvPr id="43" name="Straight Connector 42">
              <a:extLst>
                <a:ext uri="{FF2B5EF4-FFF2-40B4-BE49-F238E27FC236}">
                  <a16:creationId xmlns:a16="http://schemas.microsoft.com/office/drawing/2014/main" id="{29EF768A-A0B3-DE76-93E6-15ADBA78831A}"/>
                </a:ext>
              </a:extLst>
            </p:cNvPr>
            <p:cNvCxnSpPr/>
            <p:nvPr/>
          </p:nvCxnSpPr>
          <p:spPr>
            <a:xfrm flipV="1">
              <a:off x="6858000" y="-484214"/>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D59FE02-DB5F-C9CE-ACC5-4C7DF2D99619}"/>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7B5ADA93-80B9-5725-F13A-FA7F826145EE}"/>
              </a:ext>
            </a:extLst>
          </p:cNvPr>
          <p:cNvGrpSpPr/>
          <p:nvPr/>
        </p:nvGrpSpPr>
        <p:grpSpPr>
          <a:xfrm>
            <a:off x="8562951" y="-1275523"/>
            <a:ext cx="310157" cy="169522"/>
            <a:chOff x="6858000" y="-668360"/>
            <a:chExt cx="723903" cy="395660"/>
          </a:xfrm>
        </p:grpSpPr>
        <p:sp>
          <p:nvSpPr>
            <p:cNvPr id="82" name="Parallelogram 81">
              <a:extLst>
                <a:ext uri="{FF2B5EF4-FFF2-40B4-BE49-F238E27FC236}">
                  <a16:creationId xmlns:a16="http://schemas.microsoft.com/office/drawing/2014/main" id="{A7C9BE6C-1C35-EDFF-70C3-ECAB08EBF014}"/>
                </a:ext>
              </a:extLst>
            </p:cNvPr>
            <p:cNvSpPr/>
            <p:nvPr/>
          </p:nvSpPr>
          <p:spPr>
            <a:xfrm rot="16200000" flipV="1">
              <a:off x="7051883" y="-824666"/>
              <a:ext cx="338676" cy="721365"/>
            </a:xfrm>
            <a:prstGeom prst="parallelogram">
              <a:avLst>
                <a:gd name="adj" fmla="val 3591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6105B"/>
                </a:solidFill>
                <a:effectLst/>
                <a:uLnTx/>
                <a:uFillTx/>
                <a:latin typeface="Yaldevi"/>
                <a:ea typeface="+mn-ea"/>
                <a:cs typeface="+mn-cs"/>
              </a:endParaRPr>
            </a:p>
          </p:txBody>
        </p:sp>
        <p:cxnSp>
          <p:nvCxnSpPr>
            <p:cNvPr id="83" name="Straight Connector 82">
              <a:extLst>
                <a:ext uri="{FF2B5EF4-FFF2-40B4-BE49-F238E27FC236}">
                  <a16:creationId xmlns:a16="http://schemas.microsoft.com/office/drawing/2014/main" id="{B307FE75-CB15-F491-672C-E12A3AC54F89}"/>
                </a:ext>
              </a:extLst>
            </p:cNvPr>
            <p:cNvCxnSpPr/>
            <p:nvPr/>
          </p:nvCxnSpPr>
          <p:spPr>
            <a:xfrm flipV="1">
              <a:off x="6858000" y="-668360"/>
              <a:ext cx="721361" cy="151438"/>
            </a:xfrm>
            <a:prstGeom prst="line">
              <a:avLst/>
            </a:prstGeom>
            <a:ln w="38100" cap="rnd"/>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4F6218FB-35CD-66C9-B280-D0215A192791}"/>
                </a:ext>
              </a:extLst>
            </p:cNvPr>
            <p:cNvCxnSpPr/>
            <p:nvPr/>
          </p:nvCxnSpPr>
          <p:spPr>
            <a:xfrm flipV="1">
              <a:off x="6858000" y="-424139"/>
              <a:ext cx="721360" cy="151439"/>
            </a:xfrm>
            <a:prstGeom prst="line">
              <a:avLst/>
            </a:prstGeom>
            <a:ln w="38100" cap="rnd"/>
          </p:spPr>
          <p:style>
            <a:lnRef idx="2">
              <a:schemeClr val="accent1"/>
            </a:lnRef>
            <a:fillRef idx="0">
              <a:schemeClr val="accent1"/>
            </a:fillRef>
            <a:effectRef idx="1">
              <a:schemeClr val="accent1"/>
            </a:effectRef>
            <a:fontRef idx="minor">
              <a:schemeClr val="tx1"/>
            </a:fontRef>
          </p:style>
        </p:cxnSp>
      </p:grpSp>
      <p:sp>
        <p:nvSpPr>
          <p:cNvPr id="3" name="Chart Placeholder 2">
            <a:extLst>
              <a:ext uri="{FF2B5EF4-FFF2-40B4-BE49-F238E27FC236}">
                <a16:creationId xmlns:a16="http://schemas.microsoft.com/office/drawing/2014/main" id="{D621DBF8-BA74-2C8A-DE47-7ABB03A060A5}"/>
              </a:ext>
            </a:extLst>
          </p:cNvPr>
          <p:cNvSpPr>
            <a:spLocks noGrp="1"/>
          </p:cNvSpPr>
          <p:nvPr>
            <p:ph type="chart" sz="quarter" idx="13"/>
          </p:nvPr>
        </p:nvSpPr>
        <p:spPr/>
        <p:txBody>
          <a:bodyPr/>
          <a:lstStyle/>
          <a:p>
            <a:endParaRPr lang="en-US"/>
          </a:p>
        </p:txBody>
      </p:sp>
      <p:sp>
        <p:nvSpPr>
          <p:cNvPr id="5" name="Title 4">
            <a:extLst>
              <a:ext uri="{FF2B5EF4-FFF2-40B4-BE49-F238E27FC236}">
                <a16:creationId xmlns:a16="http://schemas.microsoft.com/office/drawing/2014/main" id="{04966E2D-496A-A3CF-5293-20D05A069C5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281055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DV Course - Exercise #1">
      <a:dk1>
        <a:sysClr val="windowText" lastClr="000000"/>
      </a:dk1>
      <a:lt1>
        <a:sysClr val="window" lastClr="FFFFFF"/>
      </a:lt1>
      <a:dk2>
        <a:srgbClr val="000F32"/>
      </a:dk2>
      <a:lt2>
        <a:srgbClr val="F5F5F5"/>
      </a:lt2>
      <a:accent1>
        <a:srgbClr val="001E64"/>
      </a:accent1>
      <a:accent2>
        <a:srgbClr val="F0A000"/>
      </a:accent2>
      <a:accent3>
        <a:srgbClr val="3E92CC"/>
      </a:accent3>
      <a:accent4>
        <a:srgbClr val="D63230"/>
      </a:accent4>
      <a:accent5>
        <a:srgbClr val="A491D3"/>
      </a:accent5>
      <a:accent6>
        <a:srgbClr val="D0CDD7"/>
      </a:accent6>
      <a:hlink>
        <a:srgbClr val="467886"/>
      </a:hlink>
      <a:folHlink>
        <a:srgbClr val="96607D"/>
      </a:folHlink>
    </a:clrScheme>
    <a:fontScheme name="Yaldevi SB + Yaldevi">
      <a:majorFont>
        <a:latin typeface="Yaldevi SemiBold"/>
        <a:ea typeface=""/>
        <a:cs typeface=""/>
      </a:majorFont>
      <a:minorFont>
        <a:latin typeface="Yaldev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PPT - Copilot #1">
      <a:dk1>
        <a:sysClr val="windowText" lastClr="000000"/>
      </a:dk1>
      <a:lt1>
        <a:srgbClr val="E8E9F0"/>
      </a:lt1>
      <a:dk2>
        <a:srgbClr val="44546A"/>
      </a:dk2>
      <a:lt2>
        <a:srgbClr val="E7E6E6"/>
      </a:lt2>
      <a:accent1>
        <a:srgbClr val="06105B"/>
      </a:accent1>
      <a:accent2>
        <a:srgbClr val="00FF00"/>
      </a:accent2>
      <a:accent3>
        <a:srgbClr val="BBBED2"/>
      </a:accent3>
      <a:accent4>
        <a:srgbClr val="777DA6"/>
      </a:accent4>
      <a:accent5>
        <a:srgbClr val="4A5188"/>
      </a:accent5>
      <a:accent6>
        <a:srgbClr val="A9ECD8"/>
      </a:accent6>
      <a:hlink>
        <a:srgbClr val="0563C1"/>
      </a:hlink>
      <a:folHlink>
        <a:srgbClr val="954F72"/>
      </a:folHlink>
    </a:clrScheme>
    <a:fontScheme name="Yaldevi SB + Yaldevi">
      <a:majorFont>
        <a:latin typeface="Yaldevi SemiBold"/>
        <a:ea typeface=""/>
        <a:cs typeface=""/>
      </a:majorFont>
      <a:minorFont>
        <a:latin typeface="Yaldev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1106</Words>
  <Application>Microsoft Office PowerPoint</Application>
  <PresentationFormat>Widescreen</PresentationFormat>
  <Paragraphs>228</Paragraphs>
  <Slides>13</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13</vt:i4>
      </vt:variant>
    </vt:vector>
  </HeadingPairs>
  <TitlesOfParts>
    <vt:vector size="21" baseType="lpstr">
      <vt:lpstr>Arial</vt:lpstr>
      <vt:lpstr>Yaldevi</vt:lpstr>
      <vt:lpstr>Yaldevi SemiBold</vt:lpstr>
      <vt:lpstr>Aptos</vt:lpstr>
      <vt:lpstr>Aptos Display</vt:lpstr>
      <vt:lpstr>Office Theme</vt:lpstr>
      <vt:lpstr>1_Office Theme</vt:lpstr>
      <vt:lpstr>2_Office Theme</vt:lpstr>
      <vt:lpstr>PowerPoint Presentation</vt:lpstr>
      <vt:lpstr>PowerPoint Presentation</vt:lpstr>
      <vt:lpstr>PowerPoint Presentation</vt:lpstr>
      <vt:lpstr>PowerPoint Presentation</vt:lpstr>
      <vt:lpstr>Total Number of Tourist Visitors in Switzerland and Their Change (estimates by Neotravel Horizons), 2050–2060</vt:lpstr>
      <vt:lpstr>Total number of visitors in Switzerland and their change over time (2050 – 2060)*</vt:lpstr>
      <vt:lpstr>PowerPoint Presentation</vt:lpstr>
      <vt:lpstr>PowerPoint Presentation</vt:lpstr>
      <vt:lpstr>PowerPoint Presentation</vt:lpstr>
      <vt:lpstr>The 2049 closing inventory shows a net 3-ton gain over the previous fiscal year</vt:lpstr>
      <vt:lpstr>The 2049 closing inventory shows a net 3-ton gain over the previous fiscal year</vt:lpstr>
      <vt:lpstr>We reached the goal of 209 tonnes closing inventory in 2049, which is a net 3-ton gain over the previous fiscal year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P</dc:creator>
  <cp:lastModifiedBy>Andrew P</cp:lastModifiedBy>
  <cp:revision>1</cp:revision>
  <dcterms:created xsi:type="dcterms:W3CDTF">2026-04-27T11:19:35Z</dcterms:created>
  <dcterms:modified xsi:type="dcterms:W3CDTF">2026-04-27T11:19:56Z</dcterms:modified>
</cp:coreProperties>
</file>